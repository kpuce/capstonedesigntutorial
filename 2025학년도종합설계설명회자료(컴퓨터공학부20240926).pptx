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330" r:id="rId2"/>
    <p:sldId id="365" r:id="rId3"/>
    <p:sldId id="329" r:id="rId4"/>
    <p:sldId id="347" r:id="rId5"/>
    <p:sldId id="383" r:id="rId6"/>
    <p:sldId id="368" r:id="rId7"/>
    <p:sldId id="369" r:id="rId8"/>
    <p:sldId id="370" r:id="rId9"/>
    <p:sldId id="371" r:id="rId10"/>
    <p:sldId id="372" r:id="rId11"/>
    <p:sldId id="373" r:id="rId12"/>
    <p:sldId id="338" r:id="rId13"/>
    <p:sldId id="382" r:id="rId14"/>
    <p:sldId id="366" r:id="rId15"/>
    <p:sldId id="367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4" r:id="rId25"/>
    <p:sldId id="386" r:id="rId26"/>
    <p:sldId id="385" r:id="rId27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0099CC"/>
    <a:srgbClr val="CC3300"/>
    <a:srgbClr val="FFFF00"/>
    <a:srgbClr val="FF9933"/>
    <a:srgbClr val="33CCCC"/>
    <a:srgbClr val="00CC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1" autoAdjust="0"/>
  </p:normalViewPr>
  <p:slideViewPr>
    <p:cSldViewPr>
      <p:cViewPr varScale="1">
        <p:scale>
          <a:sx n="178" d="100"/>
          <a:sy n="178" d="100"/>
        </p:scale>
        <p:origin x="1300" y="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22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3" Type="http://schemas.openxmlformats.org/officeDocument/2006/relationships/slide" Target="slides/slide3.xml"/><Relationship Id="rId7" Type="http://schemas.openxmlformats.org/officeDocument/2006/relationships/slide" Target="slides/slide1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5" Type="http://schemas.openxmlformats.org/officeDocument/2006/relationships/slide" Target="slides/slide5.xml"/><Relationship Id="rId4" Type="http://schemas.openxmlformats.org/officeDocument/2006/relationships/slide" Target="slides/slide4.xml"/><Relationship Id="rId9" Type="http://schemas.openxmlformats.org/officeDocument/2006/relationships/slide" Target="slides/slide1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96687E-17F1-477B-82C7-DD83110C35A8}" type="doc">
      <dgm:prSet loTypeId="urn:microsoft.com/office/officeart/2005/8/layout/matrix1" loCatId="matrix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pPr latinLnBrk="1"/>
          <a:endParaRPr lang="ko-KR" altLang="en-US"/>
        </a:p>
      </dgm:t>
    </dgm:pt>
    <dgm:pt modelId="{8A56708F-FC57-41D2-AC5B-ADFAFB60C281}">
      <dgm:prSet phldrT="[텍스트]" custT="1"/>
      <dgm:spPr/>
      <dgm:t>
        <a:bodyPr/>
        <a:lstStyle/>
        <a:p>
          <a:pPr latinLnBrk="1"/>
          <a:r>
            <a:rPr lang="ko-KR" altLang="en-US" sz="2200" b="1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종합설계 작품</a:t>
          </a:r>
        </a:p>
      </dgm:t>
    </dgm:pt>
    <dgm:pt modelId="{F54BAC86-953D-4ABF-845E-A27F4412271F}" type="parTrans" cxnId="{52A1B9C3-77CB-4393-AE3E-35C211B7D98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79068601-19A3-4494-BD10-D06AC3EDC725}" type="sibTrans" cxnId="{52A1B9C3-77CB-4393-AE3E-35C211B7D98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B76EB70B-054E-45A4-8FCC-62190CF79148}">
      <dgm:prSet phldrT="[텍스트]"/>
      <dgm:spPr>
        <a:solidFill>
          <a:srgbClr val="92D050"/>
        </a:solidFill>
      </dgm:spPr>
      <dgm:t>
        <a:bodyPr/>
        <a:lstStyle/>
        <a:p>
          <a:pPr marL="180000" latinLnBrk="1"/>
          <a:r>
            <a:rPr lang="ko-KR" altLang="en-US" b="1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독창성</a:t>
          </a:r>
          <a:r>
            <a:rPr lang="en-US" altLang="ko-KR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(Originality)</a:t>
          </a:r>
          <a:endParaRPr lang="ko-KR" altLang="en-US" b="1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</dgm:t>
    </dgm:pt>
    <dgm:pt modelId="{8F8F7E52-0966-48D1-A680-C2F8AAF25735}" type="parTrans" cxnId="{941137E4-70A6-430C-9822-4B0EF6CC262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7BD69315-AC8D-42C0-876B-FF5CA1E66AE1}" type="sibTrans" cxnId="{941137E4-70A6-430C-9822-4B0EF6CC262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DE0BB2D4-1412-4B53-A81C-D71530F8FF24}">
      <dgm:prSet/>
      <dgm:spPr>
        <a:solidFill>
          <a:srgbClr val="92D050"/>
        </a:solidFill>
      </dgm:spPr>
      <dgm:t>
        <a:bodyPr/>
        <a:lstStyle/>
        <a:p>
          <a:pPr marL="180000" latinLnBrk="1"/>
          <a:r>
            <a:rPr lang="ko-KR" altLang="en-US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참신한 주제 선정</a:t>
          </a:r>
          <a:endParaRPr lang="en-US" altLang="ko-KR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1A2AAFD3-D257-4B2F-8BB2-14FFBFC2B216}" type="parTrans" cxnId="{1FEEC25F-76C1-419E-9190-54BCAA8EB9EA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424E107D-E6C5-4273-9157-E88D5377CF17}" type="sibTrans" cxnId="{1FEEC25F-76C1-419E-9190-54BCAA8EB9EA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5D83658B-8768-4993-953F-9F30F7499571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marL="180000" latinLnBrk="1"/>
          <a:r>
            <a:rPr lang="ko-KR" altLang="en-US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시장성</a:t>
          </a:r>
          <a:r>
            <a:rPr lang="en-US" altLang="ko-KR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/</a:t>
          </a:r>
          <a:r>
            <a:rPr lang="ko-KR" altLang="en-US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유용성</a:t>
          </a:r>
          <a:r>
            <a:rPr lang="en-US" altLang="ko-KR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(Usability)</a:t>
          </a:r>
        </a:p>
      </dgm:t>
    </dgm:pt>
    <dgm:pt modelId="{05B5957E-A8C5-4837-8551-D7912208800C}" type="parTrans" cxnId="{FD9BDA4A-DAD5-4D31-84F5-5A13A7E1F14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B4D06DB6-1BAE-424E-BB3B-B6F17AFC3914}" type="sibTrans" cxnId="{FD9BDA4A-DAD5-4D31-84F5-5A13A7E1F14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CBCAE84B-13AC-4B37-9781-E377E880288D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marL="180000" latinLnBrk="1"/>
          <a:r>
            <a:rPr lang="ko-KR" altLang="en-US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현재 시장의 흐름을 분석하여</a:t>
          </a:r>
          <a:r>
            <a:rPr lang="en-US" altLang="ko-KR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,  </a:t>
          </a:r>
          <a:r>
            <a:rPr lang="ko-KR" altLang="en-US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시장성을 고려한 주제 선정</a:t>
          </a:r>
          <a:endParaRPr lang="en-US" altLang="ko-KR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4F3B62FD-2FF0-4992-9E45-17FED804837E}" type="parTrans" cxnId="{2E78BF58-DA78-4F6F-A227-D9903F8D0F2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A3E7B2DE-FAEF-4AA7-AD46-B854E2FBF5D8}" type="sibTrans" cxnId="{2E78BF58-DA78-4F6F-A227-D9903F8D0F2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84396208-F80B-4324-AC16-A40A90A62BE6}">
      <dgm:prSet/>
      <dgm:spPr>
        <a:solidFill>
          <a:srgbClr val="FFC000"/>
        </a:solidFill>
      </dgm:spPr>
      <dgm:t>
        <a:bodyPr tIns="72000"/>
        <a:lstStyle/>
        <a:p>
          <a:pPr marL="180000" latinLnBrk="1"/>
          <a:r>
            <a:rPr lang="ko-KR" altLang="en-US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완성 가능성</a:t>
          </a:r>
          <a:r>
            <a:rPr lang="en-US" altLang="ko-KR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(feasibility)</a:t>
          </a:r>
        </a:p>
      </dgm:t>
    </dgm:pt>
    <dgm:pt modelId="{E113C024-90DB-4003-AFEF-3C3E7C2E645E}" type="parTrans" cxnId="{D71E20A0-E214-49C8-9E61-30B8CDC0C0F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E554CE18-FA6B-499E-8378-BDD18103EDC8}" type="sibTrans" cxnId="{D71E20A0-E214-49C8-9E61-30B8CDC0C0F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CFFB0BFB-95C4-4AFB-834F-D43994796252}">
      <dgm:prSet/>
      <dgm:spPr>
        <a:solidFill>
          <a:srgbClr val="FFC000"/>
        </a:solidFill>
      </dgm:spPr>
      <dgm:t>
        <a:bodyPr tIns="72000"/>
        <a:lstStyle/>
        <a:p>
          <a:pPr marL="180000" latinLnBrk="1"/>
          <a:r>
            <a:rPr lang="ko-KR" altLang="en-US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주어진 기간 내에 완성할 수 있는 내용을 포함하는 주제 선정</a:t>
          </a:r>
          <a:endParaRPr lang="en-US" altLang="ko-KR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AAF31A37-6457-4172-8D73-02AC458F969A}" type="parTrans" cxnId="{A7F4BB04-C7C6-4A74-8583-E917A97624E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86F2CCAF-D0F8-4073-9107-891B1F335379}" type="sibTrans" cxnId="{A7F4BB04-C7C6-4A74-8583-E917A97624E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A5B30C83-0CD4-47E8-85F2-86AED3413BA1}">
      <dgm:prSet/>
      <dgm:spPr>
        <a:solidFill>
          <a:srgbClr val="33CCFF"/>
        </a:solidFill>
      </dgm:spPr>
      <dgm:t>
        <a:bodyPr tIns="72000"/>
        <a:lstStyle/>
        <a:p>
          <a:pPr marL="180000" latinLnBrk="1"/>
          <a:r>
            <a:rPr lang="ko-KR" altLang="en-US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전공 연관성</a:t>
          </a:r>
          <a:r>
            <a:rPr lang="en-US" altLang="ko-KR" b="1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(Software Oriented)</a:t>
          </a:r>
        </a:p>
      </dgm:t>
    </dgm:pt>
    <dgm:pt modelId="{ED47F66A-CFA0-447E-84E4-4CE72A28DB91}" type="parTrans" cxnId="{12771DDA-8F55-49A8-BE66-A29141BA813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5D37195C-E255-4D03-95A3-31EEB125B389}" type="sibTrans" cxnId="{12771DDA-8F55-49A8-BE66-A29141BA813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1E1B5E74-9127-42D0-8C93-C8BBCE3E1350}">
      <dgm:prSet/>
      <dgm:spPr>
        <a:solidFill>
          <a:srgbClr val="33CCFF"/>
        </a:solidFill>
      </dgm:spPr>
      <dgm:t>
        <a:bodyPr tIns="72000"/>
        <a:lstStyle/>
        <a:p>
          <a:pPr marL="180000" latinLnBrk="1"/>
          <a:r>
            <a:rPr lang="ko-KR" altLang="en-US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전공 분야와 관련된 주제 선정</a:t>
          </a:r>
          <a:endParaRPr lang="en-US" altLang="ko-KR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672AD35B-6226-4544-B846-F755FC697FAE}" type="parTrans" cxnId="{B68BFC5B-21F8-40B7-8BA1-D305E54A3CEE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BAD64BED-FAF7-40CF-BF78-85C4E7A0F861}" type="sibTrans" cxnId="{B68BFC5B-21F8-40B7-8BA1-D305E54A3CEE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gm:t>
    </dgm:pt>
    <dgm:pt modelId="{5FC1D342-ADEA-4D3B-8510-0006B4163CB7}" type="pres">
      <dgm:prSet presAssocID="{9C96687E-17F1-477B-82C7-DD83110C35A8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4D4F90D-866E-42FC-84C4-A18D1807EA1C}" type="pres">
      <dgm:prSet presAssocID="{9C96687E-17F1-477B-82C7-DD83110C35A8}" presName="matrix" presStyleCnt="0"/>
      <dgm:spPr/>
    </dgm:pt>
    <dgm:pt modelId="{54A60B2B-2A5B-4321-9CE6-8068888CB08F}" type="pres">
      <dgm:prSet presAssocID="{9C96687E-17F1-477B-82C7-DD83110C35A8}" presName="tile1" presStyleLbl="node1" presStyleIdx="0" presStyleCnt="4"/>
      <dgm:spPr/>
    </dgm:pt>
    <dgm:pt modelId="{1C94198B-2E22-49E8-9EC2-FDFC21BEC252}" type="pres">
      <dgm:prSet presAssocID="{9C96687E-17F1-477B-82C7-DD83110C35A8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CA03F57-ECE2-4E8D-80AD-262263BDA7F4}" type="pres">
      <dgm:prSet presAssocID="{9C96687E-17F1-477B-82C7-DD83110C35A8}" presName="tile2" presStyleLbl="node1" presStyleIdx="1" presStyleCnt="4" custLinFactNeighborX="7813" custLinFactNeighborY="-8696"/>
      <dgm:spPr/>
    </dgm:pt>
    <dgm:pt modelId="{22B6E11B-C5B3-489D-825D-54BD7F3617E0}" type="pres">
      <dgm:prSet presAssocID="{9C96687E-17F1-477B-82C7-DD83110C35A8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9A72D9-C7A7-4ACA-9517-69783CAB0E3F}" type="pres">
      <dgm:prSet presAssocID="{9C96687E-17F1-477B-82C7-DD83110C35A8}" presName="tile3" presStyleLbl="node1" presStyleIdx="2" presStyleCnt="4"/>
      <dgm:spPr/>
    </dgm:pt>
    <dgm:pt modelId="{71C6453C-02B7-42E5-9B22-17363662B222}" type="pres">
      <dgm:prSet presAssocID="{9C96687E-17F1-477B-82C7-DD83110C35A8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887DD96-B219-45BC-AFA8-E7ACE5D02836}" type="pres">
      <dgm:prSet presAssocID="{9C96687E-17F1-477B-82C7-DD83110C35A8}" presName="tile4" presStyleLbl="node1" presStyleIdx="3" presStyleCnt="4"/>
      <dgm:spPr/>
    </dgm:pt>
    <dgm:pt modelId="{9D7F118D-A324-4407-852A-CA22C2053F09}" type="pres">
      <dgm:prSet presAssocID="{9C96687E-17F1-477B-82C7-DD83110C35A8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6D7213E0-B0CD-4E4A-B380-54DE1F7A1E03}" type="pres">
      <dgm:prSet presAssocID="{9C96687E-17F1-477B-82C7-DD83110C35A8}" presName="centerTile" presStyleLbl="fgShp" presStyleIdx="0" presStyleCnt="1" custScaleX="118123">
        <dgm:presLayoutVars>
          <dgm:chMax val="0"/>
          <dgm:chPref val="0"/>
        </dgm:presLayoutVars>
      </dgm:prSet>
      <dgm:spPr/>
    </dgm:pt>
  </dgm:ptLst>
  <dgm:cxnLst>
    <dgm:cxn modelId="{A7F4BB04-C7C6-4A74-8583-E917A97624E3}" srcId="{84396208-F80B-4324-AC16-A40A90A62BE6}" destId="{CFFB0BFB-95C4-4AFB-834F-D43994796252}" srcOrd="0" destOrd="0" parTransId="{AAF31A37-6457-4172-8D73-02AC458F969A}" sibTransId="{86F2CCAF-D0F8-4073-9107-891B1F335379}"/>
    <dgm:cxn modelId="{8C031C07-2A26-4AB8-A0DD-A42CC1D47249}" type="presOf" srcId="{A5B30C83-0CD4-47E8-85F2-86AED3413BA1}" destId="{E887DD96-B219-45BC-AFA8-E7ACE5D02836}" srcOrd="0" destOrd="0" presId="urn:microsoft.com/office/officeart/2005/8/layout/matrix1"/>
    <dgm:cxn modelId="{BD4C4B19-E640-41F7-9062-023B312A2924}" type="presOf" srcId="{CFFB0BFB-95C4-4AFB-834F-D43994796252}" destId="{71C6453C-02B7-42E5-9B22-17363662B222}" srcOrd="1" destOrd="1" presId="urn:microsoft.com/office/officeart/2005/8/layout/matrix1"/>
    <dgm:cxn modelId="{2514B719-9184-4F6B-AC73-B27EAB1EA90A}" type="presOf" srcId="{DE0BB2D4-1412-4B53-A81C-D71530F8FF24}" destId="{1C94198B-2E22-49E8-9EC2-FDFC21BEC252}" srcOrd="1" destOrd="1" presId="urn:microsoft.com/office/officeart/2005/8/layout/matrix1"/>
    <dgm:cxn modelId="{2CB1441D-F6F5-45B2-A79B-2F8AC89EEAA7}" type="presOf" srcId="{5D83658B-8768-4993-953F-9F30F7499571}" destId="{22B6E11B-C5B3-489D-825D-54BD7F3617E0}" srcOrd="1" destOrd="0" presId="urn:microsoft.com/office/officeart/2005/8/layout/matrix1"/>
    <dgm:cxn modelId="{68F62C22-AA8A-4BBA-860B-50348963A228}" type="presOf" srcId="{B76EB70B-054E-45A4-8FCC-62190CF79148}" destId="{54A60B2B-2A5B-4321-9CE6-8068888CB08F}" srcOrd="0" destOrd="0" presId="urn:microsoft.com/office/officeart/2005/8/layout/matrix1"/>
    <dgm:cxn modelId="{B6D32826-6138-4F04-A312-945F43EF5BB5}" type="presOf" srcId="{B76EB70B-054E-45A4-8FCC-62190CF79148}" destId="{1C94198B-2E22-49E8-9EC2-FDFC21BEC252}" srcOrd="1" destOrd="0" presId="urn:microsoft.com/office/officeart/2005/8/layout/matrix1"/>
    <dgm:cxn modelId="{5F1FDD2F-2914-4F42-8BF7-97C61383E404}" type="presOf" srcId="{84396208-F80B-4324-AC16-A40A90A62BE6}" destId="{5F9A72D9-C7A7-4ACA-9517-69783CAB0E3F}" srcOrd="0" destOrd="0" presId="urn:microsoft.com/office/officeart/2005/8/layout/matrix1"/>
    <dgm:cxn modelId="{AADC4E3A-15EA-48BF-BD8E-7D479A58E6EB}" type="presOf" srcId="{DE0BB2D4-1412-4B53-A81C-D71530F8FF24}" destId="{54A60B2B-2A5B-4321-9CE6-8068888CB08F}" srcOrd="0" destOrd="1" presId="urn:microsoft.com/office/officeart/2005/8/layout/matrix1"/>
    <dgm:cxn modelId="{B68BFC5B-21F8-40B7-8BA1-D305E54A3CEE}" srcId="{A5B30C83-0CD4-47E8-85F2-86AED3413BA1}" destId="{1E1B5E74-9127-42D0-8C93-C8BBCE3E1350}" srcOrd="0" destOrd="0" parTransId="{672AD35B-6226-4544-B846-F755FC697FAE}" sibTransId="{BAD64BED-FAF7-40CF-BF78-85C4E7A0F861}"/>
    <dgm:cxn modelId="{1FEEC25F-76C1-419E-9190-54BCAA8EB9EA}" srcId="{B76EB70B-054E-45A4-8FCC-62190CF79148}" destId="{DE0BB2D4-1412-4B53-A81C-D71530F8FF24}" srcOrd="0" destOrd="0" parTransId="{1A2AAFD3-D257-4B2F-8BB2-14FFBFC2B216}" sibTransId="{424E107D-E6C5-4273-9157-E88D5377CF17}"/>
    <dgm:cxn modelId="{0EA91864-070D-4530-9589-E60658074D2B}" type="presOf" srcId="{8A56708F-FC57-41D2-AC5B-ADFAFB60C281}" destId="{6D7213E0-B0CD-4E4A-B380-54DE1F7A1E03}" srcOrd="0" destOrd="0" presId="urn:microsoft.com/office/officeart/2005/8/layout/matrix1"/>
    <dgm:cxn modelId="{FD9BDA4A-DAD5-4D31-84F5-5A13A7E1F14B}" srcId="{8A56708F-FC57-41D2-AC5B-ADFAFB60C281}" destId="{5D83658B-8768-4993-953F-9F30F7499571}" srcOrd="1" destOrd="0" parTransId="{05B5957E-A8C5-4837-8551-D7912208800C}" sibTransId="{B4D06DB6-1BAE-424E-BB3B-B6F17AFC3914}"/>
    <dgm:cxn modelId="{C478A473-64D9-416A-8AC3-7DB079AF294E}" type="presOf" srcId="{5D83658B-8768-4993-953F-9F30F7499571}" destId="{7CA03F57-ECE2-4E8D-80AD-262263BDA7F4}" srcOrd="0" destOrd="0" presId="urn:microsoft.com/office/officeart/2005/8/layout/matrix1"/>
    <dgm:cxn modelId="{0F82C853-BBC9-4C84-962C-A6858E0B8496}" type="presOf" srcId="{A5B30C83-0CD4-47E8-85F2-86AED3413BA1}" destId="{9D7F118D-A324-4407-852A-CA22C2053F09}" srcOrd="1" destOrd="0" presId="urn:microsoft.com/office/officeart/2005/8/layout/matrix1"/>
    <dgm:cxn modelId="{AF53FD56-DBB8-4D65-977B-077820DE743A}" type="presOf" srcId="{1E1B5E74-9127-42D0-8C93-C8BBCE3E1350}" destId="{E887DD96-B219-45BC-AFA8-E7ACE5D02836}" srcOrd="0" destOrd="1" presId="urn:microsoft.com/office/officeart/2005/8/layout/matrix1"/>
    <dgm:cxn modelId="{2E78BF58-DA78-4F6F-A227-D9903F8D0F20}" srcId="{5D83658B-8768-4993-953F-9F30F7499571}" destId="{CBCAE84B-13AC-4B37-9781-E377E880288D}" srcOrd="0" destOrd="0" parTransId="{4F3B62FD-2FF0-4992-9E45-17FED804837E}" sibTransId="{A3E7B2DE-FAEF-4AA7-AD46-B854E2FBF5D8}"/>
    <dgm:cxn modelId="{4EB94F79-2138-4CBA-B1BA-FC94DAE37826}" type="presOf" srcId="{CFFB0BFB-95C4-4AFB-834F-D43994796252}" destId="{5F9A72D9-C7A7-4ACA-9517-69783CAB0E3F}" srcOrd="0" destOrd="1" presId="urn:microsoft.com/office/officeart/2005/8/layout/matrix1"/>
    <dgm:cxn modelId="{FCE6CE7B-0916-4DA4-9EFF-B4701D358427}" type="presOf" srcId="{CBCAE84B-13AC-4B37-9781-E377E880288D}" destId="{22B6E11B-C5B3-489D-825D-54BD7F3617E0}" srcOrd="1" destOrd="1" presId="urn:microsoft.com/office/officeart/2005/8/layout/matrix1"/>
    <dgm:cxn modelId="{D3AC897C-7084-4FAE-8DBA-48606DB06395}" type="presOf" srcId="{84396208-F80B-4324-AC16-A40A90A62BE6}" destId="{71C6453C-02B7-42E5-9B22-17363662B222}" srcOrd="1" destOrd="0" presId="urn:microsoft.com/office/officeart/2005/8/layout/matrix1"/>
    <dgm:cxn modelId="{D71E20A0-E214-49C8-9E61-30B8CDC0C0FF}" srcId="{8A56708F-FC57-41D2-AC5B-ADFAFB60C281}" destId="{84396208-F80B-4324-AC16-A40A90A62BE6}" srcOrd="2" destOrd="0" parTransId="{E113C024-90DB-4003-AFEF-3C3E7C2E645E}" sibTransId="{E554CE18-FA6B-499E-8378-BDD18103EDC8}"/>
    <dgm:cxn modelId="{BBC81EC1-5535-446E-BE5D-866B8A4DAAF7}" type="presOf" srcId="{CBCAE84B-13AC-4B37-9781-E377E880288D}" destId="{7CA03F57-ECE2-4E8D-80AD-262263BDA7F4}" srcOrd="0" destOrd="1" presId="urn:microsoft.com/office/officeart/2005/8/layout/matrix1"/>
    <dgm:cxn modelId="{52A1B9C3-77CB-4393-AE3E-35C211B7D982}" srcId="{9C96687E-17F1-477B-82C7-DD83110C35A8}" destId="{8A56708F-FC57-41D2-AC5B-ADFAFB60C281}" srcOrd="0" destOrd="0" parTransId="{F54BAC86-953D-4ABF-845E-A27F4412271F}" sibTransId="{79068601-19A3-4494-BD10-D06AC3EDC725}"/>
    <dgm:cxn modelId="{CA67DED4-4906-474F-8580-071B53C9AB53}" type="presOf" srcId="{9C96687E-17F1-477B-82C7-DD83110C35A8}" destId="{5FC1D342-ADEA-4D3B-8510-0006B4163CB7}" srcOrd="0" destOrd="0" presId="urn:microsoft.com/office/officeart/2005/8/layout/matrix1"/>
    <dgm:cxn modelId="{624193D6-4D5C-4FA0-A3B1-E50674AAD7C7}" type="presOf" srcId="{1E1B5E74-9127-42D0-8C93-C8BBCE3E1350}" destId="{9D7F118D-A324-4407-852A-CA22C2053F09}" srcOrd="1" destOrd="1" presId="urn:microsoft.com/office/officeart/2005/8/layout/matrix1"/>
    <dgm:cxn modelId="{12771DDA-8F55-49A8-BE66-A29141BA8133}" srcId="{8A56708F-FC57-41D2-AC5B-ADFAFB60C281}" destId="{A5B30C83-0CD4-47E8-85F2-86AED3413BA1}" srcOrd="3" destOrd="0" parTransId="{ED47F66A-CFA0-447E-84E4-4CE72A28DB91}" sibTransId="{5D37195C-E255-4D03-95A3-31EEB125B389}"/>
    <dgm:cxn modelId="{941137E4-70A6-430C-9822-4B0EF6CC262F}" srcId="{8A56708F-FC57-41D2-AC5B-ADFAFB60C281}" destId="{B76EB70B-054E-45A4-8FCC-62190CF79148}" srcOrd="0" destOrd="0" parTransId="{8F8F7E52-0966-48D1-A680-C2F8AAF25735}" sibTransId="{7BD69315-AC8D-42C0-876B-FF5CA1E66AE1}"/>
    <dgm:cxn modelId="{792FCE71-1D73-4578-B6C2-F374B8E34069}" type="presParOf" srcId="{5FC1D342-ADEA-4D3B-8510-0006B4163CB7}" destId="{24D4F90D-866E-42FC-84C4-A18D1807EA1C}" srcOrd="0" destOrd="0" presId="urn:microsoft.com/office/officeart/2005/8/layout/matrix1"/>
    <dgm:cxn modelId="{4200B881-2D97-4694-AC25-EF95BFE9FCE3}" type="presParOf" srcId="{24D4F90D-866E-42FC-84C4-A18D1807EA1C}" destId="{54A60B2B-2A5B-4321-9CE6-8068888CB08F}" srcOrd="0" destOrd="0" presId="urn:microsoft.com/office/officeart/2005/8/layout/matrix1"/>
    <dgm:cxn modelId="{C44C65AA-BC97-4396-A42C-DCA597B70AF2}" type="presParOf" srcId="{24D4F90D-866E-42FC-84C4-A18D1807EA1C}" destId="{1C94198B-2E22-49E8-9EC2-FDFC21BEC252}" srcOrd="1" destOrd="0" presId="urn:microsoft.com/office/officeart/2005/8/layout/matrix1"/>
    <dgm:cxn modelId="{42397385-951F-4BE9-A570-FBDE23956EA4}" type="presParOf" srcId="{24D4F90D-866E-42FC-84C4-A18D1807EA1C}" destId="{7CA03F57-ECE2-4E8D-80AD-262263BDA7F4}" srcOrd="2" destOrd="0" presId="urn:microsoft.com/office/officeart/2005/8/layout/matrix1"/>
    <dgm:cxn modelId="{3B3D1991-3422-4AC0-A483-DBC59550B92F}" type="presParOf" srcId="{24D4F90D-866E-42FC-84C4-A18D1807EA1C}" destId="{22B6E11B-C5B3-489D-825D-54BD7F3617E0}" srcOrd="3" destOrd="0" presId="urn:microsoft.com/office/officeart/2005/8/layout/matrix1"/>
    <dgm:cxn modelId="{4178EEED-BE95-44B7-9090-99D493FAB5B8}" type="presParOf" srcId="{24D4F90D-866E-42FC-84C4-A18D1807EA1C}" destId="{5F9A72D9-C7A7-4ACA-9517-69783CAB0E3F}" srcOrd="4" destOrd="0" presId="urn:microsoft.com/office/officeart/2005/8/layout/matrix1"/>
    <dgm:cxn modelId="{482EA394-9A04-470F-A3E4-DDD3D2F6B0D4}" type="presParOf" srcId="{24D4F90D-866E-42FC-84C4-A18D1807EA1C}" destId="{71C6453C-02B7-42E5-9B22-17363662B222}" srcOrd="5" destOrd="0" presId="urn:microsoft.com/office/officeart/2005/8/layout/matrix1"/>
    <dgm:cxn modelId="{E860890E-0DCE-49E2-8886-D636AE61CA0C}" type="presParOf" srcId="{24D4F90D-866E-42FC-84C4-A18D1807EA1C}" destId="{E887DD96-B219-45BC-AFA8-E7ACE5D02836}" srcOrd="6" destOrd="0" presId="urn:microsoft.com/office/officeart/2005/8/layout/matrix1"/>
    <dgm:cxn modelId="{6A871426-D401-4D61-AE06-345227376D54}" type="presParOf" srcId="{24D4F90D-866E-42FC-84C4-A18D1807EA1C}" destId="{9D7F118D-A324-4407-852A-CA22C2053F09}" srcOrd="7" destOrd="0" presId="urn:microsoft.com/office/officeart/2005/8/layout/matrix1"/>
    <dgm:cxn modelId="{94654C2B-9890-434E-993C-1EB1AFB9627A}" type="presParOf" srcId="{5FC1D342-ADEA-4D3B-8510-0006B4163CB7}" destId="{6D7213E0-B0CD-4E4A-B380-54DE1F7A1E0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60B2B-2A5B-4321-9CE6-8068888CB08F}">
      <dsp:nvSpPr>
        <dsp:cNvPr id="0" name=""/>
        <dsp:cNvSpPr/>
      </dsp:nvSpPr>
      <dsp:spPr>
        <a:xfrm rot="16200000">
          <a:off x="631025" y="-631025"/>
          <a:ext cx="1785950" cy="3048000"/>
        </a:xfrm>
        <a:prstGeom prst="round1Rect">
          <a:avLst/>
        </a:prstGeom>
        <a:solidFill>
          <a:srgbClr val="92D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80000" lvl="0" indent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b="1" kern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독창성</a:t>
          </a:r>
          <a:r>
            <a:rPr lang="en-US" altLang="ko-KR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(Originality)</a:t>
          </a:r>
          <a:endParaRPr lang="ko-KR" altLang="en-US" sz="1700" b="1" kern="1200" dirty="0">
            <a:solidFill>
              <a:schemeClr val="tx1"/>
            </a:solidFill>
            <a:latin typeface="HY견명조" panose="02030600000101010101" pitchFamily="18" charset="-127"/>
            <a:ea typeface="HY견명조" panose="02030600000101010101" pitchFamily="18" charset="-127"/>
          </a:endParaRPr>
        </a:p>
        <a:p>
          <a:pPr marL="1800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300" kern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참신한 주제 선정</a:t>
          </a:r>
          <a:endParaRPr lang="en-US" altLang="ko-KR" sz="1300" kern="1200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sp:txBody>
      <dsp:txXfrm rot="5400000">
        <a:off x="-1" y="1"/>
        <a:ext cx="3048000" cy="1339462"/>
      </dsp:txXfrm>
    </dsp:sp>
    <dsp:sp modelId="{7CA03F57-ECE2-4E8D-80AD-262263BDA7F4}">
      <dsp:nvSpPr>
        <dsp:cNvPr id="0" name=""/>
        <dsp:cNvSpPr/>
      </dsp:nvSpPr>
      <dsp:spPr>
        <a:xfrm>
          <a:off x="3048000" y="0"/>
          <a:ext cx="3048000" cy="1785950"/>
        </a:xfrm>
        <a:prstGeom prst="round1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80000" lvl="0" indent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시장성</a:t>
          </a:r>
          <a:r>
            <a:rPr lang="en-US" altLang="ko-KR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/</a:t>
          </a:r>
          <a:r>
            <a:rPr lang="ko-KR" altLang="en-US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유용성</a:t>
          </a:r>
          <a:r>
            <a:rPr lang="en-US" altLang="ko-KR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(Usability)</a:t>
          </a:r>
        </a:p>
        <a:p>
          <a:pPr marL="1800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300" kern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현재 시장의 흐름을 분석하여</a:t>
          </a:r>
          <a:r>
            <a:rPr lang="en-US" altLang="ko-KR" sz="1300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,  </a:t>
          </a:r>
          <a:r>
            <a:rPr lang="ko-KR" altLang="en-US" sz="1300" kern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시장성을 고려한 주제 선정</a:t>
          </a:r>
          <a:endParaRPr lang="en-US" altLang="ko-KR" sz="1300" kern="1200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sp:txBody>
      <dsp:txXfrm>
        <a:off x="3048000" y="0"/>
        <a:ext cx="3048000" cy="1339462"/>
      </dsp:txXfrm>
    </dsp:sp>
    <dsp:sp modelId="{5F9A72D9-C7A7-4ACA-9517-69783CAB0E3F}">
      <dsp:nvSpPr>
        <dsp:cNvPr id="0" name=""/>
        <dsp:cNvSpPr/>
      </dsp:nvSpPr>
      <dsp:spPr>
        <a:xfrm rot="10800000">
          <a:off x="0" y="1785950"/>
          <a:ext cx="3048000" cy="1785950"/>
        </a:xfrm>
        <a:prstGeom prst="round1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72000" rIns="120904" bIns="120904" numCol="1" spcCol="1270" anchor="t" anchorCtr="0">
          <a:noAutofit/>
        </a:bodyPr>
        <a:lstStyle/>
        <a:p>
          <a:pPr marL="180000" lvl="0" indent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완성 가능성</a:t>
          </a:r>
          <a:r>
            <a:rPr lang="en-US" altLang="ko-KR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(feasibility)</a:t>
          </a:r>
        </a:p>
        <a:p>
          <a:pPr marL="1800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300" kern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주어진 기간 내에 완성할 수 있는 내용을 포함하는 주제 선정</a:t>
          </a:r>
          <a:endParaRPr lang="en-US" altLang="ko-KR" sz="1300" kern="1200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sp:txBody>
      <dsp:txXfrm rot="10800000">
        <a:off x="0" y="2232437"/>
        <a:ext cx="3048000" cy="1339462"/>
      </dsp:txXfrm>
    </dsp:sp>
    <dsp:sp modelId="{E887DD96-B219-45BC-AFA8-E7ACE5D02836}">
      <dsp:nvSpPr>
        <dsp:cNvPr id="0" name=""/>
        <dsp:cNvSpPr/>
      </dsp:nvSpPr>
      <dsp:spPr>
        <a:xfrm rot="5400000">
          <a:off x="3679025" y="1154924"/>
          <a:ext cx="1785950" cy="3048000"/>
        </a:xfrm>
        <a:prstGeom prst="round1Rect">
          <a:avLst/>
        </a:prstGeom>
        <a:solidFill>
          <a:srgbClr val="33CCFF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72000" rIns="120904" bIns="120904" numCol="1" spcCol="1270" anchor="t" anchorCtr="0">
          <a:noAutofit/>
        </a:bodyPr>
        <a:lstStyle/>
        <a:p>
          <a:pPr marL="180000" lvl="0" indent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전공 연관성</a:t>
          </a:r>
          <a:r>
            <a:rPr lang="en-US" altLang="ko-KR" sz="1700" b="1" kern="12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rPr>
            <a:t>(Software Oriented)</a:t>
          </a:r>
        </a:p>
        <a:p>
          <a:pPr marL="1800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300" kern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전공 분야와 관련된 주제 선정</a:t>
          </a:r>
          <a:endParaRPr lang="en-US" altLang="ko-KR" sz="1300" kern="1200" dirty="0">
            <a:solidFill>
              <a:schemeClr val="tx1"/>
            </a:solidFill>
            <a:latin typeface="KoPub돋움체 Bold" panose="02020603020101020101" pitchFamily="18" charset="-127"/>
            <a:ea typeface="KoPub돋움체 Bold" panose="02020603020101020101" pitchFamily="18" charset="-127"/>
          </a:endParaRPr>
        </a:p>
      </dsp:txBody>
      <dsp:txXfrm rot="-5400000">
        <a:off x="3047999" y="2232437"/>
        <a:ext cx="3048000" cy="1339462"/>
      </dsp:txXfrm>
    </dsp:sp>
    <dsp:sp modelId="{6D7213E0-B0CD-4E4A-B380-54DE1F7A1E03}">
      <dsp:nvSpPr>
        <dsp:cNvPr id="0" name=""/>
        <dsp:cNvSpPr/>
      </dsp:nvSpPr>
      <dsp:spPr>
        <a:xfrm>
          <a:off x="1967883" y="1339462"/>
          <a:ext cx="2160233" cy="892975"/>
        </a:xfrm>
        <a:prstGeom prst="roundRect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200" b="1" kern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rPr>
            <a:t>종합설계 작품</a:t>
          </a:r>
        </a:p>
      </dsp:txBody>
      <dsp:txXfrm>
        <a:off x="2011474" y="1383053"/>
        <a:ext cx="2073051" cy="805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latinLnBrk="1" hangingPunct="1">
              <a:defRPr kumimoji="1" sz="13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837" y="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latinLnBrk="1" hangingPunct="1">
              <a:defRPr kumimoji="1" sz="13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72185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latinLnBrk="1" hangingPunct="1">
              <a:defRPr kumimoji="1" sz="13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837" y="972185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latinLnBrk="1" hangingPunct="1">
              <a:defRPr kumimoji="1" sz="13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605FE0E6-99F0-4617-9E06-8F05372FE59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latinLnBrk="1" hangingPunct="1">
              <a:defRPr kumimoji="1" sz="13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837" y="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latinLnBrk="1" hangingPunct="1">
              <a:defRPr kumimoji="1" sz="13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91" y="4860925"/>
            <a:ext cx="5683886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185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latinLnBrk="1" hangingPunct="1">
              <a:defRPr kumimoji="1" sz="13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837" y="9721853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latinLnBrk="1" hangingPunct="1">
              <a:defRPr kumimoji="1" sz="13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95DE7BA4-4C57-402D-BA0C-E92B1DD655E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DE7BA4-4C57-402D-BA0C-E92B1DD655E2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6115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6513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DE7BA4-4C57-402D-BA0C-E92B1DD655E2}" type="slidenum">
              <a:rPr lang="ko-KR" altLang="en-US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3068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/>
          <p:cNvSpPr>
            <a:spLocks noChangeShapeType="1"/>
          </p:cNvSpPr>
          <p:nvPr/>
        </p:nvSpPr>
        <p:spPr bwMode="blackWhite">
          <a:xfrm>
            <a:off x="609600" y="990600"/>
            <a:ext cx="8077200" cy="0"/>
          </a:xfrm>
          <a:prstGeom prst="line">
            <a:avLst/>
          </a:prstGeom>
          <a:noFill/>
          <a:ln w="19050">
            <a:solidFill>
              <a:srgbClr val="1C1C54"/>
            </a:solidFill>
            <a:round/>
            <a:headEnd/>
            <a:tailEnd/>
          </a:ln>
          <a:effectLst>
            <a:outerShdw dist="28398" dir="1593903" algn="ctr" rotWithShape="0">
              <a:srgbClr val="7D7DB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" name="Text Box 8"/>
          <p:cNvSpPr txBox="1">
            <a:spLocks noChangeArrowheads="1"/>
          </p:cNvSpPr>
          <p:nvPr userDrawn="1"/>
        </p:nvSpPr>
        <p:spPr bwMode="blackWhite">
          <a:xfrm>
            <a:off x="838200" y="371475"/>
            <a:ext cx="7837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endParaRPr lang="en-US" altLang="ko-KR" sz="2800" b="1">
              <a:latin typeface="Verdana" panose="020B0604030504040204" pitchFamily="34" charset="0"/>
            </a:endParaRPr>
          </a:p>
        </p:txBody>
      </p:sp>
      <p:sp>
        <p:nvSpPr>
          <p:cNvPr id="200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7772400" cy="2971800"/>
          </a:xfrm>
        </p:spPr>
        <p:txBody>
          <a:bodyPr/>
          <a:lstStyle>
            <a:lvl1pPr algn="ctr">
              <a:defRPr sz="4400" b="1" i="0">
                <a:latin typeface="Verdana" pitchFamily="34" charset="0"/>
              </a:defRPr>
            </a:lvl1pPr>
          </a:lstStyle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195036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/>
          <a:lstStyle>
            <a:lvl1pPr algn="ctr">
              <a:defRPr b="1" i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295400"/>
            <a:ext cx="8587680" cy="4941888"/>
          </a:xfrm>
        </p:spPr>
        <p:txBody>
          <a:bodyPr/>
          <a:lstStyle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  <a:lvl3pPr>
              <a:defRPr sz="18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3pPr>
            <a:lvl4pPr>
              <a:defRPr sz="17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4pPr>
            <a:lvl5pPr>
              <a:defRPr sz="16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09520" y="6525344"/>
            <a:ext cx="598984" cy="304800"/>
          </a:xfrm>
          <a:ln/>
        </p:spPr>
        <p:txBody>
          <a:bodyPr/>
          <a:lstStyle>
            <a:lvl1pPr>
              <a:defRPr b="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>
              <a:defRPr/>
            </a:pPr>
            <a:fld id="{19B06B84-4094-43DB-877A-65675D826FF7}" type="slidenum">
              <a:rPr lang="en-GB" altLang="ko-KR" smtClean="0"/>
              <a:pPr>
                <a:defRPr/>
              </a:pPr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2079570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84307-4419-45A4-92BD-B9963045055B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802229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52900" cy="4941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6300" y="1295400"/>
            <a:ext cx="4152900" cy="4941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4D4BF-AAEF-48AB-9429-1409E9DEEA1C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024931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9F4C0-E057-4D1B-A6B1-765922EA8669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441659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FC8AF-41F9-4DB4-886A-234C50900054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446101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3E73-F958-4940-A84D-163BE895DECA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639013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16210-4591-4C03-8EB2-851E28DFBD3D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888674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3D724-4797-41C2-82DC-C618853B7789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43026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EFF99-BF6F-4D2A-89A5-A83D072F358A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812109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24650" y="188913"/>
            <a:ext cx="2114550" cy="60483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1000" y="188913"/>
            <a:ext cx="6191250" cy="60483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89ADB-114D-424D-98DA-D640972596C7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26771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1188" y="188913"/>
            <a:ext cx="80010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81000" y="1295400"/>
            <a:ext cx="8458200" cy="4941888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16139-8AD0-4851-A20B-C568C41AC056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854477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6" r="57592" b="2649"/>
          <a:stretch/>
        </p:blipFill>
        <p:spPr bwMode="auto">
          <a:xfrm>
            <a:off x="4824536" y="44624"/>
            <a:ext cx="4283968" cy="674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0" y="1772816"/>
            <a:ext cx="4824536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l" eaLnBrk="1" hangingPunct="1">
              <a:defRPr/>
            </a:pPr>
            <a:r>
              <a:rPr lang="en-US" altLang="ko-KR" sz="13800" b="1" dirty="0">
                <a:solidFill>
                  <a:srgbClr val="804B9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lang="ko-KR" altLang="en-US" sz="13800" b="1" dirty="0">
              <a:solidFill>
                <a:srgbClr val="804B9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17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64008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b="1"/>
            </a:lvl1pPr>
          </a:lstStyle>
          <a:p>
            <a:pPr>
              <a:defRPr/>
            </a:pPr>
            <a:fld id="{59457DC4-E6D1-40FF-9F53-D2586B9394B7}" type="slidenum">
              <a:rPr lang="en-GB" altLang="ko-KR"/>
              <a:pPr>
                <a:defRPr/>
              </a:pPr>
              <a:t>‹#›</a:t>
            </a:fld>
            <a:endParaRPr lang="en-GB" altLang="ko-KR"/>
          </a:p>
        </p:txBody>
      </p:sp>
      <p:sp>
        <p:nvSpPr>
          <p:cNvPr id="1027" name="Line 5"/>
          <p:cNvSpPr>
            <a:spLocks noChangeShapeType="1"/>
          </p:cNvSpPr>
          <p:nvPr/>
        </p:nvSpPr>
        <p:spPr bwMode="blackWhite">
          <a:xfrm>
            <a:off x="609600" y="990600"/>
            <a:ext cx="8077200" cy="0"/>
          </a:xfrm>
          <a:prstGeom prst="line">
            <a:avLst/>
          </a:prstGeom>
          <a:noFill/>
          <a:ln w="19050">
            <a:solidFill>
              <a:srgbClr val="1C1C54"/>
            </a:solidFill>
            <a:round/>
            <a:headEnd/>
            <a:tailEnd/>
          </a:ln>
          <a:effectLst>
            <a:outerShdw dist="28398" dir="1593903" algn="ctr" rotWithShape="0">
              <a:srgbClr val="7D7DB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188913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458200" cy="494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18263"/>
            <a:ext cx="21336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400" b="1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400800"/>
            <a:ext cx="3529013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400" b="1">
                <a:latin typeface="Verdana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6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400" i="1">
          <a:solidFill>
            <a:srgbClr val="1C1C54"/>
          </a:solidFill>
          <a:latin typeface="Tahoma" pitchFamily="34" charset="0"/>
          <a:ea typeface="굴림체" pitchFamily="49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7D7DB2"/>
        </a:buClr>
        <a:buSzPct val="75000"/>
        <a:buFont typeface="Monotype Sorts" pitchFamily="2" charset="2"/>
        <a:buChar char="v"/>
        <a:defRPr kumimoji="1" sz="2400">
          <a:solidFill>
            <a:srgbClr val="1C1C5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939AB"/>
        </a:buClr>
        <a:buSzPct val="60000"/>
        <a:buFont typeface="Monotype Sorts" pitchFamily="2" charset="2"/>
        <a:buChar char="n"/>
        <a:defRPr kumimoji="1" sz="2000">
          <a:solidFill>
            <a:srgbClr val="1C1C54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5671BB"/>
        </a:buClr>
        <a:buSzPct val="60000"/>
        <a:buFont typeface="Monotype Sorts" pitchFamily="2" charset="2"/>
        <a:buChar char="u"/>
        <a:defRPr kumimoji="1" sz="2400">
          <a:solidFill>
            <a:srgbClr val="1C1C54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5797A8"/>
        </a:buClr>
        <a:buSzPct val="60000"/>
        <a:buFont typeface="Monotype Sorts" pitchFamily="2" charset="2"/>
        <a:buChar char="l"/>
        <a:defRPr kumimoji="1" sz="1600">
          <a:solidFill>
            <a:srgbClr val="1C1C54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SzPct val="50000"/>
        <a:buFont typeface="Monotype Sorts" pitchFamily="2" charset="2"/>
        <a:buChar char="U"/>
        <a:defRPr kumimoji="1" sz="1400">
          <a:solidFill>
            <a:srgbClr val="1C1C54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SzPct val="50000"/>
        <a:buFont typeface="Monotype Sorts" pitchFamily="2" charset="2"/>
        <a:buChar char="U"/>
        <a:defRPr kumimoji="1" sz="1400">
          <a:solidFill>
            <a:srgbClr val="1C1C54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SzPct val="50000"/>
        <a:buFont typeface="Monotype Sorts" pitchFamily="2" charset="2"/>
        <a:buChar char="U"/>
        <a:defRPr kumimoji="1" sz="1400">
          <a:solidFill>
            <a:srgbClr val="1C1C54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SzPct val="50000"/>
        <a:buFont typeface="Monotype Sorts" pitchFamily="2" charset="2"/>
        <a:buChar char="U"/>
        <a:defRPr kumimoji="1" sz="1400">
          <a:solidFill>
            <a:srgbClr val="1C1C54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SzPct val="50000"/>
        <a:buFont typeface="Monotype Sorts" pitchFamily="2" charset="2"/>
        <a:buChar char="U"/>
        <a:defRPr kumimoji="1" sz="1400">
          <a:solidFill>
            <a:srgbClr val="1C1C54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504" y="4005065"/>
            <a:ext cx="8928992" cy="2016324"/>
          </a:xfrm>
        </p:spPr>
        <p:txBody>
          <a:bodyPr/>
          <a:lstStyle/>
          <a:p>
            <a:br>
              <a:rPr lang="ko-KR" altLang="en-US" sz="4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en-US" altLang="ko-KR" sz="2400" b="0" dirty="0">
                <a:solidFill>
                  <a:schemeClr val="accent2">
                    <a:lumMod val="7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2024. </a:t>
            </a:r>
            <a:r>
              <a:rPr lang="en-US" altLang="ko-KR" sz="2400" b="0">
                <a:solidFill>
                  <a:schemeClr val="accent2">
                    <a:lumMod val="7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09. </a:t>
            </a:r>
            <a:b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br>
              <a:rPr lang="en-US" altLang="ko-KR" sz="2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2800" dirty="0">
                <a:solidFill>
                  <a:schemeClr val="accent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컴퓨터공학부</a:t>
            </a:r>
            <a:br>
              <a:rPr lang="en-US" altLang="ko-KR" sz="2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br>
              <a:rPr lang="en-US" altLang="ko-KR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2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한국공학대학교</a:t>
            </a:r>
            <a:endParaRPr lang="ko-KR" altLang="en-US" sz="2800" b="0" dirty="0">
              <a:solidFill>
                <a:schemeClr val="accent2">
                  <a:lumMod val="75000"/>
                </a:schemeClr>
              </a:solidFill>
              <a:latin typeface="+mj-lt"/>
              <a:ea typeface="KoPub돋움체 Bold" panose="02020603020101020101" pitchFamily="18" charset="-127"/>
            </a:endParaRPr>
          </a:p>
        </p:txBody>
      </p:sp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0" y="1773238"/>
            <a:ext cx="9144000" cy="16573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306000" rIns="306000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32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2025 </a:t>
            </a:r>
            <a:r>
              <a:rPr lang="ko-KR" altLang="en-US" sz="32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학년도 </a:t>
            </a:r>
            <a:endParaRPr lang="en-US" altLang="ko-KR" sz="3200" b="1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br>
              <a:rPr lang="ko-KR" altLang="en-US" sz="600" b="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종합설계설명회</a:t>
            </a:r>
            <a:endParaRPr kumimoji="0" lang="ko-KR" altLang="ko-KR" sz="4400" b="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F5FBF206-3C2F-4C85-89BD-5A05115EB020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2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i="0"/>
              <a:t>목차</a:t>
            </a:r>
          </a:p>
        </p:txBody>
      </p:sp>
      <p:sp>
        <p:nvSpPr>
          <p:cNvPr id="614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7640" cy="4680496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ko-KR" altLang="en-US" b="1">
                <a:solidFill>
                  <a:schemeClr val="accent4">
                    <a:lumMod val="75000"/>
                    <a:lumOff val="25000"/>
                  </a:schemeClr>
                </a:solidFill>
              </a:rPr>
              <a:t>종합설계 개요</a:t>
            </a:r>
            <a:endParaRPr lang="en-US" altLang="ko-KR" b="1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ko-KR" altLang="en-US" b="1">
                <a:solidFill>
                  <a:schemeClr val="accent4">
                    <a:lumMod val="75000"/>
                    <a:lumOff val="25000"/>
                  </a:schemeClr>
                </a:solidFill>
              </a:rPr>
              <a:t>종합설계 진행일정</a:t>
            </a:r>
            <a:endParaRPr lang="en-US" altLang="ko-KR" b="1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ko-KR" altLang="en-US" b="1">
                <a:solidFill>
                  <a:schemeClr val="accent4">
                    <a:lumMod val="75000"/>
                    <a:lumOff val="25000"/>
                  </a:schemeClr>
                </a:solidFill>
              </a:rPr>
              <a:t>종합설계 규정</a:t>
            </a:r>
            <a:endParaRPr lang="en-US" altLang="ko-KR" b="1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ko-KR" altLang="en-US" b="1">
                <a:solidFill>
                  <a:schemeClr val="accent4">
                    <a:lumMod val="75000"/>
                    <a:lumOff val="25000"/>
                  </a:schemeClr>
                </a:solidFill>
              </a:rPr>
              <a:t>종합설계 성적산출</a:t>
            </a:r>
            <a:endParaRPr lang="en-US" altLang="ko-KR" b="1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ko-KR" altLang="en-US" b="1">
                <a:solidFill>
                  <a:schemeClr val="accent4">
                    <a:lumMod val="75000"/>
                    <a:lumOff val="25000"/>
                  </a:schemeClr>
                </a:solidFill>
              </a:rPr>
              <a:t>유의사항</a:t>
            </a:r>
            <a:endParaRPr lang="en-US" altLang="ko-KR" b="1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endParaRPr lang="ko-KR" altLang="en-US"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3085CCF1-AFB1-46BC-B339-3749C5D464F1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i="0"/>
              <a:t>종합설계의 목적</a:t>
            </a:r>
          </a:p>
        </p:txBody>
      </p:sp>
      <p:sp>
        <p:nvSpPr>
          <p:cNvPr id="717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08409" y="1124744"/>
            <a:ext cx="8587680" cy="4941888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ko-KR" alt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목적</a:t>
            </a:r>
            <a:endParaRPr lang="en-US" altLang="ko-KR" b="1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10000"/>
              </a:lnSpc>
            </a:pP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졸업예정자로 하여금 학부 과정에서 배우고 익힌 전공 지식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요소 기술 설계 능력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실무 능력 등을 종합적으로 응용하여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창의적인 졸업 작품의 기획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설계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구현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통합 통하여 </a:t>
            </a:r>
            <a:r>
              <a:rPr lang="ko-KR" altLang="en-US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창의적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문제 해결 능력을 갖춘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컴퓨터공학 전문 엔지니어의 양성</a:t>
            </a:r>
          </a:p>
          <a:p>
            <a:pPr lvl="1" algn="just" eaLnBrk="1" hangingPunct="1">
              <a:lnSpc>
                <a:spcPct val="110000"/>
              </a:lnSpc>
            </a:pPr>
            <a:endParaRPr lang="ko-KR" altLang="en-US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시스템 및 소프트웨어 개발에 필요한 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314450" lvl="2" indent="-457200" algn="just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제품 기획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</a:p>
          <a:p>
            <a:pPr marL="1314450" lvl="2" indent="-457200" algn="just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요구사항 분석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</a:p>
          <a:p>
            <a:pPr marL="1314450" lvl="2" indent="-457200" algn="just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시스템 설계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구현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시험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통합 능력  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314450" lvl="2" indent="-457200" algn="just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ko-KR" altLang="en-US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팀 구성원 간의 의사 소통 능력</a:t>
            </a:r>
            <a:endParaRPr lang="en-US" altLang="ko-KR" dirty="0">
              <a:solidFill>
                <a:srgbClr val="CC33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7250" lvl="2" indent="0" algn="just" eaLnBrk="1" hangingPunct="1">
              <a:lnSpc>
                <a:spcPct val="110000"/>
              </a:lnSpc>
              <a:buNone/>
            </a:pPr>
            <a:r>
              <a:rPr lang="ko-KR" altLang="en-US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을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 향상 시켜 현장에서 제품을 개발할 수 있는 현장 적응력이 뛰어난 실무형 고급 인재의 양성</a:t>
            </a:r>
          </a:p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EA0A8D1-502B-4153-92B5-50228BC15292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i="0"/>
              <a:t>용어 정의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052" y="1124744"/>
            <a:ext cx="8587680" cy="4941888"/>
          </a:xfrm>
          <a:noFill/>
        </p:spPr>
        <p:txBody>
          <a:bodyPr/>
          <a:lstStyle/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</a:p>
          <a:p>
            <a:pPr lvl="1" algn="just">
              <a:lnSpc>
                <a:spcPct val="115000"/>
              </a:lnSpc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여러 명이 하나의 팀을 구성하여 학부 과정에서 배운 전공 이론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설계 능력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실무 능력을 접목하여 창의적인 공학 시스템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제품 또는 소프트웨어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를 기획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설계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구현 과정을 통하여 졸업생의 자질을 평가 받을 수 있는 일련의 시스템 개발 과정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1" algn="just">
              <a:lnSpc>
                <a:spcPct val="115000"/>
              </a:lnSpc>
            </a:pPr>
            <a:endParaRPr lang="ko-KR" altLang="en-US" sz="5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졸업작품</a:t>
            </a:r>
            <a:endParaRPr lang="ko-KR" altLang="en-US" sz="8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1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종합설계에 의해서 개발되어 지는 시스템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제품 또는 소프트웨어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</a:p>
          <a:p>
            <a:pPr lvl="1"/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[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참고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]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온라인전시관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1162" y="4653136"/>
            <a:ext cx="3290616" cy="49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400" b="1" i="0">
                <a:solidFill>
                  <a:srgbClr val="1C1C5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400" i="1">
                <a:solidFill>
                  <a:srgbClr val="1C1C54"/>
                </a:solidFill>
                <a:latin typeface="Tahoma" pitchFamily="34" charset="0"/>
                <a:ea typeface="굴림체" pitchFamily="49" charset="-127"/>
              </a:defRPr>
            </a:lvl9pPr>
          </a:lstStyle>
          <a:p>
            <a:br>
              <a:rPr lang="en-US" altLang="ko-KR" sz="2400" kern="0" dirty="0"/>
            </a:br>
            <a:r>
              <a:rPr lang="en-US" altLang="ko-KR" sz="2000" b="0" kern="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http://</a:t>
            </a:r>
            <a:r>
              <a:rPr lang="en-US" altLang="ko-KR" sz="2000" b="0" kern="0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expo.tukorea.ac.kr</a:t>
            </a:r>
            <a:endParaRPr lang="ko-KR" altLang="en-US" sz="2000" b="0" kern="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B18205-ADDC-EBAB-EBA8-2596E1231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19" y="4005064"/>
            <a:ext cx="5133599" cy="254084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EA0A8D1-502B-4153-92B5-50228BC15292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i="0" dirty="0"/>
              <a:t>전년대비 주요 변경 사항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95400"/>
            <a:ext cx="8784976" cy="4941888"/>
          </a:xfrm>
          <a:noFill/>
        </p:spPr>
        <p:txBody>
          <a:bodyPr/>
          <a:lstStyle/>
          <a:p>
            <a:endParaRPr lang="ko-KR" altLang="en-US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종합설계기획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-&gt;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1-&gt;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2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연계가 강화된 교과과정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종합설계기획에서 제안서 발표 진행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(2024.11.29)</a:t>
            </a:r>
          </a:p>
          <a:p>
            <a:pPr lvl="1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제안서 발표 평가 내용은 종합설계기획 및 종합설계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에 반영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2"/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1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설계서 발표 시 기본기능구현 데모를 포함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(2025.3)</a:t>
            </a:r>
          </a:p>
          <a:p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변경사유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: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 작품의 완성도를 높이고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애자일 방법론의 적용 등을 고려하여 작품 수행 기간을 조정함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1"/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8151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수행 일정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(1)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6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499EF8-CF00-0DA5-8047-C50B9274717D}"/>
              </a:ext>
            </a:extLst>
          </p:cNvPr>
          <p:cNvSpPr txBox="1"/>
          <p:nvPr/>
        </p:nvSpPr>
        <p:spPr>
          <a:xfrm>
            <a:off x="323528" y="63699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rgbClr val="1C1C54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Arial" charset="0"/>
              </a:rPr>
              <a:t>[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rgbClr val="1C1C54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Arial" charset="0"/>
              </a:rPr>
              <a:t>참고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rgbClr val="1C1C54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Arial" charset="0"/>
              </a:rPr>
              <a:t>]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rgbClr val="1C1C54"/>
                </a:solidFill>
                <a:effectLst/>
                <a:latin typeface="HY견명조" panose="02030600000101010101" pitchFamily="18" charset="-127"/>
                <a:ea typeface="HY견명조" panose="02030600000101010101" pitchFamily="18" charset="-127"/>
                <a:cs typeface="Arial" charset="0"/>
              </a:rPr>
              <a:t>일정은 변경될 수 있음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graphicFrame>
        <p:nvGraphicFramePr>
          <p:cNvPr id="8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25907"/>
              </p:ext>
            </p:extLst>
          </p:nvPr>
        </p:nvGraphicFramePr>
        <p:xfrm>
          <a:off x="357833" y="1282658"/>
          <a:ext cx="8496944" cy="4796790"/>
        </p:xfrm>
        <a:graphic>
          <a:graphicData uri="http://schemas.openxmlformats.org/drawingml/2006/table">
            <a:tbl>
              <a:tblPr/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`24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9.26</a:t>
                      </a:r>
                      <a:endParaRPr kumimoji="1" lang="ko-KR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 ▪ 종합설계 설명회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`24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종합설계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제안서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(PPT)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계획서 제출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`24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11.29</a:t>
                      </a:r>
                      <a:endParaRPr kumimoji="1" lang="ko-KR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종합설계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제안서 발표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`25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종합설계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설계서 발표 및 기본기능구현 데모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+mn-ea"/>
                        </a:rPr>
                        <a:t>(2)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`25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말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종합설계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1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KoPub돋움체 Bold" panose="02020603020101020101"/>
                          <a:cs typeface="Arial" charset="0"/>
                        </a:rPr>
                        <a:t>차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 데모 발표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(3)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‘25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초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 ▪ 이력서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자기소개서 제출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1814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`25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말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학기 기말고사 다음주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종합설계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KoPub돋움체 Bold" panose="02020603020101020101"/>
                          <a:cs typeface="Arial" charset="0"/>
                        </a:rPr>
                        <a:t>차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 데모 발표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(4)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학기 성적 산출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57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한국공학대전 출품작과 수상 후보작 선정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57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7427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수행 일정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(2)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7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  <p:sp>
        <p:nvSpPr>
          <p:cNvPr id="6" name="Rectangle 75"/>
          <p:cNvSpPr>
            <a:spLocks noChangeArrowheads="1"/>
          </p:cNvSpPr>
          <p:nvPr/>
        </p:nvSpPr>
        <p:spPr bwMode="auto">
          <a:xfrm>
            <a:off x="695164" y="5229200"/>
            <a:ext cx="7570787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종합설계는 </a:t>
            </a:r>
            <a:r>
              <a:rPr lang="en-US" altLang="ko-KR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학년 </a:t>
            </a:r>
            <a:r>
              <a:rPr lang="en-US" altLang="ko-KR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학기</a:t>
            </a:r>
            <a:r>
              <a:rPr lang="en-US" altLang="ko-KR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종합설계기획 부터 </a:t>
            </a:r>
            <a:r>
              <a:rPr lang="en-US" altLang="ko-KR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학년 </a:t>
            </a:r>
            <a:r>
              <a:rPr lang="en-US" altLang="ko-KR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학기까지 종합설계 </a:t>
            </a:r>
            <a:r>
              <a:rPr lang="en-US" altLang="ko-KR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I</a:t>
            </a:r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과 </a:t>
            </a:r>
            <a:r>
              <a:rPr lang="en-US" altLang="ko-KR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II</a:t>
            </a:r>
            <a:r>
              <a:rPr lang="ko-KR" altLang="en-US" sz="18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가 연속적으로 수행됨</a:t>
            </a:r>
            <a:endParaRPr lang="en-US" altLang="ko-KR" sz="1800" b="1" u="sng" dirty="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44238"/>
              </p:ext>
            </p:extLst>
          </p:nvPr>
        </p:nvGraphicFramePr>
        <p:xfrm>
          <a:off x="323528" y="1412776"/>
          <a:ext cx="8496944" cy="3197860"/>
        </p:xfrm>
        <a:graphic>
          <a:graphicData uri="http://schemas.openxmlformats.org/drawingml/2006/table">
            <a:tbl>
              <a:tblPr/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`25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9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월 초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종합설계 데모 발표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수정〮보완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졸업논문 제출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한국공학대전 출품작 추가 선정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57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endParaRPr kumimoji="1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한국공학대전 대비 리허설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57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`25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9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월 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한국공학대전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 최종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데모 및 졸업 논문 제출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`25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년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10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월 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 charset="0"/>
                        </a:rPr>
                        <a:t>▪ 개인별 졸업연구평가보고서 및 소스 제출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1793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2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Y견명조" panose="02030600000101010101" pitchFamily="18" charset="-127"/>
                          <a:ea typeface="HY견명조" panose="02030600000101010101" pitchFamily="18" charset="-127"/>
                        </a:rPr>
                        <a:t>학기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성적 산출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057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C1C54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C1C54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8345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수행 절차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(1)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8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  <p:sp>
        <p:nvSpPr>
          <p:cNvPr id="6" name="Rectangle 52"/>
          <p:cNvSpPr>
            <a:spLocks noChangeArrowheads="1"/>
          </p:cNvSpPr>
          <p:nvPr/>
        </p:nvSpPr>
        <p:spPr bwMode="blackWhite">
          <a:xfrm>
            <a:off x="485481" y="1467028"/>
            <a:ext cx="8137525" cy="48958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ko-KR" altLang="en-US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blackWhite">
          <a:xfrm>
            <a:off x="485481" y="1898828"/>
            <a:ext cx="8137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Line 54"/>
          <p:cNvSpPr>
            <a:spLocks noChangeShapeType="1"/>
          </p:cNvSpPr>
          <p:nvPr/>
        </p:nvSpPr>
        <p:spPr bwMode="blackWhite">
          <a:xfrm>
            <a:off x="1350668" y="1467028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Line 55"/>
          <p:cNvSpPr>
            <a:spLocks noChangeShapeType="1"/>
          </p:cNvSpPr>
          <p:nvPr/>
        </p:nvSpPr>
        <p:spPr bwMode="blackWhite">
          <a:xfrm>
            <a:off x="7830843" y="1467028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Line 56"/>
          <p:cNvSpPr>
            <a:spLocks noChangeShapeType="1"/>
          </p:cNvSpPr>
          <p:nvPr/>
        </p:nvSpPr>
        <p:spPr bwMode="blackWhite">
          <a:xfrm>
            <a:off x="5868144" y="1467028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Text Box 57"/>
          <p:cNvSpPr txBox="1">
            <a:spLocks noChangeArrowheads="1"/>
          </p:cNvSpPr>
          <p:nvPr/>
        </p:nvSpPr>
        <p:spPr bwMode="blackWhite">
          <a:xfrm>
            <a:off x="642290" y="1517181"/>
            <a:ext cx="543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시기</a:t>
            </a:r>
          </a:p>
        </p:txBody>
      </p:sp>
      <p:sp>
        <p:nvSpPr>
          <p:cNvPr id="12" name="Text Box 58"/>
          <p:cNvSpPr txBox="1">
            <a:spLocks noChangeArrowheads="1"/>
          </p:cNvSpPr>
          <p:nvPr/>
        </p:nvSpPr>
        <p:spPr bwMode="blackWhite">
          <a:xfrm>
            <a:off x="2995869" y="1517181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</a:t>
            </a:r>
            <a:r>
              <a:rPr kumimoji="0" lang="en-US" altLang="ko-KR" sz="1600" dirty="0">
                <a:solidFill>
                  <a:srgbClr val="0070C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Process</a:t>
            </a:r>
          </a:p>
        </p:txBody>
      </p:sp>
      <p:sp>
        <p:nvSpPr>
          <p:cNvPr id="13" name="Text Box 59"/>
          <p:cNvSpPr txBox="1">
            <a:spLocks noChangeArrowheads="1"/>
          </p:cNvSpPr>
          <p:nvPr/>
        </p:nvSpPr>
        <p:spPr bwMode="blackWhite">
          <a:xfrm>
            <a:off x="6679645" y="1506008"/>
            <a:ext cx="9028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제출서류</a:t>
            </a:r>
          </a:p>
        </p:txBody>
      </p:sp>
      <p:sp>
        <p:nvSpPr>
          <p:cNvPr id="14" name="Text Box 60"/>
          <p:cNvSpPr txBox="1">
            <a:spLocks noChangeArrowheads="1"/>
          </p:cNvSpPr>
          <p:nvPr/>
        </p:nvSpPr>
        <p:spPr bwMode="blackWhite">
          <a:xfrm>
            <a:off x="7865287" y="1517181"/>
            <a:ext cx="7232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제출처</a:t>
            </a:r>
          </a:p>
        </p:txBody>
      </p:sp>
      <p:sp>
        <p:nvSpPr>
          <p:cNvPr id="15" name="Text Box 63"/>
          <p:cNvSpPr txBox="1">
            <a:spLocks noChangeArrowheads="1"/>
          </p:cNvSpPr>
          <p:nvPr/>
        </p:nvSpPr>
        <p:spPr bwMode="blackWhite">
          <a:xfrm>
            <a:off x="561572" y="2870692"/>
            <a:ext cx="8435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10</a:t>
            </a:r>
            <a:r>
              <a:rPr kumimoji="0"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중</a:t>
            </a:r>
          </a:p>
        </p:txBody>
      </p:sp>
      <p:sp>
        <p:nvSpPr>
          <p:cNvPr id="18" name="Text Box 67"/>
          <p:cNvSpPr txBox="1">
            <a:spLocks noChangeArrowheads="1"/>
          </p:cNvSpPr>
          <p:nvPr/>
        </p:nvSpPr>
        <p:spPr bwMode="blackWhite">
          <a:xfrm>
            <a:off x="7844740" y="3224009"/>
            <a:ext cx="8130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지도교수</a:t>
            </a:r>
          </a:p>
        </p:txBody>
      </p:sp>
      <p:sp>
        <p:nvSpPr>
          <p:cNvPr id="29" name="Text Box 79"/>
          <p:cNvSpPr txBox="1">
            <a:spLocks noChangeArrowheads="1"/>
          </p:cNvSpPr>
          <p:nvPr/>
        </p:nvSpPr>
        <p:spPr bwMode="blackWhite">
          <a:xfrm>
            <a:off x="6129542" y="3789040"/>
            <a:ext cx="134844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종합설계계획서</a:t>
            </a:r>
            <a:endParaRPr kumimoji="0" lang="en-US" altLang="ko-KR" sz="130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lnSpc>
                <a:spcPts val="1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종합설계제안서</a:t>
            </a:r>
          </a:p>
        </p:txBody>
      </p:sp>
      <p:sp>
        <p:nvSpPr>
          <p:cNvPr id="30" name="Text Box 80"/>
          <p:cNvSpPr txBox="1">
            <a:spLocks noChangeArrowheads="1"/>
          </p:cNvSpPr>
          <p:nvPr/>
        </p:nvSpPr>
        <p:spPr bwMode="blackWhite">
          <a:xfrm>
            <a:off x="7992626" y="4952201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sp>
        <p:nvSpPr>
          <p:cNvPr id="31" name="Text Box 82"/>
          <p:cNvSpPr txBox="1">
            <a:spLocks noChangeArrowheads="1"/>
          </p:cNvSpPr>
          <p:nvPr/>
        </p:nvSpPr>
        <p:spPr bwMode="blackWhite">
          <a:xfrm>
            <a:off x="560413" y="4870159"/>
            <a:ext cx="8274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11</a:t>
            </a:r>
            <a:r>
              <a:rPr kumimoji="0"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</a:t>
            </a:r>
            <a:r>
              <a:rPr kumimoji="0"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0"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2195736" y="2394919"/>
            <a:ext cx="2735262" cy="3600450"/>
            <a:chOff x="2916238" y="2060575"/>
            <a:chExt cx="2735262" cy="3600450"/>
          </a:xfrm>
        </p:grpSpPr>
        <p:sp>
          <p:nvSpPr>
            <p:cNvPr id="16" name="AutoShape 64"/>
            <p:cNvSpPr>
              <a:spLocks noChangeArrowheads="1"/>
            </p:cNvSpPr>
            <p:nvPr/>
          </p:nvSpPr>
          <p:spPr bwMode="blackWhite">
            <a:xfrm>
              <a:off x="3059113" y="2060575"/>
              <a:ext cx="1655762" cy="4318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>
                  <a:solidFill>
                    <a:srgbClr val="FF0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종합설계 설명회</a:t>
              </a:r>
            </a:p>
          </p:txBody>
        </p:sp>
        <p:sp>
          <p:nvSpPr>
            <p:cNvPr id="17" name="Rectangle 65"/>
            <p:cNvSpPr>
              <a:spLocks noChangeArrowheads="1"/>
            </p:cNvSpPr>
            <p:nvPr/>
          </p:nvSpPr>
          <p:spPr bwMode="blackWhite">
            <a:xfrm>
              <a:off x="3059113" y="2781300"/>
              <a:ext cx="1657350" cy="43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계획서 </a:t>
              </a:r>
              <a:r>
                <a:rPr kumimoji="0" lang="en-US" altLang="ko-KR" sz="14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+ </a:t>
              </a:r>
              <a:r>
                <a:rPr kumimoji="0" lang="ko-KR" altLang="en-US" sz="1400" dirty="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발표자료</a:t>
              </a:r>
              <a:endParaRPr kumimoji="0" lang="en-US" altLang="ko-KR" sz="14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검토</a:t>
              </a:r>
            </a:p>
          </p:txBody>
        </p:sp>
        <p:cxnSp>
          <p:nvCxnSpPr>
            <p:cNvPr id="19" name="AutoShape 68"/>
            <p:cNvCxnSpPr>
              <a:cxnSpLocks noChangeShapeType="1"/>
              <a:stCxn id="16" idx="2"/>
              <a:endCxn id="17" idx="0"/>
            </p:cNvCxnSpPr>
            <p:nvPr/>
          </p:nvCxnSpPr>
          <p:spPr bwMode="blackWhite">
            <a:xfrm>
              <a:off x="3887788" y="2501900"/>
              <a:ext cx="0" cy="2698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AutoShape 69"/>
            <p:cNvSpPr>
              <a:spLocks noChangeArrowheads="1"/>
            </p:cNvSpPr>
            <p:nvPr/>
          </p:nvSpPr>
          <p:spPr bwMode="blackWhite">
            <a:xfrm>
              <a:off x="3205163" y="3429000"/>
              <a:ext cx="1295400" cy="576263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적합 </a:t>
              </a:r>
              <a:r>
                <a:rPr kumimoji="0" lang="en-US" altLang="ko-KR" sz="14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?</a:t>
              </a:r>
            </a:p>
          </p:txBody>
        </p:sp>
        <p:sp>
          <p:nvSpPr>
            <p:cNvPr id="21" name="Line 71"/>
            <p:cNvSpPr>
              <a:spLocks noChangeShapeType="1"/>
            </p:cNvSpPr>
            <p:nvPr/>
          </p:nvSpPr>
          <p:spPr bwMode="blackWhite">
            <a:xfrm>
              <a:off x="3851275" y="3213100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2" name="Line 72"/>
            <p:cNvSpPr>
              <a:spLocks noChangeShapeType="1"/>
            </p:cNvSpPr>
            <p:nvPr/>
          </p:nvSpPr>
          <p:spPr bwMode="blackWhite">
            <a:xfrm>
              <a:off x="4500563" y="3716338"/>
              <a:ext cx="1150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3" name="Line 73"/>
            <p:cNvSpPr>
              <a:spLocks noChangeShapeType="1"/>
            </p:cNvSpPr>
            <p:nvPr/>
          </p:nvSpPr>
          <p:spPr bwMode="blackWhite">
            <a:xfrm flipV="1">
              <a:off x="5651500" y="2997200"/>
              <a:ext cx="0" cy="7191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4" name="Line 74"/>
            <p:cNvSpPr>
              <a:spLocks noChangeShapeType="1"/>
            </p:cNvSpPr>
            <p:nvPr/>
          </p:nvSpPr>
          <p:spPr bwMode="blackWhite">
            <a:xfrm flipH="1">
              <a:off x="4716463" y="2997200"/>
              <a:ext cx="9350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5" name="Text Box 75"/>
            <p:cNvSpPr txBox="1">
              <a:spLocks noChangeArrowheads="1"/>
            </p:cNvSpPr>
            <p:nvPr/>
          </p:nvSpPr>
          <p:spPr bwMode="blackWhite">
            <a:xfrm>
              <a:off x="4754887" y="3446756"/>
              <a:ext cx="65594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아니오</a:t>
              </a:r>
            </a:p>
          </p:txBody>
        </p:sp>
        <p:sp>
          <p:nvSpPr>
            <p:cNvPr id="26" name="Text Box 76"/>
            <p:cNvSpPr txBox="1">
              <a:spLocks noChangeArrowheads="1"/>
            </p:cNvSpPr>
            <p:nvPr/>
          </p:nvSpPr>
          <p:spPr bwMode="blackWhite">
            <a:xfrm>
              <a:off x="3857779" y="4014754"/>
              <a:ext cx="34176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예</a:t>
              </a:r>
            </a:p>
          </p:txBody>
        </p:sp>
        <p:sp>
          <p:nvSpPr>
            <p:cNvPr id="27" name="Rectangle 77"/>
            <p:cNvSpPr>
              <a:spLocks noChangeArrowheads="1"/>
            </p:cNvSpPr>
            <p:nvPr/>
          </p:nvSpPr>
          <p:spPr bwMode="blackWhite">
            <a:xfrm>
              <a:off x="2916238" y="4365625"/>
              <a:ext cx="1800225" cy="6477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종합설계계획서</a:t>
              </a:r>
              <a:r>
                <a:rPr kumimoji="0" lang="en-US" altLang="ko-KR" sz="1400" dirty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,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종합설계제안서 제출</a:t>
              </a:r>
            </a:p>
          </p:txBody>
        </p:sp>
        <p:sp>
          <p:nvSpPr>
            <p:cNvPr id="28" name="Line 78"/>
            <p:cNvSpPr>
              <a:spLocks noChangeShapeType="1"/>
            </p:cNvSpPr>
            <p:nvPr/>
          </p:nvSpPr>
          <p:spPr bwMode="blackWhite">
            <a:xfrm>
              <a:off x="3851275" y="4005263"/>
              <a:ext cx="0" cy="360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blackWhite">
            <a:xfrm>
              <a:off x="3851275" y="5013325"/>
              <a:ext cx="0" cy="5762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3" name="Line 87"/>
            <p:cNvSpPr>
              <a:spLocks noChangeShapeType="1"/>
            </p:cNvSpPr>
            <p:nvPr/>
          </p:nvSpPr>
          <p:spPr bwMode="blackWhite">
            <a:xfrm>
              <a:off x="5651500" y="3716338"/>
              <a:ext cx="0" cy="1944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pic>
        <p:nvPicPr>
          <p:cNvPr id="36" name="그림 3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46924" y="1964507"/>
            <a:ext cx="1186370" cy="16982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4568" y="5376954"/>
            <a:ext cx="1521460" cy="850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84168" y="4471480"/>
            <a:ext cx="1548936" cy="84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7460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수행 절차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(2)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9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blackWhite">
          <a:xfrm>
            <a:off x="611188" y="1341438"/>
            <a:ext cx="8137525" cy="48958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ko-KR" altLang="en-US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blackWhite">
          <a:xfrm>
            <a:off x="611188" y="1773238"/>
            <a:ext cx="8137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blackWhite">
          <a:xfrm>
            <a:off x="1476375" y="1341438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blackWhite">
          <a:xfrm>
            <a:off x="7956550" y="1341438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blackWhite">
          <a:xfrm>
            <a:off x="5868144" y="1341438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blackWhite">
          <a:xfrm>
            <a:off x="741363" y="1391591"/>
            <a:ext cx="543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시기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blackWhite">
          <a:xfrm>
            <a:off x="3076037" y="1391884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</a:t>
            </a:r>
            <a:r>
              <a:rPr kumimoji="0" lang="en-US" altLang="ko-KR" sz="1600" dirty="0">
                <a:solidFill>
                  <a:srgbClr val="0070C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Process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blackWhite">
          <a:xfrm>
            <a:off x="6812489" y="1381419"/>
            <a:ext cx="9028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제출서류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blackWhite">
          <a:xfrm>
            <a:off x="7992062" y="1390297"/>
            <a:ext cx="7232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제출처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blackWhite">
          <a:xfrm>
            <a:off x="687279" y="2521764"/>
            <a:ext cx="8274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11</a:t>
            </a:r>
            <a:r>
              <a:rPr kumimoji="0"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말</a:t>
            </a:r>
            <a:endParaRPr kumimoji="0" lang="en-US" altLang="ko-KR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blackWhite">
          <a:xfrm>
            <a:off x="6228184" y="3732570"/>
            <a:ext cx="123303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시스템설계서</a:t>
            </a:r>
            <a:endParaRPr kumimoji="0" lang="en-US" altLang="ko-KR" sz="130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수행보고서</a:t>
            </a:r>
          </a:p>
        </p:txBody>
      </p:sp>
      <p:sp>
        <p:nvSpPr>
          <p:cNvPr id="17" name="Text Box 28"/>
          <p:cNvSpPr txBox="1">
            <a:spLocks noChangeArrowheads="1"/>
          </p:cNvSpPr>
          <p:nvPr/>
        </p:nvSpPr>
        <p:spPr bwMode="blackWhite">
          <a:xfrm>
            <a:off x="8115300" y="3802063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blackWhite">
          <a:xfrm>
            <a:off x="746223" y="4160113"/>
            <a:ext cx="7152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kumimoji="0"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초</a:t>
            </a:r>
            <a:endParaRPr kumimoji="0" lang="en-US" altLang="ko-KR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2267744" y="2133376"/>
            <a:ext cx="2735262" cy="3671888"/>
            <a:chOff x="2916238" y="1844675"/>
            <a:chExt cx="2735262" cy="3671888"/>
          </a:xfrm>
        </p:grpSpPr>
        <p:sp>
          <p:nvSpPr>
            <p:cNvPr id="19" name="Rectangle 31"/>
            <p:cNvSpPr>
              <a:spLocks noChangeArrowheads="1"/>
            </p:cNvSpPr>
            <p:nvPr/>
          </p:nvSpPr>
          <p:spPr bwMode="blackWhite">
            <a:xfrm>
              <a:off x="2916238" y="2060575"/>
              <a:ext cx="1800225" cy="6477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rgbClr val="FF0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종합설계 제안서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rgbClr val="FF0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발표</a:t>
              </a:r>
              <a:r>
                <a:rPr kumimoji="0" lang="en-US" altLang="ko-KR" sz="1400" dirty="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(1)</a:t>
              </a:r>
              <a:endParaRPr kumimoji="0"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0" name="Line 32"/>
            <p:cNvSpPr>
              <a:spLocks noChangeShapeType="1"/>
            </p:cNvSpPr>
            <p:nvPr/>
          </p:nvSpPr>
          <p:spPr bwMode="blackWhite">
            <a:xfrm>
              <a:off x="3851275" y="1844675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1" name="Line 33"/>
            <p:cNvSpPr>
              <a:spLocks noChangeShapeType="1"/>
            </p:cNvSpPr>
            <p:nvPr/>
          </p:nvSpPr>
          <p:spPr bwMode="blackWhite">
            <a:xfrm>
              <a:off x="3851275" y="2709863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2" name="AutoShape 35"/>
            <p:cNvSpPr>
              <a:spLocks noChangeArrowheads="1"/>
            </p:cNvSpPr>
            <p:nvPr/>
          </p:nvSpPr>
          <p:spPr bwMode="blackWhite">
            <a:xfrm>
              <a:off x="3205163" y="2925763"/>
              <a:ext cx="1295400" cy="576262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14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Pass ?</a:t>
              </a:r>
            </a:p>
          </p:txBody>
        </p:sp>
        <p:sp>
          <p:nvSpPr>
            <p:cNvPr id="23" name="Line 36"/>
            <p:cNvSpPr>
              <a:spLocks noChangeShapeType="1"/>
            </p:cNvSpPr>
            <p:nvPr/>
          </p:nvSpPr>
          <p:spPr bwMode="blackWhite">
            <a:xfrm>
              <a:off x="4500563" y="3213100"/>
              <a:ext cx="1150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4" name="Text Box 37"/>
            <p:cNvSpPr txBox="1">
              <a:spLocks noChangeArrowheads="1"/>
            </p:cNvSpPr>
            <p:nvPr/>
          </p:nvSpPr>
          <p:spPr bwMode="blackWhite">
            <a:xfrm>
              <a:off x="3872247" y="3473390"/>
              <a:ext cx="34176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예</a:t>
              </a:r>
            </a:p>
          </p:txBody>
        </p:sp>
        <p:sp>
          <p:nvSpPr>
            <p:cNvPr id="25" name="Rectangle 38"/>
            <p:cNvSpPr>
              <a:spLocks noChangeArrowheads="1"/>
            </p:cNvSpPr>
            <p:nvPr/>
          </p:nvSpPr>
          <p:spPr bwMode="blackWhite">
            <a:xfrm>
              <a:off x="2916238" y="3789363"/>
              <a:ext cx="1800225" cy="6477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rgbClr val="FF0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시스템 설계 및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 dirty="0">
                  <a:solidFill>
                    <a:srgbClr val="FF0000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기본기능구현 발표</a:t>
              </a:r>
              <a:r>
                <a:rPr kumimoji="0" lang="en-US" altLang="ko-KR" sz="1400" dirty="0">
                  <a:solidFill>
                    <a:srgbClr val="FF00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(2)</a:t>
              </a:r>
              <a:endParaRPr kumimoji="0"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26" name="Line 39"/>
            <p:cNvSpPr>
              <a:spLocks noChangeShapeType="1"/>
            </p:cNvSpPr>
            <p:nvPr/>
          </p:nvSpPr>
          <p:spPr bwMode="blackWhite">
            <a:xfrm>
              <a:off x="3851275" y="3502025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7" name="Line 41"/>
            <p:cNvSpPr>
              <a:spLocks noChangeShapeType="1"/>
            </p:cNvSpPr>
            <p:nvPr/>
          </p:nvSpPr>
          <p:spPr bwMode="blackWhite">
            <a:xfrm>
              <a:off x="5651500" y="1989138"/>
              <a:ext cx="0" cy="1223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 Box 42"/>
            <p:cNvSpPr txBox="1">
              <a:spLocks noChangeArrowheads="1"/>
            </p:cNvSpPr>
            <p:nvPr/>
          </p:nvSpPr>
          <p:spPr bwMode="blackWhite">
            <a:xfrm>
              <a:off x="4767728" y="2939822"/>
              <a:ext cx="65594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아니오</a:t>
              </a:r>
            </a:p>
          </p:txBody>
        </p:sp>
        <p:sp>
          <p:nvSpPr>
            <p:cNvPr id="29" name="Line 43"/>
            <p:cNvSpPr>
              <a:spLocks noChangeShapeType="1"/>
            </p:cNvSpPr>
            <p:nvPr/>
          </p:nvSpPr>
          <p:spPr bwMode="blackWhite">
            <a:xfrm>
              <a:off x="3849688" y="4421188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0" name="AutoShape 44"/>
            <p:cNvSpPr>
              <a:spLocks noChangeArrowheads="1"/>
            </p:cNvSpPr>
            <p:nvPr/>
          </p:nvSpPr>
          <p:spPr bwMode="blackWhite">
            <a:xfrm>
              <a:off x="3203575" y="4637088"/>
              <a:ext cx="1295400" cy="576262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1400" dirty="0"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Pass ?</a:t>
              </a:r>
            </a:p>
          </p:txBody>
        </p:sp>
        <p:sp>
          <p:nvSpPr>
            <p:cNvPr id="31" name="Line 45"/>
            <p:cNvSpPr>
              <a:spLocks noChangeShapeType="1"/>
            </p:cNvSpPr>
            <p:nvPr/>
          </p:nvSpPr>
          <p:spPr bwMode="blackWhite">
            <a:xfrm>
              <a:off x="4498975" y="4924425"/>
              <a:ext cx="11509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2" name="Text Box 46"/>
            <p:cNvSpPr txBox="1">
              <a:spLocks noChangeArrowheads="1"/>
            </p:cNvSpPr>
            <p:nvPr/>
          </p:nvSpPr>
          <p:spPr bwMode="blackWhite">
            <a:xfrm>
              <a:off x="3870660" y="5184715"/>
              <a:ext cx="34176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예</a:t>
              </a:r>
            </a:p>
          </p:txBody>
        </p:sp>
        <p:sp>
          <p:nvSpPr>
            <p:cNvPr id="33" name="Text Box 47"/>
            <p:cNvSpPr txBox="1">
              <a:spLocks noChangeArrowheads="1"/>
            </p:cNvSpPr>
            <p:nvPr/>
          </p:nvSpPr>
          <p:spPr bwMode="blackWhite">
            <a:xfrm>
              <a:off x="4766140" y="4651147"/>
              <a:ext cx="65594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D7DB2"/>
                </a:buClr>
                <a:buSzPct val="75000"/>
                <a:buFont typeface="Monotype Sorts" pitchFamily="2" charset="2"/>
                <a:buChar char="v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1pPr>
              <a:lvl2pPr marL="742950" indent="-285750">
                <a:spcBef>
                  <a:spcPct val="20000"/>
                </a:spcBef>
                <a:buClr>
                  <a:srgbClr val="3939AB"/>
                </a:buClr>
                <a:buSzPct val="60000"/>
                <a:buFont typeface="Monotype Sorts" pitchFamily="2" charset="2"/>
                <a:buChar char="n"/>
                <a:defRPr kumimoji="1" sz="20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5671BB"/>
                </a:buClr>
                <a:buSzPct val="60000"/>
                <a:buFont typeface="Monotype Sorts" pitchFamily="2" charset="2"/>
                <a:buChar char="u"/>
                <a:defRPr kumimoji="1" sz="2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3pPr>
              <a:lvl4pPr marL="1600200" indent="-228600">
                <a:spcBef>
                  <a:spcPct val="20000"/>
                </a:spcBef>
                <a:buClr>
                  <a:srgbClr val="5797A8"/>
                </a:buClr>
                <a:buSzPct val="60000"/>
                <a:buFont typeface="Monotype Sorts" pitchFamily="2" charset="2"/>
                <a:buChar char="l"/>
                <a:defRPr kumimoji="1" sz="16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4pPr>
              <a:lvl5pPr marL="2057400" indent="-228600">
                <a:spcBef>
                  <a:spcPct val="20000"/>
                </a:spcBef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6666"/>
                </a:buClr>
                <a:buSzPct val="50000"/>
                <a:buFont typeface="Monotype Sorts" pitchFamily="2" charset="2"/>
                <a:buChar char="U"/>
                <a:defRPr kumimoji="1" sz="1400">
                  <a:solidFill>
                    <a:srgbClr val="1C1C54"/>
                  </a:solidFill>
                  <a:latin typeface="Tahoma" panose="020B0604030504040204" pitchFamily="34" charset="0"/>
                  <a:ea typeface="굴림체" panose="020B0609000101010101" pitchFamily="49" charset="-127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ko-KR" altLang="en-US" sz="1400"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아니오</a:t>
              </a: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blackWhite">
            <a:xfrm flipV="1">
              <a:off x="5651500" y="4076700"/>
              <a:ext cx="0" cy="8651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blackWhite">
            <a:xfrm flipH="1">
              <a:off x="4716463" y="4076700"/>
              <a:ext cx="9350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blackWhite">
            <a:xfrm>
              <a:off x="3851275" y="5229225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pic>
        <p:nvPicPr>
          <p:cNvPr id="38" name="그림 3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62704" y="4287161"/>
            <a:ext cx="1541800" cy="8998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0195" y="5286626"/>
            <a:ext cx="1534645" cy="8788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66754" y="2788495"/>
            <a:ext cx="1531274" cy="8559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156176" y="1844824"/>
            <a:ext cx="1558927" cy="84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3397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수행 절차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(3)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10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blackWhite">
          <a:xfrm>
            <a:off x="502444" y="1412776"/>
            <a:ext cx="8137525" cy="48958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ko-KR" altLang="en-US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blackWhite">
          <a:xfrm>
            <a:off x="502444" y="1844576"/>
            <a:ext cx="8137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blackWhite">
          <a:xfrm>
            <a:off x="1367631" y="1412776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blackWhite">
          <a:xfrm>
            <a:off x="7847806" y="1412776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blackWhite">
          <a:xfrm>
            <a:off x="5868144" y="1412776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blackWhite">
          <a:xfrm>
            <a:off x="641497" y="1462929"/>
            <a:ext cx="543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시기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blackWhite">
          <a:xfrm>
            <a:off x="3029400" y="1463222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</a:t>
            </a:r>
            <a:r>
              <a:rPr kumimoji="0" lang="en-US" altLang="ko-KR" sz="1600" dirty="0">
                <a:solidFill>
                  <a:srgbClr val="0070C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Process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blackWhite">
          <a:xfrm>
            <a:off x="6721502" y="1461635"/>
            <a:ext cx="9028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제출서류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blackWhite">
          <a:xfrm>
            <a:off x="7883318" y="1461635"/>
            <a:ext cx="7232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제출처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blackWhite">
          <a:xfrm>
            <a:off x="628874" y="2604776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kumimoji="0"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말</a:t>
            </a:r>
            <a:endParaRPr kumimoji="0" lang="en-US" altLang="ko-KR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blackWhite">
          <a:xfrm>
            <a:off x="6261522" y="2204864"/>
            <a:ext cx="108715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세부설계서</a:t>
            </a:r>
            <a:endParaRPr kumimoji="0" lang="en-US" altLang="ko-KR" sz="130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수행보고서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blackWhite">
          <a:xfrm>
            <a:off x="7996010" y="2601400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blackWhite">
          <a:xfrm>
            <a:off x="628874" y="4298637"/>
            <a:ext cx="7152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r>
              <a:rPr kumimoji="0"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 말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blackWhite">
          <a:xfrm>
            <a:off x="2339752" y="2421284"/>
            <a:ext cx="1800225" cy="6477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</a:t>
            </a:r>
            <a:r>
              <a:rPr kumimoji="0"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kumimoji="0"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차</a:t>
            </a: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kumimoji="0" lang="en-US" altLang="ko-KR" sz="1400" dirty="0"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데모</a:t>
            </a:r>
            <a:r>
              <a:rPr kumimoji="0" lang="en-US" altLang="ko-KR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발표</a:t>
            </a:r>
            <a:r>
              <a:rPr kumimoji="0"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(3)</a:t>
            </a:r>
            <a:endParaRPr kumimoji="0" lang="ko-KR" altLang="en-US" sz="1400" dirty="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blackWhite">
          <a:xfrm>
            <a:off x="3274789" y="2205384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blackWhite">
          <a:xfrm>
            <a:off x="3274789" y="3070572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AutoShape 19"/>
          <p:cNvSpPr>
            <a:spLocks noChangeArrowheads="1"/>
          </p:cNvSpPr>
          <p:nvPr/>
        </p:nvSpPr>
        <p:spPr bwMode="blackWhite">
          <a:xfrm>
            <a:off x="2628677" y="3286472"/>
            <a:ext cx="1295400" cy="576262"/>
          </a:xfrm>
          <a:prstGeom prst="diamond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Pass ?</a:t>
            </a: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blackWhite">
          <a:xfrm>
            <a:off x="3924077" y="3573809"/>
            <a:ext cx="115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blackWhite">
          <a:xfrm>
            <a:off x="3287123" y="3825221"/>
            <a:ext cx="3417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예</a:t>
            </a: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blackWhite">
          <a:xfrm>
            <a:off x="2339752" y="4150072"/>
            <a:ext cx="1800225" cy="6477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</a:t>
            </a:r>
            <a:r>
              <a:rPr kumimoji="0"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kumimoji="0"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차</a:t>
            </a: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kumimoji="0" lang="en-US" altLang="ko-KR" sz="1400" dirty="0"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데모 발표</a:t>
            </a:r>
            <a:r>
              <a:rPr kumimoji="0"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(4)</a:t>
            </a:r>
            <a:endParaRPr kumimoji="0" lang="ko-KR" altLang="en-US" sz="1400" dirty="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blackWhite">
          <a:xfrm>
            <a:off x="3274789" y="3862734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blackWhite">
          <a:xfrm>
            <a:off x="4240397" y="3283445"/>
            <a:ext cx="6559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아니오</a:t>
            </a: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blackWhite">
          <a:xfrm>
            <a:off x="3273202" y="4781897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AutoShape 27"/>
          <p:cNvSpPr>
            <a:spLocks noChangeArrowheads="1"/>
          </p:cNvSpPr>
          <p:nvPr/>
        </p:nvSpPr>
        <p:spPr bwMode="blackWhite">
          <a:xfrm>
            <a:off x="2627089" y="4997797"/>
            <a:ext cx="1295400" cy="576262"/>
          </a:xfrm>
          <a:prstGeom prst="diamond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Pass ?</a:t>
            </a: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blackWhite">
          <a:xfrm>
            <a:off x="3922489" y="5285134"/>
            <a:ext cx="11509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blackWhite">
          <a:xfrm>
            <a:off x="3285536" y="5536546"/>
            <a:ext cx="3417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예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blackWhite">
          <a:xfrm>
            <a:off x="4238809" y="4994770"/>
            <a:ext cx="6559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아니오</a:t>
            </a: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blackWhite">
          <a:xfrm flipV="1">
            <a:off x="5075014" y="4437409"/>
            <a:ext cx="0" cy="865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blackWhite">
          <a:xfrm flipH="1">
            <a:off x="4139977" y="4437409"/>
            <a:ext cx="9350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blackWhite">
          <a:xfrm>
            <a:off x="3274789" y="5589934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blackWhite">
          <a:xfrm flipV="1">
            <a:off x="5076602" y="2708622"/>
            <a:ext cx="0" cy="865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7" name="Line 36"/>
          <p:cNvSpPr>
            <a:spLocks noChangeShapeType="1"/>
          </p:cNvSpPr>
          <p:nvPr/>
        </p:nvSpPr>
        <p:spPr bwMode="blackWhite">
          <a:xfrm flipH="1">
            <a:off x="4141564" y="2708622"/>
            <a:ext cx="9350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blackWhite">
          <a:xfrm>
            <a:off x="6228184" y="5312821"/>
            <a:ext cx="120967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시제품 데모</a:t>
            </a:r>
            <a:endParaRPr kumimoji="0" lang="en-US" altLang="ko-KR" sz="130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수행보고서</a:t>
            </a:r>
            <a:endParaRPr kumimoji="0" lang="en-US" altLang="ko-KR" sz="130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blackWhite">
          <a:xfrm>
            <a:off x="8008710" y="5168225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52295" y="3018241"/>
            <a:ext cx="1597947" cy="9325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37689" y="4039412"/>
            <a:ext cx="1621777" cy="9287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460829" y="6309170"/>
            <a:ext cx="28520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</a:t>
            </a:r>
            <a:r>
              <a:rPr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 초 </a:t>
            </a:r>
            <a:r>
              <a:rPr lang="en-US" altLang="ko-KR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이력서</a:t>
            </a:r>
            <a:r>
              <a:rPr lang="en-US" altLang="ko-KR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자기소개서 제출 </a:t>
            </a:r>
            <a:endParaRPr lang="en-US" altLang="ko-KR" sz="1400" dirty="0"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3932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수행 절차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(4)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11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blackWhite">
          <a:xfrm>
            <a:off x="503237" y="1412776"/>
            <a:ext cx="8137525" cy="48958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ko-KR" altLang="en-US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blackWhite">
          <a:xfrm>
            <a:off x="503237" y="1844576"/>
            <a:ext cx="81375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blackWhite">
          <a:xfrm>
            <a:off x="1368424" y="1412776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blackWhite">
          <a:xfrm>
            <a:off x="7848599" y="1412776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blackWhite">
          <a:xfrm>
            <a:off x="6300192" y="1412776"/>
            <a:ext cx="0" cy="489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blackWhite">
          <a:xfrm>
            <a:off x="668924" y="1480685"/>
            <a:ext cx="543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시기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blackWhite">
          <a:xfrm>
            <a:off x="3059832" y="1463222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</a:t>
            </a:r>
            <a:r>
              <a:rPr kumimoji="0" lang="en-US" altLang="ko-KR" sz="1600" dirty="0">
                <a:solidFill>
                  <a:srgbClr val="0070C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Process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blackWhite">
          <a:xfrm>
            <a:off x="6660149" y="1461635"/>
            <a:ext cx="9028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제출서류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blackWhite">
          <a:xfrm>
            <a:off x="7884111" y="1461635"/>
            <a:ext cx="7232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제출처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blackWhite">
          <a:xfrm>
            <a:off x="620947" y="241386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9</a:t>
            </a:r>
            <a:r>
              <a:rPr kumimoji="0" lang="ko-KR" altLang="en-US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월 초</a:t>
            </a:r>
            <a:endParaRPr kumimoji="0" lang="en-US" altLang="ko-KR" sz="1400" dirty="0"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blackWhite">
          <a:xfrm>
            <a:off x="6349461" y="1960464"/>
            <a:ext cx="1449870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최종</a:t>
            </a:r>
            <a:r>
              <a:rPr kumimoji="0" lang="en-US" altLang="ko-KR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0" lang="ko-KR" altLang="en-US" sz="1300" dirty="0" err="1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작품설명서</a:t>
            </a:r>
            <a:endParaRPr kumimoji="0" lang="en-US" altLang="ko-KR" sz="13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졸업논문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blackWhite">
          <a:xfrm>
            <a:off x="8010818" y="2041103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blackWhite">
          <a:xfrm>
            <a:off x="620947" y="4201392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9</a:t>
            </a:r>
            <a:r>
              <a:rPr kumimoji="0" lang="ko-KR" altLang="en-US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월 말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blackWhite">
          <a:xfrm>
            <a:off x="1980159" y="2276748"/>
            <a:ext cx="1800225" cy="6477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데모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발표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blackWhite">
          <a:xfrm>
            <a:off x="2915196" y="2060848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blackWhite">
          <a:xfrm>
            <a:off x="2915196" y="2926036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AutoShape 19"/>
          <p:cNvSpPr>
            <a:spLocks noChangeArrowheads="1"/>
          </p:cNvSpPr>
          <p:nvPr/>
        </p:nvSpPr>
        <p:spPr bwMode="blackWhite">
          <a:xfrm>
            <a:off x="2269084" y="3141936"/>
            <a:ext cx="1295400" cy="576262"/>
          </a:xfrm>
          <a:prstGeom prst="diamond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Pass ?</a:t>
            </a: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blackWhite">
          <a:xfrm>
            <a:off x="3564484" y="3429273"/>
            <a:ext cx="115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blackWhite">
          <a:xfrm>
            <a:off x="2915812" y="3698106"/>
            <a:ext cx="3417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예</a:t>
            </a: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blackWhite">
          <a:xfrm>
            <a:off x="1654064" y="4005536"/>
            <a:ext cx="2269195" cy="6477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rgbClr val="FF0000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한국공학대전 및 학부 전시</a:t>
            </a:r>
            <a:r>
              <a:rPr kumimoji="0" lang="en-US" altLang="ko-KR" sz="1400" dirty="0">
                <a:solidFill>
                  <a:schemeClr val="tx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: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chemeClr val="tx1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작품 전시 및 평가</a:t>
            </a: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blackWhite">
          <a:xfrm>
            <a:off x="2915196" y="3718198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blackWhite">
          <a:xfrm>
            <a:off x="3799125" y="3130920"/>
            <a:ext cx="6559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아니오</a:t>
            </a:r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blackWhite">
          <a:xfrm>
            <a:off x="2913609" y="4637361"/>
            <a:ext cx="1587" cy="447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Line 33"/>
          <p:cNvSpPr>
            <a:spLocks noChangeShapeType="1"/>
          </p:cNvSpPr>
          <p:nvPr/>
        </p:nvSpPr>
        <p:spPr bwMode="blackWhite">
          <a:xfrm flipV="1">
            <a:off x="4717009" y="2564086"/>
            <a:ext cx="0" cy="865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Line 34"/>
          <p:cNvSpPr>
            <a:spLocks noChangeShapeType="1"/>
          </p:cNvSpPr>
          <p:nvPr/>
        </p:nvSpPr>
        <p:spPr bwMode="blackWhite">
          <a:xfrm flipH="1">
            <a:off x="3781971" y="2564086"/>
            <a:ext cx="9350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Text Box 35"/>
          <p:cNvSpPr txBox="1">
            <a:spLocks noChangeArrowheads="1"/>
          </p:cNvSpPr>
          <p:nvPr/>
        </p:nvSpPr>
        <p:spPr bwMode="blackWhite">
          <a:xfrm>
            <a:off x="6328525" y="2924944"/>
            <a:ext cx="15555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kumimoji="0" lang="ko-KR" altLang="en-US" sz="1300" dirty="0" err="1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작품설명서</a:t>
            </a:r>
            <a:r>
              <a:rPr kumimoji="0" lang="ko-KR" altLang="en-US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판넬</a:t>
            </a:r>
            <a:endParaRPr kumimoji="0" lang="en-US" altLang="ko-KR" sz="13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졸업논문</a:t>
            </a:r>
          </a:p>
        </p:txBody>
      </p:sp>
      <p:sp>
        <p:nvSpPr>
          <p:cNvPr id="32" name="Text Box 36"/>
          <p:cNvSpPr txBox="1">
            <a:spLocks noChangeArrowheads="1"/>
          </p:cNvSpPr>
          <p:nvPr/>
        </p:nvSpPr>
        <p:spPr bwMode="blackWhite">
          <a:xfrm>
            <a:off x="7993062" y="3418133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sp>
        <p:nvSpPr>
          <p:cNvPr id="33" name="Rectangle 37"/>
          <p:cNvSpPr>
            <a:spLocks noChangeArrowheads="1"/>
          </p:cNvSpPr>
          <p:nvPr/>
        </p:nvSpPr>
        <p:spPr bwMode="blackWhite">
          <a:xfrm>
            <a:off x="1835696" y="5085036"/>
            <a:ext cx="2087563" cy="6477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개인별 졸업연구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평가서 및 소스파일 제출</a:t>
            </a:r>
          </a:p>
        </p:txBody>
      </p:sp>
      <p:sp>
        <p:nvSpPr>
          <p:cNvPr id="34" name="Text Box 38"/>
          <p:cNvSpPr txBox="1">
            <a:spLocks noChangeArrowheads="1"/>
          </p:cNvSpPr>
          <p:nvPr/>
        </p:nvSpPr>
        <p:spPr bwMode="blackWhite">
          <a:xfrm>
            <a:off x="540456" y="5281463"/>
            <a:ext cx="8435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10</a:t>
            </a:r>
            <a:r>
              <a:rPr kumimoji="0" lang="ko-KR" altLang="en-US" sz="14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월 말</a:t>
            </a:r>
          </a:p>
        </p:txBody>
      </p:sp>
      <p:sp>
        <p:nvSpPr>
          <p:cNvPr id="35" name="Text Box 39"/>
          <p:cNvSpPr txBox="1">
            <a:spLocks noChangeArrowheads="1"/>
          </p:cNvSpPr>
          <p:nvPr/>
        </p:nvSpPr>
        <p:spPr bwMode="blackWhite">
          <a:xfrm>
            <a:off x="6314205" y="5263034"/>
            <a:ext cx="1499139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marL="171450" indent="-171450"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개인별 종합설계</a:t>
            </a:r>
            <a:endParaRPr kumimoji="0" lang="en-US" altLang="ko-KR" sz="13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0" lang="ko-KR" altLang="en-US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평가서</a:t>
            </a:r>
            <a:endParaRPr kumimoji="0" lang="en-US" altLang="ko-KR" sz="13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kumimoji="0" lang="ko-KR" altLang="en-US" sz="13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작품 소스파일</a:t>
            </a:r>
          </a:p>
        </p:txBody>
      </p:sp>
      <p:sp>
        <p:nvSpPr>
          <p:cNvPr id="36" name="Text Box 40"/>
          <p:cNvSpPr txBox="1">
            <a:spLocks noChangeArrowheads="1"/>
          </p:cNvSpPr>
          <p:nvPr/>
        </p:nvSpPr>
        <p:spPr bwMode="blackWhite">
          <a:xfrm>
            <a:off x="7984184" y="5276564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blackWhite">
          <a:xfrm>
            <a:off x="7984184" y="5678020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pic>
        <p:nvPicPr>
          <p:cNvPr id="1025" name="_x194847720" descr="EMB0000543068d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391" y="3789890"/>
            <a:ext cx="2097391" cy="129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 Box 36"/>
          <p:cNvSpPr txBox="1">
            <a:spLocks noChangeArrowheads="1"/>
          </p:cNvSpPr>
          <p:nvPr/>
        </p:nvSpPr>
        <p:spPr bwMode="blackWhite">
          <a:xfrm>
            <a:off x="8001750" y="3670653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83595" y="1945722"/>
            <a:ext cx="1229187" cy="15423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07806" y="3599828"/>
            <a:ext cx="1133180" cy="14807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3" name="Text Box 14"/>
          <p:cNvSpPr txBox="1">
            <a:spLocks noChangeArrowheads="1"/>
          </p:cNvSpPr>
          <p:nvPr/>
        </p:nvSpPr>
        <p:spPr bwMode="blackWhite">
          <a:xfrm>
            <a:off x="8025772" y="2272258"/>
            <a:ext cx="49885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4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학부</a:t>
            </a:r>
          </a:p>
        </p:txBody>
      </p:sp>
    </p:spTree>
    <p:extLst>
      <p:ext uri="{BB962C8B-B14F-4D97-AF65-F5344CB8AC3E}">
        <p14:creationId xmlns:p14="http://schemas.microsoft.com/office/powerpoint/2010/main" val="32385279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i="0"/>
              <a:t>종합설계 주제 선정</a:t>
            </a:r>
          </a:p>
        </p:txBody>
      </p:sp>
      <p:sp>
        <p:nvSpPr>
          <p:cNvPr id="1536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3F200CA-FEB7-44A8-BBCD-14C857EB2845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12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7" name="다이어그램 6"/>
          <p:cNvGraphicFramePr/>
          <p:nvPr>
            <p:extLst>
              <p:ext uri="{D42A27DB-BD31-4B8C-83A1-F6EECF244321}">
                <p14:modId xmlns:p14="http://schemas.microsoft.com/office/powerpoint/2010/main" val="3201420013"/>
              </p:ext>
            </p:extLst>
          </p:nvPr>
        </p:nvGraphicFramePr>
        <p:xfrm>
          <a:off x="1524000" y="1463030"/>
          <a:ext cx="6096000" cy="3571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1043608" y="5661248"/>
            <a:ext cx="7056784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r>
              <a:rPr lang="ko-KR" altLang="en-US" sz="2000" dirty="0">
                <a:solidFill>
                  <a:schemeClr val="accent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시장성 대신 사회적 파급 효과도 가능</a:t>
            </a:r>
          </a:p>
          <a:p>
            <a:pPr lvl="1"/>
            <a:r>
              <a:rPr lang="ko-KR" altLang="en-US" sz="1700" dirty="0">
                <a:solidFill>
                  <a:srgbClr val="CC0099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예를 들면 장애인을 위한 작품</a:t>
            </a:r>
            <a:r>
              <a:rPr lang="en-US" altLang="ko-KR" sz="1700" dirty="0">
                <a:solidFill>
                  <a:srgbClr val="CC0099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, </a:t>
            </a:r>
            <a:r>
              <a:rPr lang="ko-KR" altLang="en-US" sz="1700" dirty="0">
                <a:solidFill>
                  <a:srgbClr val="CC0099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사회적 </a:t>
            </a:r>
            <a:r>
              <a:rPr lang="ko-KR" altLang="en-US" sz="1700" dirty="0" err="1">
                <a:solidFill>
                  <a:srgbClr val="CC0099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소외자를</a:t>
            </a:r>
            <a:r>
              <a:rPr lang="ko-KR" altLang="en-US" sz="1700" dirty="0">
                <a:solidFill>
                  <a:srgbClr val="CC0099"/>
                </a:solidFill>
                <a:latin typeface="HY궁서B" panose="02030600000101010101" pitchFamily="18" charset="-127"/>
                <a:ea typeface="HY궁서B" panose="02030600000101010101" pitchFamily="18" charset="-127"/>
              </a:rPr>
              <a:t> 위한 작품 등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i="0" dirty="0"/>
              <a:t>종합설계 주제 선정 범위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112544"/>
          </a:xfrm>
        </p:spPr>
        <p:txBody>
          <a:bodyPr/>
          <a:lstStyle/>
          <a:p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주제의 범위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: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컴퓨터공학부 교과과정 전반적인 내용을 종합적으로 반영하여 구현한 시스템으로 정의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1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인공지능 관련 주제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:</a:t>
            </a:r>
          </a:p>
          <a:p>
            <a:pPr lvl="2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학습용 </a:t>
            </a:r>
            <a:r>
              <a:rPr lang="ko-KR" altLang="en-US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데이터셋의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 독창성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2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알고리즘 </a:t>
            </a:r>
            <a:r>
              <a:rPr lang="en-US" altLang="ko-KR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v.s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.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차용 알고리즘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2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기존 알고리즘의 새로운 영역에 적용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1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데이터 과학 분야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:</a:t>
            </a:r>
          </a:p>
          <a:p>
            <a:pPr lvl="2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데이터 분석 과정의 단계별 정리 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3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문제정의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;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데이터 수집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;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데이터 다듬기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;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데이터 분석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;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시각화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;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제시문 작성</a:t>
            </a:r>
          </a:p>
          <a:p>
            <a:pPr lvl="1"/>
            <a:r>
              <a:rPr lang="ko-KR" altLang="en-US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프론트엔드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백엔드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네트워크의 요소를 반영한 </a:t>
            </a:r>
            <a:r>
              <a:rPr lang="ko-KR" altLang="en-US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종합시스템</a:t>
            </a:r>
            <a:endParaRPr lang="ko-KR" altLang="en-US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1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단순 스마트폰 앱 개발은 배제</a:t>
            </a:r>
          </a:p>
          <a:p>
            <a:pPr lvl="1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게임 개발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lvl="2"/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게임 시나리오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캐릭터  디자인의 내용을 발표하고 이에 대한 부가적인 서류 제출</a:t>
            </a:r>
          </a:p>
          <a:p>
            <a:pPr lvl="1"/>
            <a:endParaRPr lang="ko-KR" altLang="en-US" dirty="0"/>
          </a:p>
        </p:txBody>
      </p:sp>
      <p:sp>
        <p:nvSpPr>
          <p:cNvPr id="1536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3F200CA-FEB7-44A8-BBCD-14C857EB2845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13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447601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i="0" dirty="0"/>
              <a:t>종합설계 문서 예</a:t>
            </a:r>
            <a:r>
              <a:rPr lang="en-US" altLang="ko-KR" i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i="0" dirty="0"/>
              <a:t>계획서</a:t>
            </a:r>
            <a:r>
              <a:rPr lang="en-US" altLang="ko-KR" i="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i="0" dirty="0" err="1"/>
              <a:t>작품설명서</a:t>
            </a:r>
            <a:r>
              <a:rPr lang="ko-KR" altLang="en-US" i="0" dirty="0"/>
              <a:t> </a:t>
            </a:r>
            <a:r>
              <a:rPr lang="en-US" altLang="ko-KR" i="0" dirty="0">
                <a:latin typeface="HY견고딕" panose="02030600000101010101" pitchFamily="18" charset="-127"/>
                <a:ea typeface="HY견고딕" panose="02030600000101010101" pitchFamily="18" charset="-127"/>
              </a:rPr>
              <a:t>- (1)</a:t>
            </a:r>
            <a:endParaRPr lang="ko-KR" altLang="en-US" i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38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DABF2690-C8A4-4949-A7C0-6C2468D23BA6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14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16388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37381"/>
            <a:ext cx="7577137" cy="5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i="0" dirty="0"/>
              <a:t>종합설계 문서 예</a:t>
            </a:r>
            <a:r>
              <a:rPr lang="en-US" altLang="ko-KR" i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i="0" dirty="0"/>
              <a:t>논문 </a:t>
            </a:r>
            <a:r>
              <a:rPr lang="en-US" altLang="ko-KR" i="0" dirty="0">
                <a:latin typeface="HY견고딕" panose="02030600000101010101" pitchFamily="18" charset="-127"/>
                <a:ea typeface="HY견고딕" panose="02030600000101010101" pitchFamily="18" charset="-127"/>
              </a:rPr>
              <a:t>- (2)</a:t>
            </a:r>
            <a:endParaRPr lang="ko-KR" altLang="en-US" i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41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2434D866-8A79-4D56-994A-2BC950112C95}" type="slidenum">
              <a:rPr kumimoji="0" lang="en-GB" altLang="ko-KR" sz="1400" smtClean="0">
                <a:solidFill>
                  <a:schemeClr val="tx1"/>
                </a:solidFill>
                <a:ea typeface="굴림" panose="020B0600000101010101" pitchFamily="50" charset="-127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15</a:t>
            </a:fld>
            <a:endParaRPr kumimoji="0" lang="en-GB" altLang="ko-KR" sz="140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17412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887" y="1178644"/>
            <a:ext cx="3832225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규정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(1)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indent="-255588" eaLnBrk="1" hangingPunct="1">
              <a:lnSpc>
                <a:spcPct val="90000"/>
              </a:lnSpc>
            </a:pP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종합설계 수행 자격</a:t>
            </a:r>
          </a:p>
          <a:p>
            <a:pPr marL="620713" lvl="1" indent="-228600" eaLnBrk="1" hangingPunct="1">
              <a:lnSpc>
                <a:spcPct val="90000"/>
              </a:lnSpc>
            </a:pPr>
            <a:r>
              <a:rPr lang="en-US" altLang="ko-KR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학년 </a:t>
            </a:r>
            <a:r>
              <a:rPr lang="en-US" altLang="ko-KR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학기를 마치거나</a:t>
            </a:r>
            <a:r>
              <a:rPr lang="en-US" altLang="ko-KR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 중인 학생으로</a:t>
            </a:r>
            <a:r>
              <a:rPr lang="en-US" altLang="ko-KR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,</a:t>
            </a:r>
          </a:p>
          <a:p>
            <a:pPr marL="620713" lvl="1" indent="-228600" eaLnBrk="1" hangingPunct="1">
              <a:lnSpc>
                <a:spcPct val="90000"/>
              </a:lnSpc>
            </a:pPr>
            <a:r>
              <a:rPr lang="ko-KR" altLang="en-US" sz="17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전공 지도교수 배정이 된 학생으로</a:t>
            </a:r>
            <a:r>
              <a:rPr lang="en-US" altLang="ko-KR" sz="17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</a:t>
            </a:r>
          </a:p>
          <a:p>
            <a:pPr marL="620713" lvl="1" indent="-228600" eaLnBrk="1" hangingPunct="1">
              <a:lnSpc>
                <a:spcPct val="90000"/>
              </a:lnSpc>
            </a:pPr>
            <a:r>
              <a:rPr lang="ko-KR" altLang="en-US" sz="17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종합설계기획 교과를 이수한 학생을 원칙으로 함</a:t>
            </a:r>
          </a:p>
          <a:p>
            <a:pPr marL="620713" lvl="1" indent="-228600" eaLnBrk="1" hangingPunct="1">
              <a:lnSpc>
                <a:spcPct val="90000"/>
              </a:lnSpc>
            </a:pPr>
            <a:endParaRPr lang="en-US" altLang="ko-KR" sz="18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종합설계 팀 구성</a:t>
            </a:r>
            <a:endParaRPr lang="en-US" altLang="ko-KR" sz="20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endParaRPr lang="ko-KR" altLang="en-US" sz="4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lnSpc>
                <a:spcPct val="90000"/>
              </a:lnSpc>
            </a:pP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팀 구성원 </a:t>
            </a:r>
            <a:r>
              <a:rPr lang="en-US" altLang="ko-KR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: </a:t>
            </a:r>
            <a:r>
              <a:rPr lang="en-US" altLang="ko-KR" sz="17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2~4</a:t>
            </a:r>
            <a:r>
              <a:rPr lang="ko-KR" altLang="en-US" sz="17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명을 원칙으로 함</a:t>
            </a:r>
          </a:p>
          <a:p>
            <a:pPr marL="620713" lvl="1" indent="-228600" eaLnBrk="1" hangingPunct="1">
              <a:lnSpc>
                <a:spcPct val="90000"/>
              </a:lnSpc>
            </a:pP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타 학과</a:t>
            </a:r>
            <a:r>
              <a:rPr lang="en-US" altLang="ko-KR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학부</a:t>
            </a:r>
            <a:r>
              <a:rPr lang="en-US" altLang="ko-KR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와 융합 팀을 구성할 때는 </a:t>
            </a:r>
            <a:r>
              <a:rPr lang="ko-KR" altLang="en-US" sz="17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컴퓨터공학부 학생이 </a:t>
            </a:r>
            <a:r>
              <a:rPr lang="en-US" altLang="ko-KR" sz="17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7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명 이상 </a:t>
            </a: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필수</a:t>
            </a:r>
            <a:endParaRPr lang="en-US" altLang="ko-KR" sz="17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lnSpc>
                <a:spcPct val="90000"/>
              </a:lnSpc>
            </a:pPr>
            <a:endParaRPr lang="ko-KR" altLang="en-US" sz="17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세션 구성</a:t>
            </a:r>
            <a:endParaRPr lang="en-US" altLang="ko-KR" sz="20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endParaRPr lang="ko-KR" altLang="en-US" sz="4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lnSpc>
                <a:spcPct val="90000"/>
              </a:lnSpc>
            </a:pP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심사를 위한 세션을 구성하며 제안서 발표부터 시제품 데모까지 세션으로 구분하여 심사</a:t>
            </a:r>
          </a:p>
          <a:p>
            <a:pPr marL="620713" lvl="1" indent="-228600" eaLnBrk="1" hangingPunct="1">
              <a:lnSpc>
                <a:spcPct val="90000"/>
              </a:lnSpc>
            </a:pPr>
            <a:r>
              <a:rPr lang="ko-KR" altLang="en-US" sz="17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계획서 제출 시 ⇨ 심사를 위한 세션 신청</a:t>
            </a:r>
            <a:endParaRPr lang="en-US" altLang="ko-KR" sz="17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>
              <a:lnSpc>
                <a:spcPct val="90000"/>
              </a:lnSpc>
            </a:pPr>
            <a:r>
              <a:rPr lang="ko-KR" altLang="en-US" sz="1600" dirty="0">
                <a:solidFill>
                  <a:schemeClr val="accent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단</a:t>
            </a:r>
            <a:r>
              <a:rPr lang="en-US" altLang="ko-KR" sz="1600" dirty="0">
                <a:solidFill>
                  <a:schemeClr val="accent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>
                <a:solidFill>
                  <a:schemeClr val="accent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세션은 </a:t>
            </a:r>
            <a:r>
              <a:rPr lang="ko-KR" altLang="en-US" sz="1600" dirty="0" err="1">
                <a:solidFill>
                  <a:schemeClr val="accent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지도교수나</a:t>
            </a:r>
            <a:r>
              <a:rPr lang="ko-KR" altLang="en-US" sz="1600" dirty="0">
                <a:solidFill>
                  <a:schemeClr val="accent2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전체 배분에 의해 변경될 수 있음</a:t>
            </a:r>
            <a:endParaRPr lang="en-US" altLang="ko-KR" sz="1600" dirty="0">
              <a:solidFill>
                <a:schemeClr val="accent2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endParaRPr lang="en-US" altLang="ko-KR" sz="20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주요 사항은 </a:t>
            </a:r>
            <a:r>
              <a:rPr lang="ko-KR" altLang="en-US" sz="2000" b="1" dirty="0" err="1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세션장</a:t>
            </a: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회의에서 결정 후</a:t>
            </a:r>
            <a:r>
              <a:rPr lang="en-US" altLang="ko-KR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</a:t>
            </a: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전체 학부 회의에서 최종 결정</a:t>
            </a:r>
          </a:p>
          <a:p>
            <a:pPr marL="365125" indent="-255588" eaLnBrk="1" hangingPunct="1">
              <a:lnSpc>
                <a:spcPct val="90000"/>
              </a:lnSpc>
            </a:pPr>
            <a:endParaRPr lang="ko-KR" altLang="en-US" sz="2000" b="1" dirty="0">
              <a:solidFill>
                <a:srgbClr val="227A8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/>
              <a:pPr>
                <a:defRPr/>
              </a:pPr>
              <a:t>16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74668556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종합설계 규정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(2)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indent="-255588" eaLnBrk="1" hangingPunct="1">
              <a:lnSpc>
                <a:spcPct val="90000"/>
              </a:lnSpc>
            </a:pPr>
            <a:r>
              <a:rPr lang="ko-KR" altLang="en-US" sz="20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우수 </a:t>
            </a:r>
            <a:r>
              <a:rPr lang="ko-KR" altLang="en-US" sz="2000" b="1" dirty="0" err="1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종합설계에</a:t>
            </a:r>
            <a:r>
              <a:rPr lang="ko-KR" altLang="en-US" sz="20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대한 시상</a:t>
            </a:r>
          </a:p>
          <a:p>
            <a:pPr marL="620713" lvl="1" indent="-228600" eaLnBrk="1" hangingPunct="1">
              <a:lnSpc>
                <a:spcPct val="150000"/>
              </a:lnSpc>
            </a:pPr>
            <a:r>
              <a:rPr lang="ko-KR" altLang="en-US" sz="17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우수 졸업 연구에 대하여 대학 및 학부에서 선정하여 시상 </a:t>
            </a:r>
            <a:endParaRPr lang="ko-KR" altLang="en-US" sz="1700" dirty="0">
              <a:solidFill>
                <a:srgbClr val="CC33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endParaRPr lang="en-US" altLang="ko-KR" sz="2000" b="1" dirty="0">
              <a:solidFill>
                <a:srgbClr val="227A8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>
              <a:lnSpc>
                <a:spcPct val="90000"/>
              </a:lnSpc>
            </a:pPr>
            <a:r>
              <a:rPr lang="ko-KR" altLang="en-US" sz="20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수행 불가한 팀의 예</a:t>
            </a:r>
            <a:endParaRPr lang="en-US" altLang="ko-KR" sz="2000" b="1" dirty="0">
              <a:solidFill>
                <a:srgbClr val="227A8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>
              <a:lnSpc>
                <a:spcPct val="150000"/>
              </a:lnSpc>
            </a:pPr>
            <a:r>
              <a:rPr lang="ko-KR" altLang="en-US" sz="17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일정을 따르지 않는 팀</a:t>
            </a:r>
            <a:endParaRPr lang="en-US" altLang="ko-KR" sz="17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평가를 위한 발표회에서 발표하지 않은 팀</a:t>
            </a:r>
            <a:endParaRPr lang="en-US" altLang="ko-KR" sz="16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>
              <a:lnSpc>
                <a:spcPct val="150000"/>
              </a:lnSpc>
            </a:pP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최종 작품 데모를 하지 못한 팀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한국공학대전 및 학부전시회에 출품하지 않은 팀</a:t>
            </a:r>
            <a:endParaRPr lang="en-US" altLang="ko-KR" sz="16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졸업논문을 제출하지 않은 팀</a:t>
            </a:r>
            <a:endParaRPr lang="en-US" altLang="ko-KR" sz="17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020763" lvl="2" eaLnBrk="1" hangingPunct="1">
              <a:lnSpc>
                <a:spcPct val="90000"/>
              </a:lnSpc>
            </a:pPr>
            <a:endParaRPr lang="en-US" altLang="ko-KR" sz="16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/>
              <a:pPr>
                <a:defRPr/>
              </a:pPr>
              <a:t>17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75194631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성적 산출 방법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- (1)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indent="-255588" eaLnBrk="1" hangingPunct="1">
              <a:defRPr/>
            </a:pP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제안서</a:t>
            </a:r>
            <a:r>
              <a:rPr lang="en-US" altLang="ko-KR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설계서</a:t>
            </a:r>
            <a:r>
              <a:rPr lang="en-US" altLang="ko-KR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000" b="1" dirty="0" err="1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프로토타입</a:t>
            </a: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구현 발표 시 </a:t>
            </a:r>
            <a:endParaRPr lang="en-US" altLang="ko-KR" sz="20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9537" indent="0" eaLnBrk="1" hangingPunct="1">
              <a:buNone/>
              <a:defRPr/>
            </a:pPr>
            <a:endParaRPr lang="en-US" altLang="ko-KR" sz="12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en-US" altLang="ko-KR" sz="1800" b="1" dirty="0">
                <a:solidFill>
                  <a:schemeClr val="accent6">
                    <a:lumMod val="5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e-Class </a:t>
            </a:r>
            <a:r>
              <a:rPr lang="ko-KR" altLang="en-US" sz="1800" b="1" dirty="0">
                <a:solidFill>
                  <a:schemeClr val="accent6">
                    <a:lumMod val="50000"/>
                  </a:schemeClr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활용</a:t>
            </a:r>
            <a:endParaRPr lang="en-US" altLang="ko-KR" sz="1800" b="1" dirty="0">
              <a:solidFill>
                <a:schemeClr val="accent6">
                  <a:lumMod val="50000"/>
                </a:schemeClr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20763" lvl="2" eaLnBrk="1" hangingPunct="1">
              <a:defRPr/>
            </a:pPr>
            <a:r>
              <a:rPr lang="ko-KR" altLang="en-US" sz="1600" dirty="0">
                <a:solidFill>
                  <a:schemeClr val="accent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공지 및</a:t>
            </a:r>
            <a:r>
              <a:rPr lang="en-US" altLang="ko-KR" sz="1600" dirty="0">
                <a:solidFill>
                  <a:schemeClr val="accent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600" dirty="0">
                <a:solidFill>
                  <a:schemeClr val="accent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자료 제출</a:t>
            </a:r>
            <a:endParaRPr lang="en-US" altLang="ko-KR" sz="1600" dirty="0">
              <a:solidFill>
                <a:schemeClr val="accent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20763" lvl="2" eaLnBrk="1" hangingPunct="1">
              <a:defRPr/>
            </a:pPr>
            <a:r>
              <a:rPr lang="ko-KR" altLang="en-US" sz="1600" dirty="0">
                <a:solidFill>
                  <a:schemeClr val="accent6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평가 심사결과 공지 ⇨ 다음 심사까지 심사 결과를 반영하도록 함</a:t>
            </a:r>
            <a:endParaRPr lang="en-US" altLang="ko-KR" sz="1600" dirty="0">
              <a:solidFill>
                <a:schemeClr val="accent6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143000" lvl="3" eaLnBrk="1" hangingPunct="1">
              <a:defRPr/>
            </a:pPr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8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심사 결과에 따른 이행사항</a:t>
            </a:r>
            <a:endParaRPr lang="en-US" altLang="ko-KR" sz="18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“지도교수 확인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요망”의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경우 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143000" lvl="3" eaLnBrk="1" hangingPunct="1">
              <a:defRPr/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지도 교수의 지도 확인 필요 </a:t>
            </a:r>
            <a:endParaRPr lang="en-US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“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수정후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재심사”의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경우 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143000" lvl="3" eaLnBrk="1" hangingPunct="1">
              <a:defRPr/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세션 교수 재심 수행</a:t>
            </a:r>
          </a:p>
          <a:p>
            <a:pPr marL="858838" lvl="2" eaLnBrk="1" hangingPunct="1">
              <a:defRPr/>
            </a:pPr>
            <a:r>
              <a:rPr lang="ko-KR" altLang="en-US" sz="16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설계서 검토 시 심사 </a:t>
            </a:r>
            <a:r>
              <a:rPr lang="ko-KR" altLang="en-US" sz="1600" dirty="0" err="1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결과서를</a:t>
            </a:r>
            <a:r>
              <a:rPr lang="ko-KR" altLang="en-US" sz="16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반영하지 않은 팀의 경우</a:t>
            </a:r>
            <a:endParaRPr lang="en-US" altLang="ko-KR" sz="1600" dirty="0">
              <a:solidFill>
                <a:srgbClr val="C0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143000" lvl="3" eaLnBrk="1" hangingPunct="1">
              <a:defRPr/>
            </a:pPr>
            <a:r>
              <a:rPr lang="ko-KR" altLang="en-US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평가 시 감점의 요인이 됨</a:t>
            </a:r>
            <a:endParaRPr lang="en-US" altLang="ko-KR" dirty="0">
              <a:solidFill>
                <a:srgbClr val="C0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143000" lvl="3" eaLnBrk="1" hangingPunct="1">
              <a:defRPr/>
            </a:pPr>
            <a:endParaRPr lang="en-US" altLang="ko-KR" sz="1400" dirty="0">
              <a:solidFill>
                <a:srgbClr val="C0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800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모든 학생은 종합설계에서 </a:t>
            </a:r>
            <a:r>
              <a:rPr lang="en-US" altLang="ko-KR" sz="1800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r>
              <a:rPr lang="ko-KR" altLang="en-US" sz="1800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회의 발표 중에서 </a:t>
            </a:r>
            <a:r>
              <a:rPr lang="en-US" altLang="ko-KR" sz="1800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800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회 이상 발표를 해야 함</a:t>
            </a:r>
            <a:endParaRPr lang="en-US" altLang="ko-KR" sz="1800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학생 별 발표 평가 점수는 성적 산출 규정에 의해 개인적으로 반영 됨 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endParaRPr lang="ko-KR" altLang="en-US" sz="18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/>
              <a:pPr>
                <a:defRPr/>
              </a:pPr>
              <a:t>18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77247539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성적 산출 방법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- (2)</a:t>
            </a:r>
            <a:endParaRPr lang="ko-KR" altLang="en-US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226146" y="1124744"/>
            <a:ext cx="8587680" cy="4941888"/>
          </a:xfrm>
        </p:spPr>
        <p:txBody>
          <a:bodyPr/>
          <a:lstStyle/>
          <a:p>
            <a:pPr marL="365125" indent="-255588" eaLnBrk="1" hangingPunct="1"/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성적 산출을 위한 데모 시</a:t>
            </a:r>
            <a:endParaRPr lang="en-US" altLang="ko-KR" sz="20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성적 산출 기준</a:t>
            </a:r>
            <a:endParaRPr lang="en-US" altLang="ko-KR" sz="18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모두 구현한 경우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A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약간 미흡한 경우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B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많이 부족한 경우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C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준비가 안된 또는 결석한 경우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F</a:t>
            </a:r>
          </a:p>
          <a:p>
            <a:pPr marL="620713" lvl="1" indent="-228600" eaLnBrk="1" hangingPunct="1"/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종합설계기획</a:t>
            </a:r>
            <a:r>
              <a:rPr lang="en-US" altLang="ko-KR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성적 산출 </a:t>
            </a:r>
            <a:endParaRPr lang="en-US" altLang="ko-KR" sz="18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제안서 </a:t>
            </a:r>
            <a:r>
              <a:rPr lang="ko-KR" altLang="en-US" sz="1400" b="1" u="sng" dirty="0" err="1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발표평가에</a:t>
            </a:r>
            <a:r>
              <a:rPr lang="ko-KR" altLang="en-US" sz="14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대하여 지도교수가 성적을 부여</a:t>
            </a:r>
            <a:endParaRPr lang="en-US" altLang="ko-KR" sz="1100" b="1" u="sng" dirty="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1 </a:t>
            </a:r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성적 산출 </a:t>
            </a:r>
            <a:endParaRPr lang="en-US" altLang="ko-KR" sz="18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개별 평가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: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감점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총점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)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→ 미발표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+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미출석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시</a:t>
            </a:r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팀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평가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: </a:t>
            </a:r>
            <a:r>
              <a:rPr lang="ko-KR" altLang="en-US" sz="1400" dirty="0" err="1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세션평가</a:t>
            </a:r>
            <a:r>
              <a:rPr lang="ko-KR" altLang="en-US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60% + </a:t>
            </a:r>
            <a:r>
              <a:rPr lang="ko-KR" altLang="en-US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전공지도교수 평가 </a:t>
            </a:r>
            <a:r>
              <a:rPr lang="en-US" altLang="ko-KR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40%</a:t>
            </a: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세션평가에서는 작품의 완성도 평가를 진행하며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전공지도교수평가는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e-class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에 제출된 문서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Git/</a:t>
            </a: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Github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활용도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성실도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지도교수 재량평가 항목 등을 종합적으로 평가</a:t>
            </a:r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팀원별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점수가 일치하지는 않음</a:t>
            </a:r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종설기획에서 수행한 제안서 </a:t>
            </a:r>
            <a:r>
              <a:rPr lang="ko-KR" altLang="en-US" sz="1400" b="1" u="sng" dirty="0" err="1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발표평가</a:t>
            </a:r>
            <a:r>
              <a:rPr lang="ko-KR" altLang="en-US" sz="1400" b="1" u="sng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내용을 반영</a:t>
            </a:r>
            <a:endParaRPr lang="ko-KR" altLang="en-US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2 </a:t>
            </a:r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성적 산출</a:t>
            </a:r>
            <a:endParaRPr lang="en-US" altLang="ko-KR" sz="18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데모 세션 평가 점수</a:t>
            </a:r>
            <a:r>
              <a:rPr lang="en-US" altLang="ko-KR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(25%) </a:t>
            </a:r>
            <a:r>
              <a:rPr lang="ko-KR" altLang="en-US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와 오프라인 전시 참여점수</a:t>
            </a:r>
            <a:r>
              <a:rPr lang="en-US" altLang="ko-KR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(15%), </a:t>
            </a:r>
            <a:r>
              <a:rPr lang="ko-KR" altLang="en-US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온라인 전시 학생평가</a:t>
            </a:r>
            <a:r>
              <a:rPr lang="en-US" altLang="ko-KR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(10%), </a:t>
            </a:r>
            <a:r>
              <a:rPr lang="ko-KR" altLang="en-US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전공지도교수평가</a:t>
            </a:r>
            <a:r>
              <a:rPr lang="en-US" altLang="ko-KR" sz="1400" dirty="0">
                <a:solidFill>
                  <a:srgbClr val="C0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(50%)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로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 점수를 산정</a:t>
            </a:r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전공지도교수평가는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e-class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에 제출된 문서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Git/</a:t>
            </a: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Github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활용도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성실도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이력서 및 자기소개서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지도교수 재량평가 항목 등을 종합적으로 평가</a:t>
            </a:r>
          </a:p>
          <a:p>
            <a:pPr marL="858838" lvl="2" eaLnBrk="1" hangingPunct="1"/>
            <a:r>
              <a:rPr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9</a:t>
            </a:r>
            <a:r>
              <a:rPr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월 최종발표 평가 때 데모가 되지 않는 경우 </a:t>
            </a:r>
            <a:r>
              <a:rPr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C+</a:t>
            </a:r>
            <a:r>
              <a:rPr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이하를 부여</a:t>
            </a:r>
            <a:endParaRPr lang="en-US" altLang="ko-KR" sz="1400" dirty="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견명조" panose="02030600000101010101" pitchFamily="18" charset="-127"/>
                <a:ea typeface="HY견명조" panose="02030600000101010101" pitchFamily="18" charset="-127"/>
              </a:rPr>
              <a:pPr>
                <a:defRPr/>
              </a:pPr>
              <a:t>19</a:t>
            </a:fld>
            <a:endParaRPr lang="en-GB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B2337-64F2-550B-F84E-699002915708}"/>
              </a:ext>
            </a:extLst>
          </p:cNvPr>
          <p:cNvSpPr txBox="1"/>
          <p:nvPr/>
        </p:nvSpPr>
        <p:spPr>
          <a:xfrm>
            <a:off x="4860032" y="1628800"/>
            <a:ext cx="23042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lvl="1" indent="-266700" eaLnBrk="1" hangingPunct="1"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성적 분포</a:t>
            </a:r>
            <a:endParaRPr lang="en-US" altLang="ko-KR" sz="18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266700" lvl="1" indent="-85725" eaLnBrk="1" hangingPunct="1">
              <a:buFont typeface="Wingdings" panose="05000000000000000000" pitchFamily="2" charset="2"/>
              <a:buChar char="ü"/>
            </a:pPr>
            <a:r>
              <a:rPr lang="en-US" altLang="ko-KR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   A 40%</a:t>
            </a:r>
          </a:p>
          <a:p>
            <a:pPr marL="266700" lvl="1" indent="-85725" eaLnBrk="1" hangingPunct="1">
              <a:buFont typeface="Wingdings" panose="05000000000000000000" pitchFamily="2" charset="2"/>
              <a:buChar char="ü"/>
            </a:pPr>
            <a:r>
              <a:rPr lang="en-US" altLang="ko-KR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   B 40%</a:t>
            </a:r>
          </a:p>
          <a:p>
            <a:pPr marL="266700" lvl="1" indent="-85725" eaLnBrk="1" hangingPunct="1">
              <a:buFont typeface="Wingdings" panose="05000000000000000000" pitchFamily="2" charset="2"/>
              <a:buChar char="ü"/>
            </a:pPr>
            <a:r>
              <a:rPr lang="en-US" altLang="ko-KR" sz="1800" dirty="0">
                <a:latin typeface="HY견명조" panose="02030600000101010101" pitchFamily="18" charset="-127"/>
                <a:ea typeface="HY견명조" panose="02030600000101010101" pitchFamily="18" charset="-127"/>
              </a:rPr>
              <a:t>   C 20%</a:t>
            </a:r>
          </a:p>
        </p:txBody>
      </p:sp>
    </p:spTree>
    <p:extLst>
      <p:ext uri="{BB962C8B-B14F-4D97-AF65-F5344CB8AC3E}">
        <p14:creationId xmlns:p14="http://schemas.microsoft.com/office/powerpoint/2010/main" val="410901575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성적 산출 방법 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- (3)</a:t>
            </a:r>
            <a:endParaRPr lang="ko-KR" altLang="en-US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7504" y="1196752"/>
            <a:ext cx="8928992" cy="5040536"/>
          </a:xfrm>
        </p:spPr>
        <p:txBody>
          <a:bodyPr/>
          <a:lstStyle/>
          <a:p>
            <a:pPr marL="365125" indent="-255588" eaLnBrk="1" hangingPunct="1">
              <a:defRPr/>
            </a:pP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그 밖의 가점</a:t>
            </a:r>
            <a:r>
              <a:rPr lang="en-US" altLang="ko-KR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/</a:t>
            </a:r>
            <a:r>
              <a:rPr lang="ko-KR" altLang="en-US" sz="20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감점 내용</a:t>
            </a:r>
            <a:endParaRPr lang="en-US" altLang="ko-KR" sz="20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endParaRPr lang="en-US" altLang="ko-KR" sz="1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무단으로 발표를 하지 않는 팀은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회당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10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점을 감점하며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발표 불참 시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회당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점을 감점</a:t>
            </a:r>
            <a:endParaRPr lang="en-US" altLang="ko-KR" sz="1600" dirty="0">
              <a:solidFill>
                <a:srgbClr val="CC33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600" dirty="0" err="1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공학대전</a:t>
            </a:r>
            <a:r>
              <a:rPr lang="en-US" altLang="ko-KR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체육관</a:t>
            </a:r>
            <a:r>
              <a:rPr lang="en-US" altLang="ko-KR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r>
              <a:rPr lang="ko-KR" altLang="en-US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600" dirty="0" err="1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전시팀은</a:t>
            </a:r>
            <a:r>
              <a:rPr lang="ko-KR" altLang="en-US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A+ </a:t>
            </a:r>
            <a:r>
              <a:rPr lang="ko-KR" altLang="en-US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부여</a:t>
            </a:r>
            <a:r>
              <a:rPr lang="en-US" altLang="ko-KR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다른</a:t>
            </a:r>
            <a:r>
              <a:rPr lang="en-US" altLang="ko-KR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요건 충족 시</a:t>
            </a:r>
            <a:r>
              <a:rPr lang="en-US" altLang="ko-KR" sz="1600" dirty="0">
                <a:solidFill>
                  <a:srgbClr val="CC33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endParaRPr lang="ko-KR" altLang="en-US" sz="1400" dirty="0">
              <a:solidFill>
                <a:srgbClr val="CC33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작품설명서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판넬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졸업논문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미제출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시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일당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점을 감점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발표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/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온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‧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오프라인특강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/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취업상담 불참 시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회당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점을 감점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20763" lvl="2" eaLnBrk="1" hangingPunct="1">
              <a:defRPr/>
            </a:pPr>
            <a:r>
              <a:rPr lang="ko-KR" altLang="en-US" sz="1400" dirty="0" err="1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취업온라인</a:t>
            </a:r>
            <a:r>
              <a:rPr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특강</a:t>
            </a:r>
            <a:r>
              <a:rPr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:</a:t>
            </a:r>
            <a:r>
              <a:rPr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진로취업지원센터의 솔루션 온라인 강좌</a:t>
            </a:r>
            <a:endParaRPr lang="en-US" altLang="ko-KR" sz="1400" dirty="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20763" lvl="2" eaLnBrk="1" hangingPunct="1">
              <a:defRPr/>
            </a:pPr>
            <a:r>
              <a:rPr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취업상담</a:t>
            </a:r>
            <a:r>
              <a:rPr lang="en-US" altLang="ko-KR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:</a:t>
            </a:r>
            <a:r>
              <a:rPr lang="ko-KR" altLang="en-US" sz="14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진로취업지원센터의 </a:t>
            </a:r>
            <a:r>
              <a:rPr lang="ko-KR" altLang="en-US" sz="1400" dirty="0" err="1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의무상담</a:t>
            </a:r>
            <a:endParaRPr lang="ko-KR" altLang="en-US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사전 승인없이 온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‧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오프라인 전시에 참여하지 않은 경우 해당 평가 점수는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0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점으로 처리</a:t>
            </a:r>
          </a:p>
          <a:p>
            <a:pPr marL="620713" lvl="1" indent="-228600" eaLnBrk="1" hangingPunct="1">
              <a:defRPr/>
            </a:pP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지도교수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책임교수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학부장의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승인으로 구성된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인 팀에 대해서는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20763" lvl="2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과 종합설계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에 부여된 최종 점수에서 최대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10%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감점 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20763" lvl="2" eaLnBrk="1" hangingPunct="1">
              <a:defRPr/>
            </a:pP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defRPr/>
            </a:pP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모든 팀은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GitHub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에 등록하여 종합설계 협업과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Git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을 이용한 소스관리를 진행해야 하며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전공지도교수 평가 시 필수평가 항목임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1020763" lvl="2" eaLnBrk="1" hangingPunct="1">
              <a:defRPr/>
            </a:pPr>
            <a:r>
              <a:rPr lang="ko-KR" altLang="en-US" sz="16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제안서 및 각종 발표자료</a:t>
            </a:r>
            <a:r>
              <a:rPr lang="en-US" altLang="ko-KR" sz="16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소스코드 </a:t>
            </a:r>
            <a:r>
              <a:rPr lang="ko-KR" altLang="en-US" sz="1600" dirty="0" err="1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커밋을</a:t>
            </a:r>
            <a:r>
              <a:rPr lang="ko-KR" altLang="en-US" sz="1600" dirty="0"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 해야함</a:t>
            </a:r>
          </a:p>
          <a:p>
            <a:pPr marL="620713" lvl="1" indent="-228600" eaLnBrk="1" hangingPunct="1">
              <a:defRPr/>
            </a:pPr>
            <a:endParaRPr lang="ko-KR" altLang="en-US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34963" lvl="1" indent="0" eaLnBrk="1" hangingPunct="1">
              <a:buFont typeface="Monotype Sorts" pitchFamily="2" charset="2"/>
              <a:buNone/>
              <a:defRPr/>
            </a:pPr>
            <a:endParaRPr lang="en-US" altLang="ko-KR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>
              <a:defRPr/>
            </a:pPr>
            <a:endParaRPr lang="ko-KR" altLang="en-US" sz="1600" b="1" dirty="0">
              <a:solidFill>
                <a:srgbClr val="227A8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견명조" panose="02030600000101010101" pitchFamily="18" charset="-127"/>
                <a:ea typeface="HY견명조" panose="02030600000101010101" pitchFamily="18" charset="-127"/>
              </a:rPr>
              <a:pPr>
                <a:defRPr/>
              </a:pPr>
              <a:t>20</a:t>
            </a:fld>
            <a:endParaRPr lang="en-GB" altLang="ko-KR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393694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일정에 맞추어 진행하지 못하는 경우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7504" y="1295400"/>
            <a:ext cx="8928992" cy="4941888"/>
          </a:xfrm>
        </p:spPr>
        <p:txBody>
          <a:bodyPr/>
          <a:lstStyle/>
          <a:p>
            <a:pPr marL="365125" indent="-255588" eaLnBrk="1" hangingPunct="1"/>
            <a:r>
              <a:rPr lang="en-US" altLang="ko-KR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r>
              <a:rPr lang="ko-KR" altLang="en-US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학년 </a:t>
            </a:r>
            <a:r>
              <a:rPr lang="en-US" altLang="ko-KR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학기에 복학하는 학생의 경우 </a:t>
            </a:r>
            <a:endParaRPr lang="en-US" altLang="ko-KR" sz="1800" b="1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>
              <a:buNone/>
            </a:pPr>
            <a:endParaRPr lang="en-US" altLang="ko-KR" sz="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겨울방학 중 제안서 작성하여 지도교수와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세션장이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검토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설계서 및 시나리오 검토 단계부터는 정상적으로 심사에 응하도록 함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r>
              <a:rPr lang="en-US" altLang="ko-KR" sz="1800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r>
              <a:rPr lang="ko-KR" altLang="en-US" sz="1800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월에 제대하여 복학 일정이 맞지 않는 경우 </a:t>
            </a:r>
            <a:endParaRPr lang="en-US" altLang="ko-KR" sz="1800" dirty="0">
              <a:solidFill>
                <a:srgbClr val="227A8F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ko-KR" altLang="en-US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지도교수와 세션 장이 상의하여 </a:t>
            </a:r>
            <a:r>
              <a:rPr lang="en-US" altLang="ko-KR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r>
              <a:rPr lang="ko-KR" altLang="en-US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월 말에 제안서 제출 </a:t>
            </a:r>
            <a:endParaRPr lang="en-US" altLang="ko-KR" sz="15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r>
              <a:rPr lang="en-US" altLang="ko-KR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r>
              <a:rPr lang="ko-KR" altLang="en-US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월부터 일정에 따라 심사 진행 </a:t>
            </a:r>
            <a:r>
              <a:rPr lang="en-US" altLang="ko-KR" sz="1500" dirty="0">
                <a:latin typeface="HY견명조" panose="02030600000101010101" pitchFamily="18" charset="-127"/>
                <a:ea typeface="HY견명조" panose="02030600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solidFill>
                  <a:srgbClr val="FF0000"/>
                </a:solidFill>
                <a:latin typeface="HY견명조" panose="02030600000101010101" pitchFamily="18" charset="-127"/>
                <a:ea typeface="HY견명조" panose="02030600000101010101" pitchFamily="18" charset="-127"/>
                <a:sym typeface="Wingdings" panose="05000000000000000000" pitchFamily="2" charset="2"/>
              </a:rPr>
              <a:t>위험</a:t>
            </a:r>
            <a:endParaRPr lang="ko-KR" altLang="en-US" sz="1500" dirty="0">
              <a:solidFill>
                <a:srgbClr val="FF0000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858838" lvl="2" eaLnBrk="1" hangingPunct="1"/>
            <a:endParaRPr lang="en-US" altLang="ko-KR" sz="14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365125" indent="-255588" eaLnBrk="1" hangingPunct="1"/>
            <a:r>
              <a:rPr lang="ko-KR" altLang="en-US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를 재수강하는 경우 </a:t>
            </a:r>
          </a:p>
          <a:p>
            <a:pPr marL="620713" lvl="1" indent="-228600" eaLnBrk="1" hangingPunct="1"/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에서 수행한 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“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제안서 및 계획서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”, “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시스템설계서 및 시나리오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”, “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세부 설계 및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프로토타입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구현 내용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”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발표 심사를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세션장과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지도교수가 참석하는 심사 일정을 잡아 심사한 후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의 일정에 따라 졸업 연구를 수행함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620713" lvl="1" indent="-228600" eaLnBrk="1" hangingPunct="1"/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종합설계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을 이수한 이후에 휴학을 한 학생은 종합설계</a:t>
            </a:r>
            <a:r>
              <a:rPr lang="en-US" altLang="ko-KR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를 재수강하는 학생과 같은 절차를 수행함</a:t>
            </a:r>
            <a:endParaRPr lang="en-US" altLang="ko-KR" sz="16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21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83239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유의 사항 </a:t>
            </a:r>
            <a:r>
              <a:rPr lang="en-US" altLang="ko-KR" dirty="0">
                <a:latin typeface="+mn-ea"/>
                <a:ea typeface="+mn-ea"/>
              </a:rPr>
              <a:t>- (1)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7504" y="1196752"/>
            <a:ext cx="8928992" cy="5040536"/>
          </a:xfrm>
        </p:spPr>
        <p:txBody>
          <a:bodyPr/>
          <a:lstStyle/>
          <a:p>
            <a:pPr marL="365125" indent="-255588" eaLnBrk="1" hangingPunct="1"/>
            <a:r>
              <a:rPr lang="en-US" altLang="ko-KR" sz="1800" b="1" dirty="0">
                <a:solidFill>
                  <a:srgbClr val="227A8F"/>
                </a:solidFill>
                <a:latin typeface="+mn-ea"/>
                <a:ea typeface="+mn-ea"/>
              </a:rPr>
              <a:t>4</a:t>
            </a:r>
            <a:r>
              <a:rPr lang="ko-KR" altLang="en-US" sz="1800" b="1" dirty="0">
                <a:solidFill>
                  <a:srgbClr val="227A8F"/>
                </a:solidFill>
                <a:latin typeface="+mn-ea"/>
                <a:ea typeface="KoPub돋움체 Bold" panose="02020603020101020101"/>
              </a:rPr>
              <a:t>학</a:t>
            </a:r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 </a:t>
            </a:r>
            <a:r>
              <a:rPr lang="en-US" altLang="ko-KR" sz="1800" b="1" dirty="0">
                <a:solidFill>
                  <a:srgbClr val="227A8F"/>
                </a:solidFill>
                <a:latin typeface="+mn-ea"/>
                <a:ea typeface="+mn-ea"/>
              </a:rPr>
              <a:t>2</a:t>
            </a:r>
            <a:r>
              <a:rPr lang="ko-KR" altLang="en-US" sz="1800" b="1" dirty="0">
                <a:solidFill>
                  <a:srgbClr val="227A8F"/>
                </a:solidFill>
                <a:latin typeface="+mn-ea"/>
                <a:ea typeface="KoPub돋움체 Bold" panose="02020603020101020101"/>
              </a:rPr>
              <a:t>학</a:t>
            </a:r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 휴학 시  </a:t>
            </a:r>
            <a:endParaRPr lang="en-US" altLang="ko-KR" sz="1800" b="1" dirty="0">
              <a:solidFill>
                <a:srgbClr val="227A8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lvl="1" latinLnBrk="1"/>
            <a:r>
              <a:rPr lang="ko-KR" altLang="en-US" sz="1500" dirty="0">
                <a:latin typeface="KoPub돋움체 Bold" pitchFamily="18" charset="-127"/>
                <a:ea typeface="KoPub돋움체 Bold" pitchFamily="18" charset="-127"/>
              </a:rPr>
              <a:t>종합설계</a:t>
            </a:r>
            <a:r>
              <a:rPr lang="en-US" altLang="ko-KR" sz="1500" dirty="0">
                <a:latin typeface="+mn-ea"/>
                <a:ea typeface="+mn-ea"/>
              </a:rPr>
              <a:t>1</a:t>
            </a:r>
            <a:r>
              <a:rPr lang="ko-KR" altLang="en-US" sz="1500" dirty="0">
                <a:latin typeface="+mn-ea"/>
                <a:ea typeface="KoPub돋움체 Bold" panose="02020603020101020101"/>
              </a:rPr>
              <a:t>을</a:t>
            </a:r>
            <a:r>
              <a:rPr lang="ko-KR" altLang="en-US" sz="1500" dirty="0">
                <a:latin typeface="KoPub돋움체 Bold" pitchFamily="18" charset="-127"/>
                <a:ea typeface="KoPub돋움체 Bold" pitchFamily="18" charset="-127"/>
              </a:rPr>
              <a:t> 이수한 이후에 휴학을 하는 학생은 최종 발표와 졸업논문 작성에 기여하여 지도교수 승인과 조 학생들의 동의서를 받아야 한다</a:t>
            </a:r>
            <a:r>
              <a:rPr lang="en-US" altLang="ko-KR" sz="1500" dirty="0">
                <a:latin typeface="+mn-ea"/>
                <a:ea typeface="+mn-ea"/>
              </a:rPr>
              <a:t>. </a:t>
            </a:r>
            <a:r>
              <a:rPr lang="ko-KR" altLang="en-US" sz="1500" dirty="0">
                <a:latin typeface="KoPub돋움체 Bold" pitchFamily="18" charset="-127"/>
                <a:ea typeface="KoPub돋움체 Bold" pitchFamily="18" charset="-127"/>
              </a:rPr>
              <a:t>복학 후 종합설계</a:t>
            </a:r>
            <a:r>
              <a:rPr lang="en-US" altLang="ko-KR" sz="1500" dirty="0">
                <a:latin typeface="+mn-ea"/>
                <a:ea typeface="+mn-ea"/>
              </a:rPr>
              <a:t>2 </a:t>
            </a:r>
            <a:r>
              <a:rPr lang="ko-KR" altLang="en-US" sz="1500" dirty="0">
                <a:latin typeface="KoPub돋움체 Bold" pitchFamily="18" charset="-127"/>
                <a:ea typeface="KoPub돋움체 Bold" pitchFamily="18" charset="-127"/>
              </a:rPr>
              <a:t>이수는 종합설계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2 </a:t>
            </a:r>
            <a:r>
              <a:rPr lang="ko-KR" altLang="en-US" sz="1500" dirty="0">
                <a:latin typeface="KoPub돋움체 Bold" pitchFamily="18" charset="-127"/>
                <a:ea typeface="KoPub돋움체 Bold" pitchFamily="18" charset="-127"/>
              </a:rPr>
              <a:t>재수강 절차와 동일하게 진행함</a:t>
            </a:r>
            <a:endParaRPr lang="en-US" altLang="ko-KR" sz="1500" dirty="0">
              <a:latin typeface="KoPub돋움체 Bold" pitchFamily="18" charset="-127"/>
              <a:ea typeface="KoPub돋움체 Bold" pitchFamily="18" charset="-127"/>
            </a:endParaRPr>
          </a:p>
          <a:p>
            <a:pPr marL="858838" lvl="2" eaLnBrk="1" hangingPunct="1">
              <a:buFont typeface="Monotype Sorts" pitchFamily="2" charset="2"/>
              <a:buNone/>
            </a:pPr>
            <a:endParaRPr lang="en-US" altLang="ko-KR" sz="5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/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 중 팀원 및 </a:t>
            </a:r>
            <a:r>
              <a:rPr lang="en-US" altLang="ko-KR" sz="1800" b="1" dirty="0">
                <a:solidFill>
                  <a:srgbClr val="227A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Item </a:t>
            </a:r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변경 시 </a:t>
            </a:r>
            <a:endParaRPr lang="en-US" altLang="ko-KR" sz="1800" b="1" dirty="0">
              <a:solidFill>
                <a:srgbClr val="227A8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/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지도교수 확인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Lucida Sans Unicode" panose="020B0602030504020204" pitchFamily="34" charset="0"/>
              </a:rPr>
              <a:t>⇨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Lucida Sans Unicode" panose="020B0602030504020204" pitchFamily="34" charset="0"/>
              </a:rPr>
              <a:t> </a:t>
            </a:r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변경관련 서류 학부 제출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>
              <a:buFont typeface="Monotype Sorts" pitchFamily="2" charset="2"/>
              <a:buNone/>
            </a:pPr>
            <a:r>
              <a:rPr lang="en-US" altLang="ko-KR" sz="15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</a:t>
            </a:r>
            <a:r>
              <a:rPr lang="ko-KR" altLang="en-US" sz="15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⇨ 종합설계계획서 평가부터 다시 수행 </a:t>
            </a:r>
            <a:r>
              <a:rPr lang="en-US" altLang="ko-KR" sz="1500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초기가 아니면 매우 위험</a:t>
            </a:r>
            <a:endParaRPr lang="en-US" altLang="ko-KR" sz="1500" dirty="0"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Wingdings" panose="05000000000000000000" pitchFamily="2" charset="2"/>
            </a:endParaRPr>
          </a:p>
          <a:p>
            <a:pPr marL="620713" lvl="1" indent="-228600" eaLnBrk="1" hangingPunct="1">
              <a:buFont typeface="Monotype Sorts" pitchFamily="2" charset="2"/>
              <a:buNone/>
            </a:pPr>
            <a:endParaRPr lang="en-US" altLang="ko-KR" sz="14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/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발표 시마다 팀원 전원이 참석해야 함</a:t>
            </a:r>
            <a:endParaRPr lang="en-US" altLang="ko-KR" sz="1800" b="1" dirty="0">
              <a:solidFill>
                <a:srgbClr val="227A8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/>
            <a:r>
              <a:rPr lang="ko-KR" altLang="en-US" sz="15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팀 별이 아닌</a:t>
            </a:r>
            <a:r>
              <a:rPr lang="en-US" altLang="ko-KR" sz="15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5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개인별로 미 참석자 감점</a:t>
            </a:r>
            <a:endParaRPr lang="en-US" altLang="ko-KR" sz="15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/>
            <a:endParaRPr lang="en-US" altLang="ko-KR" sz="14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/>
            <a:r>
              <a:rPr lang="ko-KR" altLang="en-US" sz="1800" b="1" dirty="0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한국공학대전 및 학부 전시를 하지 않는 경우 </a:t>
            </a:r>
            <a:r>
              <a:rPr lang="en-US" altLang="ko-KR" sz="1800" b="1" dirty="0">
                <a:solidFill>
                  <a:srgbClr val="CC33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=&gt; </a:t>
            </a:r>
            <a:r>
              <a:rPr lang="ko-KR" altLang="en-US" sz="1800" b="1" dirty="0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팀원 전원 </a:t>
            </a:r>
            <a:r>
              <a:rPr lang="ko-KR" altLang="en-US" sz="1800" b="1" dirty="0" err="1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전시점수</a:t>
            </a:r>
            <a:r>
              <a:rPr lang="ko-KR" altLang="en-US" sz="1800" b="1" dirty="0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b="1" dirty="0">
                <a:solidFill>
                  <a:srgbClr val="CC33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</a:t>
            </a:r>
            <a:r>
              <a:rPr lang="ko-KR" altLang="en-US" sz="1800" b="1" dirty="0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점 처리</a:t>
            </a:r>
            <a:endParaRPr lang="en-US" altLang="ko-KR" sz="1800" b="1" dirty="0">
              <a:solidFill>
                <a:srgbClr val="CC33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/>
            <a:r>
              <a:rPr lang="ko-KR" altLang="en-US" sz="1800" b="1" dirty="0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졸업논문을 제출하지 않는 경우 </a:t>
            </a:r>
            <a:r>
              <a:rPr lang="en-US" altLang="ko-KR" sz="1800" b="1" dirty="0">
                <a:solidFill>
                  <a:srgbClr val="CC33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=&gt; 1</a:t>
            </a:r>
            <a:r>
              <a:rPr lang="ko-KR" altLang="en-US" sz="1800" b="1" dirty="0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일당 </a:t>
            </a:r>
            <a:r>
              <a:rPr lang="en-US" altLang="ko-KR" sz="1800" b="1" dirty="0">
                <a:solidFill>
                  <a:srgbClr val="CC33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b="1" dirty="0">
                <a:solidFill>
                  <a:srgbClr val="CC33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점</a:t>
            </a:r>
            <a:r>
              <a:rPr lang="ko-KR" altLang="en-US" sz="1800" b="1" dirty="0">
                <a:solidFill>
                  <a:srgbClr val="CC33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감점</a:t>
            </a:r>
            <a:endParaRPr lang="en-US" altLang="ko-KR" sz="1800" b="1" dirty="0">
              <a:solidFill>
                <a:srgbClr val="CC33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/>
            <a:endParaRPr lang="ko-KR" altLang="en-US" sz="1600" b="1" dirty="0">
              <a:solidFill>
                <a:srgbClr val="CC33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/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</a:t>
            </a:r>
            <a:r>
              <a:rPr lang="en-US" altLang="ko-KR" sz="1800" b="1" dirty="0">
                <a:solidFill>
                  <a:srgbClr val="227A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800" b="1" dirty="0">
                <a:solidFill>
                  <a:srgbClr val="227A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을</a:t>
            </a:r>
            <a:r>
              <a:rPr lang="ko-KR" altLang="en-US" sz="21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800" b="1" dirty="0">
                <a:solidFill>
                  <a:srgbClr val="227A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1800" b="1" dirty="0">
                <a:solidFill>
                  <a:srgbClr val="227A8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</a:t>
            </a:r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기에 수행 가능한 팀</a:t>
            </a:r>
            <a:r>
              <a:rPr lang="en-US" altLang="ko-KR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(or </a:t>
            </a:r>
            <a:r>
              <a:rPr lang="ko-KR" altLang="en-US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학생</a:t>
            </a:r>
            <a:r>
              <a:rPr lang="en-US" altLang="ko-KR" sz="1800" b="1" dirty="0">
                <a:solidFill>
                  <a:srgbClr val="227A8F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) </a:t>
            </a:r>
          </a:p>
          <a:p>
            <a:pPr marL="620713" lvl="1" indent="-228600" eaLnBrk="1" hangingPunct="1"/>
            <a:r>
              <a:rPr lang="en-US" altLang="ko-KR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 종합설계</a:t>
            </a:r>
            <a:r>
              <a:rPr lang="en-US" altLang="ko-KR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을</a:t>
            </a:r>
            <a:r>
              <a:rPr lang="en-US" altLang="ko-KR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 F</a:t>
            </a:r>
            <a:r>
              <a:rPr lang="ko-KR" altLang="en-US" sz="1500" dirty="0">
                <a:latin typeface="HY견명조" panose="02030600000101010101" pitchFamily="18" charset="-127"/>
                <a:ea typeface="HY견명조" panose="02030600000101010101" pitchFamily="18" charset="-127"/>
              </a:rPr>
              <a:t>학점 받은 팀에 한하여 허용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22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17660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유의 사항 </a:t>
            </a:r>
            <a:r>
              <a:rPr lang="en-US" altLang="ko-KR" dirty="0">
                <a:latin typeface="+mn-ea"/>
                <a:ea typeface="+mn-ea"/>
              </a:rPr>
              <a:t>- (2)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indent="-255588" eaLnBrk="1" hangingPunct="1"/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종합설계 게시판 활용  </a:t>
            </a:r>
            <a:endParaRPr lang="en-US" altLang="ko-KR" sz="1800" b="1" dirty="0">
              <a:solidFill>
                <a:srgbClr val="227A8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0713" lvl="1" indent="-228600" eaLnBrk="1" hangingPunct="1"/>
            <a:r>
              <a:rPr lang="ko-KR" altLang="en-US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하루에 한번 씩은 학부 게시판을 확인할 것 </a:t>
            </a:r>
            <a:r>
              <a:rPr lang="en-US" altLang="ko-KR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(</a:t>
            </a:r>
            <a:r>
              <a:rPr lang="ko-KR" altLang="en-US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공지사항 서브 게시판</a:t>
            </a:r>
            <a:r>
              <a:rPr lang="en-US" altLang="ko-KR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)</a:t>
            </a:r>
          </a:p>
          <a:p>
            <a:pPr marL="620713" lvl="1" indent="-228600" eaLnBrk="1" hangingPunct="1"/>
            <a:r>
              <a:rPr lang="en-US" altLang="ko-KR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e-Class(</a:t>
            </a:r>
            <a:r>
              <a:rPr lang="ko-KR" altLang="en-US" sz="1500" dirty="0" err="1">
                <a:latin typeface="HY궁서B" panose="02030600000101010101" pitchFamily="18" charset="-127"/>
                <a:ea typeface="HY궁서B" panose="02030600000101010101" pitchFamily="18" charset="-127"/>
              </a:rPr>
              <a:t>비정규과목</a:t>
            </a:r>
            <a:r>
              <a:rPr lang="en-US" altLang="ko-KR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) : 2024 </a:t>
            </a:r>
            <a:r>
              <a:rPr lang="ko-KR" altLang="en-US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컴퓨터공학부 </a:t>
            </a:r>
            <a:r>
              <a:rPr lang="ko-KR" altLang="en-US" sz="1500" dirty="0" err="1">
                <a:latin typeface="HY궁서B" panose="02030600000101010101" pitchFamily="18" charset="-127"/>
                <a:ea typeface="HY궁서B" panose="02030600000101010101" pitchFamily="18" charset="-127"/>
              </a:rPr>
              <a:t>캡스톤디자인</a:t>
            </a:r>
            <a:r>
              <a:rPr lang="ko-KR" altLang="en-US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 </a:t>
            </a:r>
            <a:r>
              <a:rPr lang="en-US" altLang="ko-KR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(10</a:t>
            </a:r>
            <a:r>
              <a:rPr lang="ko-KR" altLang="en-US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월</a:t>
            </a:r>
            <a:r>
              <a:rPr lang="en-US" altLang="ko-KR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~ </a:t>
            </a:r>
            <a:r>
              <a:rPr lang="ko-KR" altLang="en-US" sz="1500" dirty="0" err="1">
                <a:latin typeface="HY궁서B" panose="02030600000101010101" pitchFamily="18" charset="-127"/>
                <a:ea typeface="HY궁서B" panose="02030600000101010101" pitchFamily="18" charset="-127"/>
              </a:rPr>
              <a:t>운영예정</a:t>
            </a:r>
            <a:r>
              <a:rPr lang="en-US" altLang="ko-KR" sz="1500" dirty="0">
                <a:latin typeface="HY궁서B" panose="02030600000101010101" pitchFamily="18" charset="-127"/>
                <a:ea typeface="HY궁서B" panose="02030600000101010101" pitchFamily="18" charset="-127"/>
              </a:rPr>
              <a:t>)</a:t>
            </a:r>
          </a:p>
          <a:p>
            <a:pPr marL="392113" lvl="1" indent="0" eaLnBrk="1" hangingPunct="1">
              <a:buNone/>
            </a:pPr>
            <a:endParaRPr lang="en-US" altLang="ko-KR" sz="15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858838" lvl="2" eaLnBrk="1" hangingPunct="1">
              <a:buFont typeface="Monotype Sorts" pitchFamily="2" charset="2"/>
              <a:buNone/>
            </a:pPr>
            <a:endParaRPr lang="en-US" altLang="ko-KR" sz="5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365125" indent="-255588" eaLnBrk="1" hangingPunct="1"/>
            <a:r>
              <a:rPr lang="ko-KR" altLang="en-US" sz="1800" b="1" dirty="0">
                <a:solidFill>
                  <a:srgbClr val="227A8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타인에 대한 배려 </a:t>
            </a:r>
            <a:r>
              <a:rPr lang="en-US" altLang="ko-KR" sz="1800" b="1" dirty="0">
                <a:solidFill>
                  <a:srgbClr val="227A8F"/>
                </a:solidFill>
                <a:latin typeface="+mn-ea"/>
                <a:ea typeface="+mn-ea"/>
              </a:rPr>
              <a:t>!!! </a:t>
            </a:r>
          </a:p>
          <a:p>
            <a:pPr marL="620713" lvl="1" indent="-228600" eaLnBrk="1" hangingPunct="1"/>
            <a:r>
              <a: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팀워크가 매우 중요 </a:t>
            </a:r>
            <a:endParaRPr lang="en-US" altLang="ko-KR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>
                <a:latin typeface="HY궁서B" panose="02030600000101010101" pitchFamily="18" charset="-127"/>
                <a:ea typeface="HY궁서B" panose="02030600000101010101" pitchFamily="18" charset="-127"/>
              </a:rPr>
              <a:pPr>
                <a:defRPr/>
              </a:pPr>
              <a:t>23</a:t>
            </a:fld>
            <a:endParaRPr lang="en-GB" altLang="ko-KR" dirty="0">
              <a:latin typeface="HY궁서B" panose="02030600000101010101" pitchFamily="18" charset="-127"/>
              <a:ea typeface="HY궁서B" panose="02030600000101010101" pitchFamily="18" charset="-127"/>
            </a:endParaRPr>
          </a:p>
        </p:txBody>
      </p:sp>
      <p:sp>
        <p:nvSpPr>
          <p:cNvPr id="7" name="직사각형 1"/>
          <p:cNvSpPr>
            <a:spLocks noChangeArrowheads="1"/>
          </p:cNvSpPr>
          <p:nvPr/>
        </p:nvSpPr>
        <p:spPr bwMode="auto">
          <a:xfrm>
            <a:off x="2700337" y="4365104"/>
            <a:ext cx="3743325" cy="461962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7D7DB2"/>
              </a:buClr>
              <a:buSzPct val="75000"/>
              <a:buFont typeface="Monotype Sorts" pitchFamily="2" charset="2"/>
              <a:buChar char="v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1pPr>
            <a:lvl2pPr marL="742950" indent="-285750">
              <a:spcBef>
                <a:spcPct val="20000"/>
              </a:spcBef>
              <a:buClr>
                <a:srgbClr val="3939AB"/>
              </a:buClr>
              <a:buSzPct val="60000"/>
              <a:buFont typeface="Monotype Sorts" pitchFamily="2" charset="2"/>
              <a:buChar char="n"/>
              <a:defRPr kumimoji="1" sz="20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2pPr>
            <a:lvl3pPr marL="1143000" indent="-228600">
              <a:spcBef>
                <a:spcPct val="20000"/>
              </a:spcBef>
              <a:buClr>
                <a:srgbClr val="5671BB"/>
              </a:buClr>
              <a:buSzPct val="60000"/>
              <a:buFont typeface="Monotype Sorts" pitchFamily="2" charset="2"/>
              <a:buChar char="u"/>
              <a:defRPr kumimoji="1" sz="2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3pPr>
            <a:lvl4pPr marL="1600200" indent="-228600">
              <a:spcBef>
                <a:spcPct val="20000"/>
              </a:spcBef>
              <a:buClr>
                <a:srgbClr val="5797A8"/>
              </a:buClr>
              <a:buSzPct val="60000"/>
              <a:buFont typeface="Monotype Sorts" pitchFamily="2" charset="2"/>
              <a:buChar char="l"/>
              <a:defRPr kumimoji="1" sz="16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4pPr>
            <a:lvl5pPr marL="2057400" indent="-228600">
              <a:spcBef>
                <a:spcPct val="20000"/>
              </a:spcBef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50000"/>
              <a:buFont typeface="Monotype Sorts" pitchFamily="2" charset="2"/>
              <a:buChar char="U"/>
              <a:defRPr kumimoji="1" sz="1400">
                <a:solidFill>
                  <a:srgbClr val="1C1C54"/>
                </a:solidFill>
                <a:latin typeface="Tahoma" panose="020B060403050404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20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변경 사항은 수시로 공지</a:t>
            </a:r>
          </a:p>
        </p:txBody>
      </p:sp>
    </p:spTree>
    <p:extLst>
      <p:ext uri="{BB962C8B-B14F-4D97-AF65-F5344CB8AC3E}">
        <p14:creationId xmlns:p14="http://schemas.microsoft.com/office/powerpoint/2010/main" val="356348572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4004"/>
            <a:ext cx="9144000" cy="836712"/>
          </a:xfrm>
        </p:spPr>
        <p:txBody>
          <a:bodyPr/>
          <a:lstStyle/>
          <a:p>
            <a:pPr algn="l"/>
            <a:r>
              <a:rPr lang="en-US" altLang="ko-KR" sz="6000" dirty="0">
                <a:latin typeface="Cooper Black" panose="0208090404030B020404" pitchFamily="18" charset="0"/>
                <a:ea typeface="HY궁서B" panose="02030600000101010101" pitchFamily="18" charset="-127"/>
              </a:rPr>
              <a:t>FAQ</a:t>
            </a:r>
            <a:endParaRPr lang="ko-KR" altLang="en-US" sz="6000" dirty="0">
              <a:latin typeface="Cooper Black" panose="0208090404030B020404" pitchFamily="18" charset="0"/>
              <a:ea typeface="HY궁서B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112544"/>
          </a:xfrm>
        </p:spPr>
        <p:txBody>
          <a:bodyPr/>
          <a:lstStyle/>
          <a:p>
            <a:pPr marL="0" indent="0" latinLnBrk="1">
              <a:lnSpc>
                <a:spcPts val="3000"/>
              </a:lnSpc>
              <a:buNone/>
            </a:pP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Q: </a:t>
            </a:r>
            <a:r>
              <a:rPr lang="ko-KR" altLang="en-US" sz="2000" dirty="0" err="1">
                <a:latin typeface="HY궁서B" panose="02030600000101010101" pitchFamily="18" charset="-127"/>
                <a:ea typeface="HY궁서B" panose="02030600000101010101" pitchFamily="18" charset="-127"/>
              </a:rPr>
              <a:t>조기취업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 후 종설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2 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수강은 어떻게 하나요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?</a:t>
            </a:r>
            <a:endParaRPr lang="ko-KR" altLang="en-US" sz="2000" dirty="0">
              <a:latin typeface="HY궁서B" panose="02030600000101010101" pitchFamily="18" charset="-127"/>
              <a:ea typeface="HY궁서B" panose="02030600000101010101" pitchFamily="18" charset="-127"/>
            </a:endParaRPr>
          </a:p>
          <a:p>
            <a:pPr marL="400050" lvl="1" indent="0" latinLnBrk="1">
              <a:lnSpc>
                <a:spcPts val="3000"/>
              </a:lnSpc>
              <a:buNone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대학의 방침에 따라 출석 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인정원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처리하여 수강이 가능하나 공학 대전 전시 등 중요 사항에 대하여는 참석 의무</a:t>
            </a:r>
          </a:p>
          <a:p>
            <a:pPr marL="361950" indent="-361950" latinLnBrk="1">
              <a:lnSpc>
                <a:spcPts val="3000"/>
              </a:lnSpc>
              <a:buNone/>
            </a:pP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Q: 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종설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1 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수강 후 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2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학기 휴학하고 차년도 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1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학기에 종설 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2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를 수강하는 경우는 어떻게 하나요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?</a:t>
            </a:r>
            <a:endParaRPr lang="ko-KR" altLang="en-US" sz="2000" dirty="0">
              <a:latin typeface="HY궁서B" panose="02030600000101010101" pitchFamily="18" charset="-127"/>
              <a:ea typeface="HY궁서B" panose="02030600000101010101" pitchFamily="18" charset="-127"/>
            </a:endParaRPr>
          </a:p>
          <a:p>
            <a:pPr marL="714375" lvl="1" indent="-257175" latinLnBrk="1">
              <a:lnSpc>
                <a:spcPts val="3000"/>
              </a:lnSpc>
              <a:buNone/>
            </a:pP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우선 휴학 신청 시 지도교수와 상의하고 팀원들의 동의서를 받아 제출하고</a:t>
            </a:r>
          </a:p>
          <a:p>
            <a:pPr marL="714375" lvl="1" indent="-257175" latinLnBrk="1">
              <a:lnSpc>
                <a:spcPts val="3000"/>
              </a:lnSpc>
              <a:buNone/>
            </a:pP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종설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수강 시 지도교수와 상의 하에 별도의 세션을 구성하여 제안서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데모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실물데모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원칙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일정에 따라 진행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1">
              <a:lnSpc>
                <a:spcPts val="3000"/>
              </a:lnSpc>
              <a:buNone/>
            </a:pP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Q: 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타 학과와의 </a:t>
            </a:r>
            <a:r>
              <a:rPr lang="ko-KR" altLang="en-US" sz="2000" dirty="0" err="1">
                <a:latin typeface="HY궁서B" panose="02030600000101010101" pitchFamily="18" charset="-127"/>
                <a:ea typeface="HY궁서B" panose="02030600000101010101" pitchFamily="18" charset="-127"/>
              </a:rPr>
              <a:t>융합팀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 구성은 어떻게 하나요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?</a:t>
            </a:r>
            <a:endParaRPr lang="ko-KR" altLang="en-US" sz="2000" dirty="0">
              <a:latin typeface="HY궁서B" panose="02030600000101010101" pitchFamily="18" charset="-127"/>
              <a:ea typeface="HY궁서B" panose="02030600000101010101" pitchFamily="18" charset="-127"/>
            </a:endParaRPr>
          </a:p>
          <a:p>
            <a:pPr marL="400050" lvl="1" indent="0" latinLnBrk="1">
              <a:lnSpc>
                <a:spcPts val="3000"/>
              </a:lnSpc>
              <a:buNone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팀원은 최대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명까지 가능하며 컴퓨터공학부 학생 최소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 이상이 포함 의무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latinLnBrk="1">
              <a:lnSpc>
                <a:spcPts val="3000"/>
              </a:lnSpc>
              <a:buNone/>
            </a:pP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Q: </a:t>
            </a:r>
            <a:r>
              <a:rPr lang="ko-KR" altLang="en-US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학과에서 지원하는 종설지원비는 얼마나 되나요</a:t>
            </a:r>
            <a:r>
              <a:rPr lang="en-US" altLang="ko-KR" sz="2000" dirty="0">
                <a:latin typeface="HY궁서B" panose="02030600000101010101" pitchFamily="18" charset="-127"/>
                <a:ea typeface="HY궁서B" panose="02030600000101010101" pitchFamily="18" charset="-127"/>
              </a:rPr>
              <a:t>?</a:t>
            </a:r>
            <a:endParaRPr lang="ko-KR" altLang="en-US" sz="2000" dirty="0">
              <a:latin typeface="HY궁서B" panose="02030600000101010101" pitchFamily="18" charset="-127"/>
              <a:ea typeface="HY궁서B" panose="02030600000101010101" pitchFamily="18" charset="-127"/>
            </a:endParaRPr>
          </a:p>
          <a:p>
            <a:pPr marL="457200" lvl="1" indent="0" latinLnBrk="1">
              <a:lnSpc>
                <a:spcPts val="3000"/>
              </a:lnSpc>
              <a:buNone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작년 기준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인당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인팀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 경우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만원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정도이며 예산 범위에 따라 변동 가능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/>
              <a:pPr>
                <a:defRPr/>
              </a:pPr>
              <a:t>24</a:t>
            </a:fld>
            <a:endParaRPr lang="en-GB" altLang="ko-KR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6" r="57592" b="2649"/>
          <a:stretch/>
        </p:blipFill>
        <p:spPr bwMode="auto">
          <a:xfrm>
            <a:off x="7433909" y="0"/>
            <a:ext cx="1674595" cy="148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594493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팀 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미구성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학생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팀원 결정 못한 학생들 </a:t>
            </a:r>
            <a:endParaRPr lang="en-US" altLang="ko-KR" dirty="0"/>
          </a:p>
          <a:p>
            <a:r>
              <a:rPr lang="ko-KR" altLang="en-US" dirty="0"/>
              <a:t>학생들 의견</a:t>
            </a:r>
            <a:endParaRPr lang="en-US" altLang="ko-KR" dirty="0"/>
          </a:p>
          <a:p>
            <a:r>
              <a:rPr lang="ko-KR" altLang="en-US" dirty="0" err="1"/>
              <a:t>미구성</a:t>
            </a:r>
            <a:r>
              <a:rPr lang="ko-KR" altLang="en-US" dirty="0"/>
              <a:t> 학생들 끼리 팀 구성</a:t>
            </a:r>
            <a:endParaRPr lang="en-US" altLang="ko-KR" dirty="0"/>
          </a:p>
          <a:p>
            <a:r>
              <a:rPr lang="ko-KR" altLang="en-US"/>
              <a:t>다른 의견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B06B84-4094-43DB-877A-65675D826FF7}" type="slidenum">
              <a:rPr lang="en-GB" altLang="ko-KR" smtClean="0"/>
              <a:pPr>
                <a:defRPr/>
              </a:pPr>
              <a:t>25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83028766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010143"/>
      </p:ext>
    </p:extLst>
  </p:cSld>
  <p:clrMapOvr>
    <a:masterClrMapping/>
  </p:clrMapOvr>
</p:sld>
</file>

<file path=ppt/theme/theme1.xml><?xml version="1.0" encoding="utf-8"?>
<a:theme xmlns:a="http://schemas.openxmlformats.org/drawingml/2006/main" name="socgroup">
  <a:themeElements>
    <a:clrScheme name="">
      <a:dk1>
        <a:srgbClr val="1C1C54"/>
      </a:dk1>
      <a:lt1>
        <a:srgbClr val="FFFFFF"/>
      </a:lt1>
      <a:dk2>
        <a:srgbClr val="1C1C54"/>
      </a:dk2>
      <a:lt2>
        <a:srgbClr val="5F5F5F"/>
      </a:lt2>
      <a:accent1>
        <a:srgbClr val="FFFFFF"/>
      </a:accent1>
      <a:accent2>
        <a:srgbClr val="003399"/>
      </a:accent2>
      <a:accent3>
        <a:srgbClr val="FFFFFF"/>
      </a:accent3>
      <a:accent4>
        <a:srgbClr val="161646"/>
      </a:accent4>
      <a:accent5>
        <a:srgbClr val="FFFFFF"/>
      </a:accent5>
      <a:accent6>
        <a:srgbClr val="002D8A"/>
      </a:accent6>
      <a:hlink>
        <a:srgbClr val="FF9900"/>
      </a:hlink>
      <a:folHlink>
        <a:srgbClr val="993300"/>
      </a:folHlink>
    </a:clrScheme>
    <a:fontScheme name="socgroup">
      <a:majorFont>
        <a:latin typeface="Tahoma"/>
        <a:ea typeface="굴림체"/>
        <a:cs typeface=""/>
      </a:majorFont>
      <a:minorFont>
        <a:latin typeface="Tahoma"/>
        <a:ea typeface="굴림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socgroup 1">
        <a:dk1>
          <a:srgbClr val="000066"/>
        </a:dk1>
        <a:lt1>
          <a:srgbClr val="CCECFF"/>
        </a:lt1>
        <a:dk2>
          <a:srgbClr val="0000CC"/>
        </a:dk2>
        <a:lt2>
          <a:srgbClr val="CCFFFF"/>
        </a:lt2>
        <a:accent1>
          <a:srgbClr val="CC99FF"/>
        </a:accent1>
        <a:accent2>
          <a:srgbClr val="9999FF"/>
        </a:accent2>
        <a:accent3>
          <a:srgbClr val="AAAAE2"/>
        </a:accent3>
        <a:accent4>
          <a:srgbClr val="AEC9DA"/>
        </a:accent4>
        <a:accent5>
          <a:srgbClr val="E2CAFF"/>
        </a:accent5>
        <a:accent6>
          <a:srgbClr val="8A8AE7"/>
        </a:accent6>
        <a:hlink>
          <a:srgbClr val="99CCFF"/>
        </a:hlink>
        <a:folHlink>
          <a:srgbClr val="00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cgroup 2">
        <a:dk1>
          <a:srgbClr val="000066"/>
        </a:dk1>
        <a:lt1>
          <a:srgbClr val="CCECFF"/>
        </a:lt1>
        <a:dk2>
          <a:srgbClr val="6699FF"/>
        </a:dk2>
        <a:lt2>
          <a:srgbClr val="CCFFFF"/>
        </a:lt2>
        <a:accent1>
          <a:srgbClr val="CC99FF"/>
        </a:accent1>
        <a:accent2>
          <a:srgbClr val="9999FF"/>
        </a:accent2>
        <a:accent3>
          <a:srgbClr val="B8CAFF"/>
        </a:accent3>
        <a:accent4>
          <a:srgbClr val="AEC9DA"/>
        </a:accent4>
        <a:accent5>
          <a:srgbClr val="E2CAFF"/>
        </a:accent5>
        <a:accent6>
          <a:srgbClr val="8A8AE7"/>
        </a:accent6>
        <a:hlink>
          <a:srgbClr val="99CCFF"/>
        </a:hlink>
        <a:folHlink>
          <a:srgbClr val="00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cgroup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cgroup 4">
        <a:dk1>
          <a:srgbClr val="008000"/>
        </a:dk1>
        <a:lt1>
          <a:srgbClr val="FFFFFF"/>
        </a:lt1>
        <a:dk2>
          <a:srgbClr val="006600"/>
        </a:dk2>
        <a:lt2>
          <a:srgbClr val="CCCC00"/>
        </a:lt2>
        <a:accent1>
          <a:srgbClr val="00CC99"/>
        </a:accent1>
        <a:accent2>
          <a:srgbClr val="FFFF00"/>
        </a:accent2>
        <a:accent3>
          <a:srgbClr val="AAB8AA"/>
        </a:accent3>
        <a:accent4>
          <a:srgbClr val="DADADA"/>
        </a:accent4>
        <a:accent5>
          <a:srgbClr val="AAE2CA"/>
        </a:accent5>
        <a:accent6>
          <a:srgbClr val="E7E7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socgroup</Template>
  <TotalTime>20175</TotalTime>
  <Words>1883</Words>
  <Application>Microsoft Office PowerPoint</Application>
  <PresentationFormat>화면 슬라이드 쇼(4:3)</PresentationFormat>
  <Paragraphs>355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9" baseType="lpstr">
      <vt:lpstr>HY견고딕</vt:lpstr>
      <vt:lpstr>HY견명조</vt:lpstr>
      <vt:lpstr>HY궁서B</vt:lpstr>
      <vt:lpstr>KoPub돋움체 Bold</vt:lpstr>
      <vt:lpstr>KoPub돋움체 Medium</vt:lpstr>
      <vt:lpstr>Monotype Sorts</vt:lpstr>
      <vt:lpstr>굴림</vt:lpstr>
      <vt:lpstr>맑은 고딕</vt:lpstr>
      <vt:lpstr>Cooper Black</vt:lpstr>
      <vt:lpstr>Tahoma</vt:lpstr>
      <vt:lpstr>Verdana</vt:lpstr>
      <vt:lpstr>Wingdings</vt:lpstr>
      <vt:lpstr>socgroup</vt:lpstr>
      <vt:lpstr> 2024. 09.   컴퓨터공학부  한국공학대학교</vt:lpstr>
      <vt:lpstr>목차</vt:lpstr>
      <vt:lpstr>종합설계의 목적</vt:lpstr>
      <vt:lpstr>용어 정의</vt:lpstr>
      <vt:lpstr>전년대비 주요 변경 사항</vt:lpstr>
      <vt:lpstr>종합설계 수행 일정 - (1)</vt:lpstr>
      <vt:lpstr>종합설계 수행 일정 - (2)</vt:lpstr>
      <vt:lpstr>종합설계 수행 절차 - (1)</vt:lpstr>
      <vt:lpstr>종합설계 수행 절차 - (2)</vt:lpstr>
      <vt:lpstr>종합설계 수행 절차 - (3)</vt:lpstr>
      <vt:lpstr>종합설계 수행 절차 - (4)</vt:lpstr>
      <vt:lpstr>종합설계 주제 선정</vt:lpstr>
      <vt:lpstr>종합설계 주제 선정 범위</vt:lpstr>
      <vt:lpstr>종합설계 문서 예: 계획서, 작품설명서 - (1)</vt:lpstr>
      <vt:lpstr>종합설계 문서 예: 논문 - (2)</vt:lpstr>
      <vt:lpstr>종합설계 규정 - (1)</vt:lpstr>
      <vt:lpstr>종합설계 규정 - (2)</vt:lpstr>
      <vt:lpstr>성적 산출 방법 - (1)</vt:lpstr>
      <vt:lpstr>성적 산출 방법 - (2)</vt:lpstr>
      <vt:lpstr>성적 산출 방법 - (3)</vt:lpstr>
      <vt:lpstr>일정에 맞추어 진행하지 못하는 경우</vt:lpstr>
      <vt:lpstr>기타 유의 사항 - (1)</vt:lpstr>
      <vt:lpstr>기타 유의 사항 - (2)</vt:lpstr>
      <vt:lpstr>FAQ</vt:lpstr>
      <vt:lpstr>팀 미구성 학생?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컴퓨터공학과</dc:creator>
  <cp:lastModifiedBy>GWANGIL JEON</cp:lastModifiedBy>
  <cp:revision>346</cp:revision>
  <cp:lastPrinted>2022-11-01T10:59:31Z</cp:lastPrinted>
  <dcterms:created xsi:type="dcterms:W3CDTF">1601-01-01T00:00:00Z</dcterms:created>
  <dcterms:modified xsi:type="dcterms:W3CDTF">2025-06-07T15:39:00Z</dcterms:modified>
</cp:coreProperties>
</file>