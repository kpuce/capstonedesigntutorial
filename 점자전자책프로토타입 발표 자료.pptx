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6" r:id="rId2"/>
    <p:sldId id="269" r:id="rId3"/>
    <p:sldId id="268" r:id="rId4"/>
    <p:sldId id="270" r:id="rId5"/>
    <p:sldId id="271" r:id="rId6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EAFE"/>
    <a:srgbClr val="CC6600"/>
    <a:srgbClr val="E6AF00"/>
    <a:srgbClr val="A8EEFE"/>
    <a:srgbClr val="7C5989"/>
    <a:srgbClr val="000066"/>
    <a:srgbClr val="333399"/>
    <a:srgbClr val="FFFFFF"/>
    <a:srgbClr val="336699"/>
    <a:srgbClr val="5F5F5F"/>
  </p:clrMru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24" autoAdjust="0"/>
    <p:restoredTop sz="93659" autoAdjust="0"/>
  </p:normalViewPr>
  <p:slideViewPr>
    <p:cSldViewPr>
      <p:cViewPr varScale="1">
        <p:scale>
          <a:sx n="72" d="100"/>
          <a:sy n="72" d="100"/>
        </p:scale>
        <p:origin x="-111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84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085D3-576E-4D5E-9120-7E042969C733}" type="datetimeFigureOut">
              <a:rPr lang="ko-KR" altLang="en-US" smtClean="0"/>
              <a:pPr/>
              <a:t>2010-06-24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AD505-C548-4F6A-8715-7129F047543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429000"/>
            <a:ext cx="9144000" cy="609600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altLang="ko-K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88" y="4038600"/>
            <a:ext cx="9104312" cy="304800"/>
          </a:xfrm>
        </p:spPr>
        <p:txBody>
          <a:bodyPr/>
          <a:lstStyle>
            <a:lvl1pPr marL="0" indent="0">
              <a:buFontTx/>
              <a:buNone/>
              <a:defRPr sz="1400" b="1"/>
            </a:lvl1pPr>
          </a:lstStyle>
          <a:p>
            <a:r>
              <a:rPr lang="ko-KR" altLang="en-US" dirty="0" smtClean="0"/>
              <a:t>마스터 부제목 스타일 편집</a:t>
            </a:r>
            <a:endParaRPr lang="en-US" altLang="ko-KR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fld id="{EC18C2B8-7E44-4B9E-80ED-F439A7DA737B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720" y="0"/>
            <a:ext cx="8858280" cy="714356"/>
          </a:xfrm>
        </p:spPr>
        <p:txBody>
          <a:bodyPr/>
          <a:lstStyle>
            <a:lvl1pPr>
              <a:defRPr b="1">
                <a:effectLst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686444"/>
          </a:xfrm>
        </p:spPr>
        <p:txBody>
          <a:bodyPr/>
          <a:lstStyle>
            <a:lvl1pPr>
              <a:defRPr i="0"/>
            </a:lvl1pPr>
            <a:lvl2pPr>
              <a:buFont typeface="Wingdings" pitchFamily="2" charset="2"/>
              <a:buChar char="ü"/>
              <a:defRPr i="0"/>
            </a:lvl2pPr>
            <a:lvl3pPr>
              <a:buFont typeface="Wingdings" pitchFamily="2" charset="2"/>
              <a:buChar char="Ø"/>
              <a:defRPr i="0"/>
            </a:lvl3pPr>
            <a:lvl4pPr>
              <a:defRPr i="0"/>
            </a:lvl4pPr>
            <a:lvl5pPr>
              <a:defRPr i="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8C99F7-DBA8-486D-A074-127B66FA54D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D44DA3-2A3C-46C9-9239-E9DF9723D13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0" y="457200"/>
            <a:ext cx="44958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457200"/>
            <a:ext cx="44958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F7B839-7E1C-4D38-AD0D-325823C19C3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07FEA-00B1-496D-B76C-5044BADCD63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FF1458-307D-4486-91B8-8794761A87A0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CF3344-13B3-40A3-B0D0-1E0E4A71314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49A619-7943-46B6-B674-681A488A710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9A0A54-381D-41BF-8436-23567EA3F23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86F12D-DAF0-424A-845F-1990A9610DB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4008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4008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B8D4A0-139A-4BB7-83F3-62E39359DBA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457200"/>
            <a:ext cx="9144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  <a:endParaRPr lang="en-US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294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47C5DF82-5DD5-421C-A76A-CA86624644D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2000" b="1" i="1">
          <a:solidFill>
            <a:srgbClr val="5F5F5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•"/>
        <a:defRPr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600"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3" Type="http://schemas.openxmlformats.org/officeDocument/2006/relationships/image" Target="../media/image6.gif"/><Relationship Id="rId7" Type="http://schemas.openxmlformats.org/officeDocument/2006/relationships/image" Target="../media/image10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5" Type="http://schemas.openxmlformats.org/officeDocument/2006/relationships/image" Target="../media/image8.gif"/><Relationship Id="rId4" Type="http://schemas.openxmlformats.org/officeDocument/2006/relationships/image" Target="../media/image7.gif"/><Relationship Id="rId9" Type="http://schemas.openxmlformats.org/officeDocument/2006/relationships/image" Target="../media/image1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747962"/>
            <a:ext cx="9144000" cy="609600"/>
          </a:xfrm>
        </p:spPr>
        <p:txBody>
          <a:bodyPr/>
          <a:lstStyle/>
          <a:p>
            <a:r>
              <a:rPr lang="ko-KR" altLang="en-US" dirty="0" smtClean="0"/>
              <a:t>점자 </a:t>
            </a:r>
            <a:r>
              <a:rPr lang="ko-KR" altLang="en-US" dirty="0" err="1" smtClean="0"/>
              <a:t>출력기를</a:t>
            </a:r>
            <a:r>
              <a:rPr lang="ko-KR" altLang="en-US" dirty="0" smtClean="0"/>
              <a:t> 이용한 시각장애인 용 전자 책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88" y="3571876"/>
            <a:ext cx="9104312" cy="304800"/>
          </a:xfrm>
        </p:spPr>
        <p:txBody>
          <a:bodyPr/>
          <a:lstStyle/>
          <a:p>
            <a:r>
              <a:rPr lang="en-US" altLang="ko-KR" dirty="0" smtClean="0">
                <a:ea typeface="굴림" charset="-127"/>
              </a:rPr>
              <a:t>E-Book for the blind Using Braille Display</a:t>
            </a:r>
            <a:endParaRPr lang="en-US" altLang="ko-KR" dirty="0">
              <a:ea typeface="굴림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구현내용</a:t>
            </a:r>
            <a:r>
              <a:rPr lang="en-US" altLang="ko-KR" dirty="0" smtClean="0"/>
              <a:t>(</a:t>
            </a:r>
            <a:r>
              <a:rPr lang="ko-KR" altLang="en-US" dirty="0" smtClean="0"/>
              <a:t>계속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i="0" dirty="0" smtClean="0">
              <a:ea typeface="굴림" charset="-127"/>
            </a:endParaRPr>
          </a:p>
          <a:p>
            <a:r>
              <a:rPr lang="en-US" altLang="ko-KR" i="0" dirty="0" smtClean="0"/>
              <a:t>1.1 </a:t>
            </a:r>
            <a:r>
              <a:rPr lang="ko-KR" altLang="en-US" i="0" dirty="0" smtClean="0"/>
              <a:t>구현내용</a:t>
            </a:r>
            <a:endParaRPr lang="en-US" altLang="ko-KR" i="0" dirty="0" smtClean="0"/>
          </a:p>
          <a:p>
            <a:pPr lvl="1"/>
            <a:r>
              <a:rPr lang="ko-KR" altLang="en-US" dirty="0" smtClean="0"/>
              <a:t>처음보기 기능 구현 완료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(</a:t>
            </a:r>
            <a:r>
              <a:rPr lang="ko-KR" altLang="en-US" dirty="0" smtClean="0"/>
              <a:t>변환 기능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Epub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변환 알고리즘 구현 완료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(</a:t>
            </a:r>
            <a:r>
              <a:rPr lang="ko-KR" altLang="en-US" dirty="0" smtClean="0"/>
              <a:t>리스트 기능</a:t>
            </a:r>
            <a:r>
              <a:rPr lang="en-US" altLang="ko-KR" dirty="0" smtClean="0"/>
              <a:t>) </a:t>
            </a:r>
            <a:r>
              <a:rPr lang="ko-KR" altLang="en-US" dirty="0" smtClean="0"/>
              <a:t>책 목록 출력 기능 구현 완료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1"/>
            <a:r>
              <a:rPr lang="ko-KR" altLang="en-US" dirty="0" smtClean="0"/>
              <a:t>점자 </a:t>
            </a:r>
            <a:r>
              <a:rPr lang="ko-KR" altLang="en-US" dirty="0" err="1" smtClean="0"/>
              <a:t>출력기</a:t>
            </a:r>
            <a:r>
              <a:rPr lang="ko-KR" altLang="en-US" dirty="0" smtClean="0"/>
              <a:t> 사용을 위한 </a:t>
            </a:r>
            <a:r>
              <a:rPr lang="en-US" altLang="ko-KR" dirty="0" smtClean="0"/>
              <a:t>Device Driver </a:t>
            </a:r>
            <a:r>
              <a:rPr lang="ko-KR" altLang="en-US" dirty="0" smtClean="0"/>
              <a:t>작성 완료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(</a:t>
            </a:r>
            <a:r>
              <a:rPr lang="ko-KR" altLang="en-US" dirty="0" smtClean="0"/>
              <a:t>입력 기능</a:t>
            </a:r>
            <a:r>
              <a:rPr lang="en-US" altLang="ko-KR" dirty="0" smtClean="0"/>
              <a:t>) </a:t>
            </a:r>
            <a:r>
              <a:rPr lang="ko-KR" altLang="en-US" dirty="0" err="1" smtClean="0"/>
              <a:t>점자출력기의</a:t>
            </a:r>
            <a:r>
              <a:rPr lang="ko-KR" altLang="en-US" dirty="0" smtClean="0"/>
              <a:t> 버튼을 컨트롤 하기 위한 기능 구현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(</a:t>
            </a:r>
            <a:r>
              <a:rPr lang="ko-KR" altLang="en-US" dirty="0" smtClean="0"/>
              <a:t>출력 기능</a:t>
            </a:r>
            <a:r>
              <a:rPr lang="en-US" altLang="ko-KR" dirty="0" smtClean="0"/>
              <a:t>) </a:t>
            </a:r>
            <a:r>
              <a:rPr lang="ko-KR" altLang="en-US" dirty="0" err="1" smtClean="0"/>
              <a:t>점자출력기로</a:t>
            </a:r>
            <a:r>
              <a:rPr lang="ko-KR" altLang="en-US" dirty="0" smtClean="0"/>
              <a:t> 점자 코드 전송을 위한 기능 구현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1"/>
            <a:r>
              <a:rPr lang="en-US" altLang="ko-KR" dirty="0" smtClean="0"/>
              <a:t>Unicode</a:t>
            </a:r>
            <a:r>
              <a:rPr lang="ko-KR" altLang="en-US" dirty="0" smtClean="0"/>
              <a:t> </a:t>
            </a:r>
            <a:r>
              <a:rPr lang="en-US" altLang="ko-KR" dirty="0" smtClean="0"/>
              <a:t>String</a:t>
            </a:r>
            <a:r>
              <a:rPr lang="ko-KR" altLang="en-US" dirty="0" smtClean="0"/>
              <a:t> </a:t>
            </a:r>
            <a:r>
              <a:rPr lang="en-US" altLang="ko-KR" dirty="0" smtClean="0"/>
              <a:t>to Braille Code </a:t>
            </a:r>
            <a:r>
              <a:rPr lang="ko-KR" altLang="en-US" dirty="0" smtClean="0"/>
              <a:t>변환 알고리즘 구현 완료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한국점자규정에 맞춘 점자 표기법으로의 변환 알고리즘 구현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한글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숫자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지원가능한</a:t>
            </a:r>
            <a:r>
              <a:rPr lang="ko-KR" altLang="en-US" dirty="0" smtClean="0"/>
              <a:t> 특수문자 출력 가능</a:t>
            </a:r>
            <a:endParaRPr lang="en-US" altLang="ko-KR" dirty="0" smtClean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구현내용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None/>
            </a:pPr>
            <a:endParaRPr lang="en-US" altLang="ko-KR" i="0" dirty="0" smtClean="0"/>
          </a:p>
          <a:p>
            <a:pPr lvl="1">
              <a:buNone/>
            </a:pPr>
            <a:endParaRPr lang="en-US" altLang="ko-KR" dirty="0" smtClean="0"/>
          </a:p>
          <a:p>
            <a:pPr lvl="1"/>
            <a:r>
              <a:rPr lang="ko-KR" altLang="en-US" dirty="0" smtClean="0"/>
              <a:t>이어보기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이전 읽었던 내용부터 읽기</a:t>
            </a:r>
            <a:r>
              <a:rPr lang="en-US" altLang="ko-KR" dirty="0" smtClean="0"/>
              <a:t>)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해당 책에 대한 최근에 읽었던 부분부터 이어보기 기능 수행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i="0" dirty="0" smtClean="0"/>
              <a:t>책갈피 기능</a:t>
            </a:r>
            <a:endParaRPr lang="en-US" altLang="ko-KR" i="0" dirty="0" smtClean="0"/>
          </a:p>
          <a:p>
            <a:pPr lvl="2"/>
            <a:r>
              <a:rPr lang="ko-KR" altLang="en-US" dirty="0" smtClean="0"/>
              <a:t>저장하고자 하는 페이지에 대한 책갈피 저장 기능</a:t>
            </a:r>
            <a:endParaRPr lang="en-US" altLang="ko-KR" dirty="0" smtClean="0"/>
          </a:p>
          <a:p>
            <a:pPr lvl="2"/>
            <a:r>
              <a:rPr lang="ko-KR" altLang="en-US" i="0" dirty="0" smtClean="0"/>
              <a:t>초기 메뉴에서 저장된 책갈피를 선택하여 해당 페이지부터 책 읽기 기능 수행</a:t>
            </a:r>
            <a:endParaRPr lang="en-US" altLang="ko-KR" dirty="0" smtClean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기능 설명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None/>
            </a:pPr>
            <a:endParaRPr lang="en-US" altLang="ko-KR" i="0" dirty="0" smtClean="0"/>
          </a:p>
          <a:p>
            <a:r>
              <a:rPr lang="en-US" altLang="ko-KR" dirty="0" smtClean="0"/>
              <a:t>2.1 </a:t>
            </a:r>
            <a:r>
              <a:rPr lang="ko-KR" altLang="en-US" dirty="0" smtClean="0"/>
              <a:t>전체 기기 설명</a:t>
            </a:r>
            <a:endParaRPr lang="en-US" altLang="ko-KR" dirty="0" smtClean="0"/>
          </a:p>
        </p:txBody>
      </p:sp>
      <p:pic>
        <p:nvPicPr>
          <p:cNvPr id="1026" name="Picture 2" descr="C:\Users\JMsource\Desktop\프로토타윕\01_01_전체구성품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213" y="1643050"/>
            <a:ext cx="7620001" cy="3124200"/>
          </a:xfrm>
          <a:prstGeom prst="rect">
            <a:avLst/>
          </a:prstGeom>
          <a:noFill/>
        </p:spPr>
      </p:pic>
      <p:sp>
        <p:nvSpPr>
          <p:cNvPr id="5" name="타원 4"/>
          <p:cNvSpPr/>
          <p:nvPr/>
        </p:nvSpPr>
        <p:spPr bwMode="auto">
          <a:xfrm>
            <a:off x="3643306" y="3429000"/>
            <a:ext cx="357190" cy="35719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타원 5"/>
          <p:cNvSpPr/>
          <p:nvPr/>
        </p:nvSpPr>
        <p:spPr bwMode="auto">
          <a:xfrm>
            <a:off x="3643306" y="3786190"/>
            <a:ext cx="357190" cy="35719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타원 6"/>
          <p:cNvSpPr/>
          <p:nvPr/>
        </p:nvSpPr>
        <p:spPr bwMode="auto">
          <a:xfrm>
            <a:off x="7715272" y="3286124"/>
            <a:ext cx="357190" cy="35719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타원 7"/>
          <p:cNvSpPr/>
          <p:nvPr/>
        </p:nvSpPr>
        <p:spPr bwMode="auto">
          <a:xfrm>
            <a:off x="7715272" y="3643314"/>
            <a:ext cx="357190" cy="35719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14744" y="3000372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메뉴</a:t>
            </a:r>
            <a:r>
              <a:rPr lang="en-US" altLang="ko-KR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선택</a:t>
            </a:r>
            <a:endParaRPr lang="ko-KR" altLang="en-US" sz="1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14744" y="41312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취소</a:t>
            </a:r>
            <a:endParaRPr lang="ko-KR" altLang="en-US" sz="1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86446" y="4000504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메뉴</a:t>
            </a:r>
            <a:r>
              <a:rPr lang="en-US" altLang="ko-KR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페이지 </a:t>
            </a:r>
            <a:r>
              <a:rPr lang="en-US" altLang="ko-KR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Down</a:t>
            </a:r>
            <a:endParaRPr lang="ko-KR" altLang="en-US" sz="1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23992" y="3000372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메뉴</a:t>
            </a:r>
            <a:r>
              <a:rPr lang="en-US" altLang="ko-KR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페이지 </a:t>
            </a:r>
            <a:r>
              <a:rPr lang="en-US" altLang="ko-KR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Up</a:t>
            </a:r>
            <a:endParaRPr lang="ko-KR" altLang="en-US" sz="1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071538" y="1928802"/>
            <a:ext cx="1785950" cy="21431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28992" y="1071546"/>
            <a:ext cx="2285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Testing</a:t>
            </a:r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을 위한 화면</a:t>
            </a:r>
            <a:endParaRPr lang="ko-KR" altLang="en-US" sz="1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6" name="직선 화살표 연결선 15"/>
          <p:cNvCxnSpPr/>
          <p:nvPr/>
        </p:nvCxnSpPr>
        <p:spPr bwMode="auto">
          <a:xfrm rot="10800000" flipV="1">
            <a:off x="2500298" y="1357298"/>
            <a:ext cx="1000132" cy="42862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028" name="Picture 4" descr="C:\Users\JMsource\Desktop\프로토타윕\03_점자출력화면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4348" y="5000636"/>
            <a:ext cx="7620000" cy="1247776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기능 설명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742952"/>
            <a:ext cx="8858280" cy="5686444"/>
          </a:xfrm>
        </p:spPr>
        <p:txBody>
          <a:bodyPr/>
          <a:lstStyle/>
          <a:p>
            <a:pPr lvl="1">
              <a:buNone/>
            </a:pPr>
            <a:endParaRPr lang="en-US" altLang="ko-KR" dirty="0" smtClean="0"/>
          </a:p>
          <a:p>
            <a:r>
              <a:rPr lang="en-US" altLang="ko-KR" dirty="0" smtClean="0"/>
              <a:t>2.2 </a:t>
            </a:r>
            <a:r>
              <a:rPr lang="ko-KR" altLang="en-US" dirty="0" smtClean="0"/>
              <a:t>세부 수행 내용</a:t>
            </a:r>
            <a:endParaRPr lang="en-US" altLang="ko-KR" dirty="0" smtClean="0"/>
          </a:p>
        </p:txBody>
      </p:sp>
      <p:pic>
        <p:nvPicPr>
          <p:cNvPr id="2050" name="Picture 2" descr="C:\Users\JMsource\Desktop\프로토타윕\02_기본출력화면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1643049"/>
            <a:ext cx="3143272" cy="14380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1" name="Picture 3" descr="C:\Users\JMsource\Desktop\프로토타윕\04_01_책리스트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4348" y="3320057"/>
            <a:ext cx="3143272" cy="13948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2" name="Picture 4" descr="C:\Users\JMsource\Desktop\프로토타윕\04_02_책리스트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4348" y="4987420"/>
            <a:ext cx="3143272" cy="14419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3" name="Picture 5" descr="C:\Users\JMsource\Desktop\프로토타윕\05_01_처음보기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86379" y="2786058"/>
            <a:ext cx="3286148" cy="14459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4" name="Picture 6" descr="C:\Users\JMsource\Desktop\프로토타윕\05_02_처음보기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86380" y="4585224"/>
            <a:ext cx="3286148" cy="14869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5" descr="C:\Users\JMsource\Desktop\프로토타윕\06_02_오른쪽버튼.gi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32574" y="928670"/>
            <a:ext cx="952500" cy="1123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6" descr="C:\Users\JMsource\Desktop\프로토타윕\06_01_왼쪽버튼.gi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786314" y="928670"/>
            <a:ext cx="952500" cy="1123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/>
          <p:cNvSpPr txBox="1"/>
          <p:nvPr/>
        </p:nvSpPr>
        <p:spPr>
          <a:xfrm>
            <a:off x="3244078" y="105829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①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96070" y="148692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④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06426" y="10601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③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22428" y="152360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②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화살표 연결선 19"/>
          <p:cNvCxnSpPr/>
          <p:nvPr/>
        </p:nvCxnSpPr>
        <p:spPr bwMode="auto">
          <a:xfrm>
            <a:off x="4643438" y="1285860"/>
            <a:ext cx="42862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직선 화살표 연결선 20"/>
          <p:cNvCxnSpPr/>
          <p:nvPr/>
        </p:nvCxnSpPr>
        <p:spPr bwMode="auto">
          <a:xfrm>
            <a:off x="4643438" y="1714488"/>
            <a:ext cx="558986" cy="1425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직선 화살표 연결선 24"/>
          <p:cNvCxnSpPr/>
          <p:nvPr/>
        </p:nvCxnSpPr>
        <p:spPr bwMode="auto">
          <a:xfrm rot="10800000" flipV="1">
            <a:off x="7604078" y="1285860"/>
            <a:ext cx="571504" cy="1425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직선 화살표 연결선 29"/>
          <p:cNvCxnSpPr/>
          <p:nvPr/>
        </p:nvCxnSpPr>
        <p:spPr bwMode="auto">
          <a:xfrm rot="10800000" flipV="1">
            <a:off x="7532640" y="1714488"/>
            <a:ext cx="642942" cy="1425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왼쪽으로 구부러진 화살표 32"/>
          <p:cNvSpPr/>
          <p:nvPr/>
        </p:nvSpPr>
        <p:spPr bwMode="auto">
          <a:xfrm>
            <a:off x="2857488" y="2357430"/>
            <a:ext cx="857256" cy="1928826"/>
          </a:xfrm>
          <a:prstGeom prst="curvedLeftArrow">
            <a:avLst/>
          </a:prstGeom>
          <a:gradFill flip="none" rotWithShape="1">
            <a:gsLst>
              <a:gs pos="0">
                <a:srgbClr val="96EAFE">
                  <a:shade val="30000"/>
                  <a:satMod val="115000"/>
                </a:srgbClr>
              </a:gs>
              <a:gs pos="50000">
                <a:srgbClr val="96EAFE">
                  <a:shade val="67500"/>
                  <a:satMod val="115000"/>
                </a:srgbClr>
              </a:gs>
              <a:gs pos="100000">
                <a:srgbClr val="96EAFE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4" name="왼쪽으로 구부러진 화살표 33"/>
          <p:cNvSpPr/>
          <p:nvPr/>
        </p:nvSpPr>
        <p:spPr bwMode="auto">
          <a:xfrm>
            <a:off x="2857488" y="4357694"/>
            <a:ext cx="857256" cy="1928826"/>
          </a:xfrm>
          <a:prstGeom prst="curvedLeftArrow">
            <a:avLst/>
          </a:prstGeom>
          <a:gradFill flip="none" rotWithShape="1">
            <a:gsLst>
              <a:gs pos="0">
                <a:srgbClr val="96EAFE">
                  <a:shade val="30000"/>
                  <a:satMod val="115000"/>
                </a:srgbClr>
              </a:gs>
              <a:gs pos="50000">
                <a:srgbClr val="96EAFE">
                  <a:shade val="67500"/>
                  <a:satMod val="115000"/>
                </a:srgbClr>
              </a:gs>
              <a:gs pos="100000">
                <a:srgbClr val="96EAFE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5" name="왼쪽으로 구부러진 화살표 34"/>
          <p:cNvSpPr/>
          <p:nvPr/>
        </p:nvSpPr>
        <p:spPr bwMode="auto">
          <a:xfrm rot="10800000">
            <a:off x="285720" y="4143380"/>
            <a:ext cx="857256" cy="1928826"/>
          </a:xfrm>
          <a:prstGeom prst="curvedLeftArrow">
            <a:avLst/>
          </a:prstGeom>
          <a:gradFill flip="none" rotWithShape="1">
            <a:gsLst>
              <a:gs pos="0">
                <a:srgbClr val="96EAFE">
                  <a:shade val="30000"/>
                  <a:satMod val="115000"/>
                </a:srgbClr>
              </a:gs>
              <a:gs pos="50000">
                <a:srgbClr val="96EAFE">
                  <a:shade val="67500"/>
                  <a:satMod val="115000"/>
                </a:srgbClr>
              </a:gs>
              <a:gs pos="100000">
                <a:srgbClr val="96EAFE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6" name="왼쪽으로 구부러진 화살표 35"/>
          <p:cNvSpPr/>
          <p:nvPr/>
        </p:nvSpPr>
        <p:spPr bwMode="auto">
          <a:xfrm rot="10800000">
            <a:off x="285719" y="2071678"/>
            <a:ext cx="857256" cy="1928826"/>
          </a:xfrm>
          <a:prstGeom prst="curvedLeftArrow">
            <a:avLst/>
          </a:prstGeom>
          <a:gradFill flip="none" rotWithShape="1">
            <a:gsLst>
              <a:gs pos="0">
                <a:srgbClr val="96EAFE">
                  <a:shade val="30000"/>
                  <a:satMod val="115000"/>
                </a:srgbClr>
              </a:gs>
              <a:gs pos="50000">
                <a:srgbClr val="96EAFE">
                  <a:shade val="67500"/>
                  <a:satMod val="115000"/>
                </a:srgbClr>
              </a:gs>
              <a:gs pos="100000">
                <a:srgbClr val="96EAFE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7" name="오른쪽 화살표 36"/>
          <p:cNvSpPr/>
          <p:nvPr/>
        </p:nvSpPr>
        <p:spPr bwMode="auto">
          <a:xfrm rot="18125658">
            <a:off x="2716909" y="4559860"/>
            <a:ext cx="3508562" cy="428628"/>
          </a:xfrm>
          <a:prstGeom prst="rightArrow">
            <a:avLst/>
          </a:prstGeom>
          <a:gradFill flip="none" rotWithShape="1">
            <a:gsLst>
              <a:gs pos="0">
                <a:srgbClr val="96EAFE">
                  <a:shade val="30000"/>
                  <a:satMod val="115000"/>
                </a:srgbClr>
              </a:gs>
              <a:gs pos="50000">
                <a:srgbClr val="96EAFE">
                  <a:shade val="67500"/>
                  <a:satMod val="115000"/>
                </a:srgbClr>
              </a:gs>
              <a:gs pos="100000">
                <a:srgbClr val="96EAFE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8" name="왼쪽으로 구부러진 화살표 37"/>
          <p:cNvSpPr/>
          <p:nvPr/>
        </p:nvSpPr>
        <p:spPr bwMode="auto">
          <a:xfrm>
            <a:off x="7715272" y="4071942"/>
            <a:ext cx="857256" cy="1928826"/>
          </a:xfrm>
          <a:prstGeom prst="curvedLeftArrow">
            <a:avLst/>
          </a:prstGeom>
          <a:gradFill flip="none" rotWithShape="1">
            <a:gsLst>
              <a:gs pos="0">
                <a:srgbClr val="96EAFE">
                  <a:shade val="30000"/>
                  <a:satMod val="115000"/>
                </a:srgbClr>
              </a:gs>
              <a:gs pos="50000">
                <a:srgbClr val="96EAFE">
                  <a:shade val="67500"/>
                  <a:satMod val="115000"/>
                </a:srgbClr>
              </a:gs>
              <a:gs pos="100000">
                <a:srgbClr val="96EAFE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9" name="왼쪽으로 구부러진 화살표 38"/>
          <p:cNvSpPr/>
          <p:nvPr/>
        </p:nvSpPr>
        <p:spPr bwMode="auto">
          <a:xfrm rot="10800000">
            <a:off x="5143504" y="3857628"/>
            <a:ext cx="857256" cy="1928826"/>
          </a:xfrm>
          <a:prstGeom prst="curvedLeftArrow">
            <a:avLst/>
          </a:prstGeom>
          <a:gradFill flip="none" rotWithShape="1">
            <a:gsLst>
              <a:gs pos="0">
                <a:srgbClr val="96EAFE">
                  <a:shade val="30000"/>
                  <a:satMod val="115000"/>
                </a:srgbClr>
              </a:gs>
              <a:gs pos="50000">
                <a:srgbClr val="96EAFE">
                  <a:shade val="67500"/>
                  <a:satMod val="115000"/>
                </a:srgbClr>
              </a:gs>
              <a:gs pos="100000">
                <a:srgbClr val="96EAFE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14744" y="300037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①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86248" y="400050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①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3306" y="464344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④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0" y="442913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③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-71470" y="24288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②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560010" y="471488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④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786314" y="492919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③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21756" y="1084798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메뉴</a:t>
            </a:r>
            <a:r>
              <a:rPr lang="en-US" altLang="ko-KR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선택</a:t>
            </a:r>
            <a:endParaRPr lang="ko-KR" altLang="en-US" sz="1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80008" y="15451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취소</a:t>
            </a:r>
            <a:endParaRPr lang="ko-KR" altLang="en-US" sz="1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408212" y="107154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Up</a:t>
            </a:r>
            <a:endParaRPr lang="ko-KR" altLang="en-US" sz="1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355318" y="1531856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Down</a:t>
            </a:r>
            <a:endParaRPr lang="ko-KR" altLang="en-US" sz="18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ological_awakening">
  <a:themeElements>
    <a:clrScheme name="Office 테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Eurostile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technological_awakening</Template>
  <TotalTime>741</TotalTime>
  <Words>190</Words>
  <Application>Microsoft Office PowerPoint</Application>
  <PresentationFormat>화면 슬라이드 쇼(4:3)</PresentationFormat>
  <Paragraphs>51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technological_awakening</vt:lpstr>
      <vt:lpstr>점자 출력기를 이용한 시각장애인 용 전자 책 </vt:lpstr>
      <vt:lpstr>1. 구현내용(계속)</vt:lpstr>
      <vt:lpstr>1. 구현내용</vt:lpstr>
      <vt:lpstr>2. 기능 설명</vt:lpstr>
      <vt:lpstr>2. 기능 설명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Technological Awakening</dc:title>
  <dc:creator>JMsource</dc:creator>
  <cp:lastModifiedBy>JMsource</cp:lastModifiedBy>
  <cp:revision>105</cp:revision>
  <dcterms:created xsi:type="dcterms:W3CDTF">2009-12-21T01:59:51Z</dcterms:created>
  <dcterms:modified xsi:type="dcterms:W3CDTF">2010-06-24T13:02:32Z</dcterms:modified>
</cp:coreProperties>
</file>