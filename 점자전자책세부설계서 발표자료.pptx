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emf" ContentType="image/x-emf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66" r:id="rId2"/>
    <p:sldId id="265" r:id="rId3"/>
    <p:sldId id="267" r:id="rId4"/>
    <p:sldId id="283" r:id="rId5"/>
    <p:sldId id="268" r:id="rId6"/>
    <p:sldId id="287" r:id="rId7"/>
    <p:sldId id="277" r:id="rId8"/>
    <p:sldId id="286" r:id="rId9"/>
    <p:sldId id="280" r:id="rId10"/>
    <p:sldId id="270" r:id="rId11"/>
    <p:sldId id="285" r:id="rId12"/>
    <p:sldId id="281" r:id="rId13"/>
    <p:sldId id="271" r:id="rId14"/>
    <p:sldId id="282" r:id="rId15"/>
    <p:sldId id="284" r:id="rId16"/>
    <p:sldId id="274" r:id="rId17"/>
    <p:sldId id="275" r:id="rId18"/>
    <p:sldId id="276" r:id="rId19"/>
  </p:sldIdLst>
  <p:sldSz cx="9144000" cy="6858000" type="screen4x3"/>
  <p:notesSz cx="6797675" cy="9928225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1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1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1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1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xmlns:mc="http://schemas.openxmlformats.org/markup-compatibility/2006" xmlns:a14="http://schemas.microsoft.com/office/drawing/2010/main" val="FF0000" mc:Ignorable="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CC6600"/>
    <a:srgbClr val="E6AF00"/>
    <a:srgbClr val="A8EEFE"/>
    <a:srgbClr val="96EAFE"/>
    <a:srgbClr val="7C5989"/>
    <a:srgbClr val="000066"/>
    <a:srgbClr val="333399"/>
    <a:srgbClr val="FFFFFF"/>
    <a:srgbClr val="336699"/>
    <a:srgbClr val="5F5F5F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밝은 스타일 2 - 강조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24" autoAdjust="0"/>
    <p:restoredTop sz="93659" autoAdjust="0"/>
  </p:normalViewPr>
  <p:slideViewPr>
    <p:cSldViewPr>
      <p:cViewPr>
        <p:scale>
          <a:sx n="76" d="100"/>
          <a:sy n="76" d="100"/>
        </p:scale>
        <p:origin x="-984" y="-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1878" y="-84"/>
      </p:cViewPr>
      <p:guideLst>
        <p:guide orient="horz" pos="3127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A085D3-576E-4D5E-9120-7E042969C733}" type="datetimeFigureOut">
              <a:rPr lang="ko-KR" altLang="en-US" smtClean="0"/>
              <a:pPr/>
              <a:t>2010-02-17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7AD505-C548-4F6A-8715-7129F047543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xmlns="" val="2550334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A7AD505-C548-4F6A-8715-7129F047543D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3429000"/>
            <a:ext cx="9144000" cy="609600"/>
          </a:xfrm>
        </p:spPr>
        <p:txBody>
          <a:bodyPr/>
          <a:lstStyle>
            <a:lvl1pPr>
              <a:defRPr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en-US" altLang="ko-KR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688" y="4038600"/>
            <a:ext cx="9104312" cy="304800"/>
          </a:xfrm>
        </p:spPr>
        <p:txBody>
          <a:bodyPr/>
          <a:lstStyle>
            <a:lvl1pPr marL="0" indent="0">
              <a:buFontTx/>
              <a:buNone/>
              <a:defRPr sz="1400" b="1"/>
            </a:lvl1pPr>
          </a:lstStyle>
          <a:p>
            <a:r>
              <a:rPr lang="ko-KR" altLang="en-US" dirty="0" smtClean="0"/>
              <a:t>마스터 부제목 스타일 편집</a:t>
            </a:r>
            <a:endParaRPr lang="en-US" altLang="ko-KR" dirty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endParaRPr lang="en-US" altLang="ko-KR" dirty="0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endParaRPr lang="en-US" altLang="ko-KR" dirty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 b="0">
                <a:solidFill>
                  <a:srgbClr val="5F5F5F"/>
                </a:solidFill>
              </a:defRPr>
            </a:lvl1pPr>
          </a:lstStyle>
          <a:p>
            <a:fld id="{EC18C2B8-7E44-4B9E-80ED-F439A7DA737B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85720" y="0"/>
            <a:ext cx="8858280" cy="714356"/>
          </a:xfrm>
        </p:spPr>
        <p:txBody>
          <a:bodyPr/>
          <a:lstStyle>
            <a:lvl1pPr>
              <a:defRPr b="1">
                <a:effectLst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5720" y="714356"/>
            <a:ext cx="8858280" cy="5686444"/>
          </a:xfrm>
        </p:spPr>
        <p:txBody>
          <a:bodyPr/>
          <a:lstStyle>
            <a:lvl1pPr>
              <a:defRPr i="0"/>
            </a:lvl1pPr>
            <a:lvl2pPr>
              <a:buFont typeface="Wingdings" pitchFamily="2" charset="2"/>
              <a:buChar char="ü"/>
              <a:defRPr i="0"/>
            </a:lvl2pPr>
            <a:lvl3pPr>
              <a:buFont typeface="Wingdings" pitchFamily="2" charset="2"/>
              <a:buChar char="Ø"/>
              <a:defRPr i="0"/>
            </a:lvl3pPr>
            <a:lvl4pPr>
              <a:defRPr i="0"/>
            </a:lvl4pPr>
            <a:lvl5pPr>
              <a:defRPr i="0"/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88C99F7-DBA8-486D-A074-127B66FA54DE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BD44DA3-2A3C-46C9-9239-E9DF9723D13C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0" y="457200"/>
            <a:ext cx="449580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457200"/>
            <a:ext cx="4495800" cy="5943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F7B839-7E1C-4D38-AD0D-325823C19C34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507FEA-00B1-496D-B76C-5044BADCD632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FF1458-307D-4486-91B8-8794761A87A0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CF3344-13B3-40A3-B0D0-1E0E4A713144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149A619-7943-46B6-B674-681A488A7101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dirty="0" smtClean="0"/>
              <a:t>그림을 추가하려면 아이콘을 클릭하십시오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9A0A54-381D-41BF-8436-23567EA3F23E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86F12D-DAF0-424A-845F-1990A9610DB1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0"/>
            <a:ext cx="2286000" cy="6400800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0"/>
            <a:ext cx="6705600" cy="6400800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B8D4A0-139A-4BB7-83F3-62E39359DBAF}" type="slidenum">
              <a:rPr lang="en-US" altLang="ko-KR"/>
              <a:pPr/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Rectangle 33"/>
          <p:cNvSpPr>
            <a:spLocks noChangeArrowheads="1"/>
          </p:cNvSpPr>
          <p:nvPr/>
        </p:nvSpPr>
        <p:spPr bwMode="auto">
          <a:xfrm>
            <a:off x="0" y="0"/>
            <a:ext cx="9144000" cy="4984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ko-KR" altLang="en-US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0" y="457200"/>
            <a:ext cx="9144000" cy="5943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altLang="ko-KR" dirty="0" smtClean="0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 smtClean="0"/>
              <a:t>마스터 제목 스타일 편집</a:t>
            </a:r>
            <a:endParaRPr lang="en-US" altLang="ko-KR" dirty="0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629400"/>
            <a:ext cx="28956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endParaRPr lang="en-US" altLang="ko-KR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fld id="{47C5DF82-5DD5-421C-A76A-CA86624644D8}" type="slidenum">
              <a:rPr lang="en-US" altLang="ko-KR" smtClean="0"/>
              <a:pPr/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 thruBlk="1"/>
  </p:transition>
  <p:timing>
    <p:tnLst>
      <p:par>
        <p:cTn id="1" dur="indefinite" restart="never" nodeType="tmRoot"/>
      </p:par>
    </p:tnLst>
  </p:timing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맑은 고딕" pitchFamily="50" charset="-127"/>
          <a:ea typeface="맑은 고딕" pitchFamily="50" charset="-127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rgbClr val="5F5F5F"/>
          </a:solidFill>
          <a:latin typeface="Eurostile" pitchFamily="34" charset="0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Char char="•"/>
        <a:defRPr sz="2000" b="1" i="1">
          <a:solidFill>
            <a:srgbClr val="5F5F5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Char char="•"/>
        <a:defRPr b="1" i="1">
          <a:solidFill>
            <a:srgbClr val="5F5F5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600" b="1" i="1">
          <a:solidFill>
            <a:srgbClr val="5F5F5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b="1" i="1">
          <a:solidFill>
            <a:srgbClr val="5F5F5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b="1" i="1">
          <a:solidFill>
            <a:srgbClr val="5F5F5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sz="1400" i="1">
          <a:solidFill>
            <a:srgbClr val="5F5F5F"/>
          </a:solidFill>
          <a:latin typeface="+mn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0" y="2928934"/>
            <a:ext cx="9144000" cy="609600"/>
          </a:xfrm>
        </p:spPr>
        <p:txBody>
          <a:bodyPr/>
          <a:lstStyle/>
          <a:p>
            <a:r>
              <a:rPr lang="ko-KR" altLang="en-US" dirty="0" smtClean="0"/>
              <a:t>점자 출력 기를 이용한 시각장애인 용 전자 책</a:t>
            </a:r>
            <a:endParaRPr lang="en-US" altLang="ko-KR" dirty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9688" y="3571876"/>
            <a:ext cx="9104312" cy="304800"/>
          </a:xfrm>
        </p:spPr>
        <p:txBody>
          <a:bodyPr/>
          <a:lstStyle/>
          <a:p>
            <a:r>
              <a:rPr lang="en-US" altLang="ko-KR" dirty="0" smtClean="0">
                <a:ea typeface="굴림" charset="-127"/>
              </a:rPr>
              <a:t>E-Book for the blind Using Braille Display</a:t>
            </a:r>
            <a:endParaRPr lang="en-US" altLang="ko-KR" dirty="0">
              <a:ea typeface="굴림" charset="-127"/>
            </a:endParaRPr>
          </a:p>
        </p:txBody>
      </p:sp>
      <p:sp>
        <p:nvSpPr>
          <p:cNvPr id="6" name="Rectangle 5"/>
          <p:cNvSpPr txBox="1">
            <a:spLocks noChangeArrowheads="1"/>
          </p:cNvSpPr>
          <p:nvPr/>
        </p:nvSpPr>
        <p:spPr bwMode="gray">
          <a:xfrm>
            <a:off x="142844" y="5357832"/>
            <a:ext cx="4370387" cy="785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l" latinLnBrk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kumimoji="0" lang="en-US" altLang="ko-KR" sz="1200" b="1" kern="0" dirty="0" smtClean="0">
                <a:latin typeface="맑은 고딕" pitchFamily="50" charset="-127"/>
                <a:ea typeface="맑은 고딕" pitchFamily="50" charset="-127"/>
              </a:rPr>
              <a:t>2004151005   </a:t>
            </a:r>
            <a:r>
              <a:rPr kumimoji="0" lang="ko-KR" altLang="en-US" sz="1200" b="1" kern="0" dirty="0" smtClean="0">
                <a:latin typeface="맑은 고딕" pitchFamily="50" charset="-127"/>
                <a:ea typeface="맑은 고딕" pitchFamily="50" charset="-127"/>
              </a:rPr>
              <a:t>권   혁</a:t>
            </a:r>
            <a:r>
              <a:rPr kumimoji="0" lang="en-US" altLang="ko-KR" sz="1200" b="1" kern="0" dirty="0" smtClean="0">
                <a:latin typeface="맑은 고딕" pitchFamily="50" charset="-127"/>
                <a:ea typeface="맑은 고딕" pitchFamily="50" charset="-127"/>
              </a:rPr>
              <a:t>	</a:t>
            </a:r>
            <a:r>
              <a:rPr kumimoji="0" lang="ko-KR" altLang="en-US" sz="1200" b="1" kern="0" dirty="0" smtClean="0">
                <a:latin typeface="맑은 고딕" pitchFamily="50" charset="-127"/>
                <a:ea typeface="맑은 고딕" pitchFamily="50" charset="-127"/>
              </a:rPr>
              <a:t>전광일 교수님</a:t>
            </a:r>
            <a:endParaRPr kumimoji="0" lang="en-US" altLang="ko-KR" sz="1200" b="1" kern="0" dirty="0" smtClean="0">
              <a:latin typeface="맑은 고딕" pitchFamily="50" charset="-127"/>
              <a:ea typeface="맑은 고딕" pitchFamily="50" charset="-127"/>
            </a:endParaRPr>
          </a:p>
          <a:p>
            <a:pPr algn="l" latinLnBrk="0">
              <a:spcBef>
                <a:spcPct val="20000"/>
              </a:spcBef>
              <a:buClr>
                <a:schemeClr val="hlink"/>
              </a:buClr>
              <a:defRPr/>
            </a:pPr>
            <a:r>
              <a:rPr kumimoji="0" lang="en-US" altLang="ko-KR" sz="1200" b="1" kern="0" dirty="0" smtClean="0">
                <a:latin typeface="맑은 고딕" pitchFamily="50" charset="-127"/>
                <a:ea typeface="맑은 고딕" pitchFamily="50" charset="-127"/>
              </a:rPr>
              <a:t>2004153011   </a:t>
            </a:r>
            <a:r>
              <a:rPr kumimoji="0" lang="ko-KR" altLang="en-US" sz="1200" b="1" kern="0" dirty="0" smtClean="0">
                <a:latin typeface="맑은 고딕" pitchFamily="50" charset="-127"/>
                <a:ea typeface="맑은 고딕" pitchFamily="50" charset="-127"/>
              </a:rPr>
              <a:t>김제민</a:t>
            </a:r>
            <a:r>
              <a:rPr kumimoji="0" lang="en-US" altLang="ko-KR" sz="1200" b="1" kern="0" dirty="0" smtClean="0">
                <a:latin typeface="맑은 고딕" pitchFamily="50" charset="-127"/>
                <a:ea typeface="맑은 고딕" pitchFamily="50" charset="-127"/>
              </a:rPr>
              <a:t>	</a:t>
            </a:r>
            <a:r>
              <a:rPr kumimoji="0" lang="ko-KR" altLang="en-US" sz="1200" b="1" kern="0" dirty="0" smtClean="0">
                <a:latin typeface="맑은 고딕" pitchFamily="50" charset="-127"/>
                <a:ea typeface="맑은 고딕" pitchFamily="50" charset="-127"/>
              </a:rPr>
              <a:t>전광일 교수님</a:t>
            </a:r>
            <a:endParaRPr kumimoji="0" lang="en-US" altLang="ko-KR" sz="1200" b="1" kern="0" dirty="0" smtClean="0">
              <a:latin typeface="맑은 고딕" pitchFamily="50" charset="-127"/>
              <a:ea typeface="맑은 고딕" pitchFamily="50" charset="-127"/>
            </a:endParaRPr>
          </a:p>
          <a:p>
            <a:pPr algn="l" latinLnBrk="0">
              <a:spcBef>
                <a:spcPct val="20000"/>
              </a:spcBef>
              <a:buClr>
                <a:schemeClr val="hlink"/>
              </a:buClr>
              <a:defRPr/>
            </a:pPr>
            <a:r>
              <a:rPr kumimoji="0" lang="en-US" altLang="ko-KR" sz="1200" b="1" kern="0" dirty="0" smtClean="0">
                <a:latin typeface="맑은 고딕" pitchFamily="50" charset="-127"/>
                <a:ea typeface="맑은 고딕" pitchFamily="50" charset="-127"/>
              </a:rPr>
              <a:t>2006153049	</a:t>
            </a:r>
            <a:r>
              <a:rPr lang="en-US" altLang="ko-KR" sz="1200" b="1" kern="0" dirty="0" smtClean="0">
                <a:latin typeface="맑은 고딕" pitchFamily="50" charset="-127"/>
                <a:ea typeface="맑은 고딕" pitchFamily="50" charset="-127"/>
              </a:rPr>
              <a:t>   </a:t>
            </a:r>
            <a:r>
              <a:rPr kumimoji="0" lang="ko-KR" altLang="en-US" sz="1200" b="1" kern="0" dirty="0" smtClean="0">
                <a:latin typeface="맑은 고딕" pitchFamily="50" charset="-127"/>
                <a:ea typeface="맑은 고딕" pitchFamily="50" charset="-127"/>
              </a:rPr>
              <a:t>홍은지</a:t>
            </a:r>
            <a:r>
              <a:rPr kumimoji="0" lang="en-US" altLang="ko-KR" sz="1200" b="1" kern="0" dirty="0" smtClean="0">
                <a:latin typeface="맑은 고딕" pitchFamily="50" charset="-127"/>
                <a:ea typeface="맑은 고딕" pitchFamily="50" charset="-127"/>
              </a:rPr>
              <a:t>	</a:t>
            </a:r>
            <a:r>
              <a:rPr kumimoji="0" lang="ko-KR" altLang="en-US" sz="1200" b="1" kern="0" dirty="0" smtClean="0">
                <a:latin typeface="맑은 고딕" pitchFamily="50" charset="-127"/>
                <a:ea typeface="맑은 고딕" pitchFamily="50" charset="-127"/>
              </a:rPr>
              <a:t>전광일 교수님</a:t>
            </a:r>
            <a:endParaRPr kumimoji="0" lang="en-US" altLang="ko-KR" sz="1200" b="1" kern="0" dirty="0" smtClean="0">
              <a:latin typeface="맑은 고딕" pitchFamily="50" charset="-127"/>
              <a:ea typeface="맑은 고딕" pitchFamily="50" charset="-127"/>
            </a:endParaRPr>
          </a:p>
          <a:p>
            <a:pPr algn="l" latinLnBrk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kumimoji="0" lang="en-US" altLang="ko-KR" sz="1200" b="1" kern="0" dirty="0" smtClean="0">
              <a:latin typeface="맑은 고딕" pitchFamily="50" charset="-127"/>
              <a:ea typeface="맑은 고딕" pitchFamily="50" charset="-127"/>
            </a:endParaRPr>
          </a:p>
          <a:p>
            <a:pPr algn="l" latinLnBrk="0">
              <a:spcBef>
                <a:spcPct val="20000"/>
              </a:spcBef>
              <a:buClr>
                <a:schemeClr val="hlink"/>
              </a:buClr>
              <a:buFont typeface="Wingdings" pitchFamily="2" charset="2"/>
              <a:buNone/>
              <a:defRPr/>
            </a:pPr>
            <a:endParaRPr kumimoji="0" lang="ko-KR" altLang="en-US" sz="1200" b="1" kern="0" dirty="0">
              <a:latin typeface="맑은 고딕" pitchFamily="50" charset="-127"/>
              <a:ea typeface="맑은 고딕" pitchFamily="50" charset="-127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/>
        </p:nvGraphicFramePr>
        <p:xfrm>
          <a:off x="428596" y="285728"/>
          <a:ext cx="1850266" cy="1280160"/>
        </p:xfrm>
        <a:graphic>
          <a:graphicData uri="http://schemas.openxmlformats.org/drawingml/2006/table">
            <a:tbl>
              <a:tblPr firstRow="1" bandRow="1">
                <a:tableStyleId>{284E427A-3D55-4303-BF80-6455036E1DE7}</a:tableStyleId>
              </a:tblPr>
              <a:tblGrid>
                <a:gridCol w="428628"/>
                <a:gridCol w="1421638"/>
              </a:tblGrid>
              <a:tr h="341647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지도교수 확인</a:t>
                      </a:r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80502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전</a:t>
                      </a:r>
                      <a:endParaRPr lang="en-US" altLang="ko-KR" b="1" dirty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r>
                        <a:rPr lang="ko-KR" altLang="en-US" b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광</a:t>
                      </a:r>
                      <a:endParaRPr lang="en-US" altLang="ko-KR" b="1" dirty="0" smtClean="0">
                        <a:solidFill>
                          <a:schemeClr val="bg1">
                            <a:lumMod val="8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latinLnBrk="1"/>
                      <a:r>
                        <a:rPr lang="ko-KR" altLang="en-US" b="1" dirty="0" smtClean="0">
                          <a:solidFill>
                            <a:schemeClr val="bg1">
                              <a:lumMod val="8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일</a:t>
                      </a:r>
                      <a:endParaRPr lang="ko-KR" altLang="en-US" b="1" dirty="0">
                        <a:solidFill>
                          <a:schemeClr val="bg1">
                            <a:lumMod val="8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>
                <a:ea typeface="굴림" charset="-127"/>
              </a:rPr>
              <a:t>CONTENT</a:t>
            </a:r>
            <a:endParaRPr lang="en-US" altLang="ko-KR" dirty="0">
              <a:ea typeface="굴림" charset="-127"/>
            </a:endParaRPr>
          </a:p>
        </p:txBody>
      </p:sp>
      <p:sp>
        <p:nvSpPr>
          <p:cNvPr id="44" name="대각선 방향의 모서리가 둥근 사각형 43"/>
          <p:cNvSpPr/>
          <p:nvPr/>
        </p:nvSpPr>
        <p:spPr bwMode="auto">
          <a:xfrm>
            <a:off x="857224" y="875472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ko-KR" sz="18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       1. </a:t>
            </a:r>
            <a:r>
              <a:rPr lang="ko-KR" altLang="en-US" sz="18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졸업 연구 개요</a:t>
            </a:r>
            <a:endParaRPr kumimoji="0" lang="ko-KR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1" name="대각선 방향의 모서리가 둥근 사각형 90"/>
          <p:cNvSpPr/>
          <p:nvPr/>
        </p:nvSpPr>
        <p:spPr bwMode="auto">
          <a:xfrm>
            <a:off x="857224" y="1429876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2. </a:t>
            </a:r>
            <a:r>
              <a:rPr lang="ko-KR" altLang="en-US" sz="18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시스템 구성도</a:t>
            </a:r>
            <a:endParaRPr kumimoji="0" lang="ko-KR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92" name="대각선 방향의 모서리가 둥근 사각형 91"/>
          <p:cNvSpPr/>
          <p:nvPr/>
        </p:nvSpPr>
        <p:spPr bwMode="auto">
          <a:xfrm>
            <a:off x="857224" y="2009360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3.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시스템 설계도</a:t>
            </a:r>
          </a:p>
        </p:txBody>
      </p:sp>
      <p:sp>
        <p:nvSpPr>
          <p:cNvPr id="93" name="대각선 방향의 모서리가 둥근 사각형 92"/>
          <p:cNvSpPr/>
          <p:nvPr/>
        </p:nvSpPr>
        <p:spPr bwMode="auto">
          <a:xfrm>
            <a:off x="857224" y="2568324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4.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상세 설계도</a:t>
            </a:r>
          </a:p>
        </p:txBody>
      </p:sp>
      <p:sp>
        <p:nvSpPr>
          <p:cNvPr id="94" name="대각선 방향의 모서리가 둥근 사각형 93"/>
          <p:cNvSpPr/>
          <p:nvPr/>
        </p:nvSpPr>
        <p:spPr bwMode="auto">
          <a:xfrm>
            <a:off x="857224" y="3144388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5.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시험 절차서</a:t>
            </a:r>
          </a:p>
        </p:txBody>
      </p:sp>
      <p:sp>
        <p:nvSpPr>
          <p:cNvPr id="95" name="대각선 방향의 모서리가 둥근 사각형 94"/>
          <p:cNvSpPr/>
          <p:nvPr/>
        </p:nvSpPr>
        <p:spPr bwMode="auto">
          <a:xfrm>
            <a:off x="857224" y="3720452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6.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데모환경 설계서</a:t>
            </a:r>
          </a:p>
        </p:txBody>
      </p:sp>
      <p:sp>
        <p:nvSpPr>
          <p:cNvPr id="96" name="대각선 방향의 모서리가 둥근 사각형 95"/>
          <p:cNvSpPr/>
          <p:nvPr/>
        </p:nvSpPr>
        <p:spPr bwMode="auto">
          <a:xfrm>
            <a:off x="857224" y="4296516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7.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업무분담</a:t>
            </a:r>
          </a:p>
        </p:txBody>
      </p:sp>
      <p:sp>
        <p:nvSpPr>
          <p:cNvPr id="97" name="대각선 방향의 모서리가 둥근 사각형 96"/>
          <p:cNvSpPr/>
          <p:nvPr/>
        </p:nvSpPr>
        <p:spPr bwMode="auto">
          <a:xfrm>
            <a:off x="857224" y="4872580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8.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문제점 및 해결 방안</a:t>
            </a:r>
          </a:p>
        </p:txBody>
      </p:sp>
      <p:sp>
        <p:nvSpPr>
          <p:cNvPr id="98" name="대각선 방향의 모서리가 둥근 사각형 97"/>
          <p:cNvSpPr/>
          <p:nvPr/>
        </p:nvSpPr>
        <p:spPr bwMode="auto">
          <a:xfrm>
            <a:off x="857224" y="5448644"/>
            <a:ext cx="4286280" cy="428628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      9.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졸업연구 수행일정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졸업 연구 개요</a:t>
            </a:r>
            <a:endParaRPr lang="en-US" altLang="ko-KR" dirty="0"/>
          </a:p>
        </p:txBody>
      </p:sp>
      <p:sp>
        <p:nvSpPr>
          <p:cNvPr id="4" name="대각선 방향의 모서리가 둥근 사각형 3"/>
          <p:cNvSpPr/>
          <p:nvPr/>
        </p:nvSpPr>
        <p:spPr bwMode="auto">
          <a:xfrm>
            <a:off x="785786" y="1071546"/>
            <a:ext cx="7500990" cy="857256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점자 입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/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출력 기반의 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E-Book </a:t>
            </a:r>
            <a:r>
              <a:rPr lang="ko-KR" altLang="en-US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구현</a:t>
            </a:r>
            <a:endParaRPr kumimoji="0" lang="ko-KR" alt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5" name="대각선 방향의 모서리가 둥근 사각형 4"/>
          <p:cNvSpPr/>
          <p:nvPr/>
        </p:nvSpPr>
        <p:spPr bwMode="auto">
          <a:xfrm>
            <a:off x="785786" y="2214554"/>
            <a:ext cx="7500990" cy="857256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점자를 이용한 다양한 문서</a:t>
            </a:r>
            <a:r>
              <a:rPr kumimoji="0" lang="en-US" altLang="ko-KR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,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서적을 지원</a:t>
            </a:r>
          </a:p>
        </p:txBody>
      </p:sp>
      <p:sp>
        <p:nvSpPr>
          <p:cNvPr id="6" name="대각선 방향의 모서리가 둥근 사각형 5"/>
          <p:cNvSpPr/>
          <p:nvPr/>
        </p:nvSpPr>
        <p:spPr bwMode="auto">
          <a:xfrm>
            <a:off x="785786" y="3429000"/>
            <a:ext cx="7500990" cy="857256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기존의 부정확한 음성을 </a:t>
            </a:r>
            <a:r>
              <a:rPr lang="ko-KR" altLang="en-US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점자 출력으로 </a:t>
            </a: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대체</a:t>
            </a:r>
          </a:p>
        </p:txBody>
      </p:sp>
      <p:sp>
        <p:nvSpPr>
          <p:cNvPr id="7" name="대각선 방향의 모서리가 둥근 사각형 6"/>
          <p:cNvSpPr/>
          <p:nvPr/>
        </p:nvSpPr>
        <p:spPr bwMode="auto">
          <a:xfrm>
            <a:off x="785786" y="4643446"/>
            <a:ext cx="7500990" cy="857256"/>
          </a:xfrm>
          <a:prstGeom prst="round2DiagRect">
            <a:avLst/>
          </a:prstGeom>
          <a:ln>
            <a:headEnd type="none" w="med" len="med"/>
            <a:tailEnd type="none" w="med" len="med"/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시각장애인의 접근 성을 높임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시스템 구성도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i="0" dirty="0" smtClean="0">
              <a:ea typeface="굴림" charset="-127"/>
            </a:endParaRPr>
          </a:p>
          <a:p>
            <a:endParaRPr lang="en-US" altLang="ko-KR" i="0" dirty="0" smtClean="0">
              <a:ea typeface="굴림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pic>
        <p:nvPicPr>
          <p:cNvPr id="7169" name="_x117045392" descr="EMB0000162038c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07428" y="1037346"/>
            <a:ext cx="7679348" cy="432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xmlns:mc="http://schemas.openxmlformats.org/markup-compatibility/2006" val="FFFFFF" mc:Ignorable="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80262130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시스템 구성도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i="0" dirty="0" smtClean="0">
              <a:ea typeface="굴림" charset="-127"/>
            </a:endParaRPr>
          </a:p>
          <a:p>
            <a:endParaRPr lang="en-US" altLang="ko-KR" i="0" dirty="0" smtClean="0">
              <a:ea typeface="굴림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pic>
        <p:nvPicPr>
          <p:cNvPr id="1025" name="_x117044672" descr="EMB0000162038b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323729"/>
            <a:ext cx="5976664" cy="4193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xmlns:mc="http://schemas.openxmlformats.org/markup-compatibility/2006" val="FFFFFF" mc:Ignorable=""/>
                </a:solidFill>
              </a14:hiddenFill>
            </a:ext>
          </a:extLst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시스템 구성도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i="0" dirty="0" smtClean="0">
              <a:ea typeface="굴림" charset="-127"/>
            </a:endParaRPr>
          </a:p>
          <a:p>
            <a:endParaRPr lang="en-US" altLang="ko-KR" i="0" dirty="0" smtClean="0">
              <a:ea typeface="굴림" charset="-127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85852" y="1714488"/>
            <a:ext cx="6215106" cy="3751777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7" name="모서리가 둥근 직사각형 6"/>
          <p:cNvSpPr/>
          <p:nvPr/>
        </p:nvSpPr>
        <p:spPr bwMode="auto">
          <a:xfrm>
            <a:off x="4429124" y="642918"/>
            <a:ext cx="2143140" cy="57150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ko-KR" altLang="en-US" sz="18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이전 페이지 </a:t>
            </a:r>
            <a:r>
              <a:rPr lang="en-US" altLang="ko-KR" sz="18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/ </a:t>
            </a:r>
            <a:r>
              <a:rPr lang="ko-KR" altLang="en-US" sz="1800" b="1" dirty="0" smtClean="0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rPr>
              <a:t>상</a:t>
            </a:r>
            <a:endParaRPr kumimoji="0" lang="ko-KR" altLang="en-US" sz="1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모서리가 둥근 직사각형 7"/>
          <p:cNvSpPr/>
          <p:nvPr/>
        </p:nvSpPr>
        <p:spPr bwMode="auto">
          <a:xfrm>
            <a:off x="6786578" y="642918"/>
            <a:ext cx="2143140" cy="57150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다음 페이지 </a:t>
            </a: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/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하</a:t>
            </a:r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214282" y="5572140"/>
            <a:ext cx="2143140" cy="57150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메 </a:t>
            </a:r>
            <a:r>
              <a:rPr kumimoji="0" lang="ko-KR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뉴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</a:t>
            </a:r>
            <a:r>
              <a:rPr kumimoji="0" lang="en-US" altLang="ko-KR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/ 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선택</a:t>
            </a:r>
          </a:p>
        </p:txBody>
      </p:sp>
      <p:cxnSp>
        <p:nvCxnSpPr>
          <p:cNvPr id="12" name="꺾인 연결선 11"/>
          <p:cNvCxnSpPr>
            <a:stCxn id="7" idx="2"/>
          </p:cNvCxnSpPr>
          <p:nvPr/>
        </p:nvCxnSpPr>
        <p:spPr bwMode="auto">
          <a:xfrm rot="16200000" flipH="1">
            <a:off x="5357818" y="1357298"/>
            <a:ext cx="1571636" cy="128588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49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4" name="꺾인 연결선 13"/>
          <p:cNvCxnSpPr>
            <a:stCxn id="8" idx="2"/>
          </p:cNvCxnSpPr>
          <p:nvPr/>
        </p:nvCxnSpPr>
        <p:spPr bwMode="auto">
          <a:xfrm rot="5400000">
            <a:off x="6465107" y="1678769"/>
            <a:ext cx="1857388" cy="92869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49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꺾인 연결선 15"/>
          <p:cNvCxnSpPr>
            <a:stCxn id="9" idx="0"/>
          </p:cNvCxnSpPr>
          <p:nvPr/>
        </p:nvCxnSpPr>
        <p:spPr bwMode="auto">
          <a:xfrm rot="5400000" flipH="1" flipV="1">
            <a:off x="1000100" y="4357694"/>
            <a:ext cx="1500198" cy="928694"/>
          </a:xfrm>
          <a:prstGeom prst="bentConnector3">
            <a:avLst>
              <a:gd name="adj1" fmla="val 50000"/>
            </a:avLst>
          </a:prstGeom>
          <a:solidFill>
            <a:schemeClr val="accent1"/>
          </a:solidFill>
          <a:ln w="349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8" name="꺾인 연결선 17"/>
          <p:cNvCxnSpPr/>
          <p:nvPr/>
        </p:nvCxnSpPr>
        <p:spPr bwMode="auto">
          <a:xfrm rot="16200000" flipV="1">
            <a:off x="2428860" y="4357694"/>
            <a:ext cx="1357322" cy="1357322"/>
          </a:xfrm>
          <a:prstGeom prst="bentConnector3">
            <a:avLst>
              <a:gd name="adj1" fmla="val 34312"/>
            </a:avLst>
          </a:prstGeom>
          <a:solidFill>
            <a:schemeClr val="accent1"/>
          </a:solidFill>
          <a:ln w="34925" cap="flat" cmpd="sng" algn="ctr">
            <a:solidFill>
              <a:schemeClr val="accent2">
                <a:lumMod val="75000"/>
              </a:schemeClr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10" name="모서리가 둥근 직사각형 9"/>
          <p:cNvSpPr/>
          <p:nvPr/>
        </p:nvSpPr>
        <p:spPr bwMode="auto">
          <a:xfrm>
            <a:off x="2714612" y="5572140"/>
            <a:ext cx="2143140" cy="571504"/>
          </a:xfrm>
          <a:prstGeom prst="roundRect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취</a:t>
            </a:r>
            <a:r>
              <a:rPr kumimoji="0" lang="ko-KR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맑은 고딕" pitchFamily="50" charset="-127"/>
              </a:rPr>
              <a:t> 소</a:t>
            </a: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시스템 설계도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i="0" dirty="0" smtClean="0"/>
          </a:p>
          <a:p>
            <a:r>
              <a:rPr lang="en-US" altLang="ko-KR" i="0" dirty="0" smtClean="0"/>
              <a:t>3.1 Use Case Diagram : User Interface (</a:t>
            </a:r>
            <a:r>
              <a:rPr lang="ko-KR" altLang="en-US" dirty="0" smtClean="0"/>
              <a:t>메뉴 선택</a:t>
            </a:r>
            <a:r>
              <a:rPr lang="en-US" altLang="ko-KR" i="0" dirty="0" smtClean="0"/>
              <a:t>)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735138"/>
            <a:ext cx="9143999" cy="42656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시스템 설계도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i="0" dirty="0" smtClean="0"/>
          </a:p>
          <a:p>
            <a:r>
              <a:rPr lang="en-US" altLang="ko-KR" i="0" dirty="0" smtClean="0"/>
              <a:t>3.1 Use Case Diagram : User Interface (</a:t>
            </a:r>
            <a:r>
              <a:rPr lang="ko-KR" altLang="en-US" i="0" dirty="0" smtClean="0"/>
              <a:t>책 읽기</a:t>
            </a:r>
            <a:r>
              <a:rPr lang="en-US" altLang="ko-KR" i="0" dirty="0" smtClean="0"/>
              <a:t>)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428736"/>
            <a:ext cx="9144000" cy="5000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직선 연결선 7"/>
          <p:cNvCxnSpPr/>
          <p:nvPr/>
        </p:nvCxnSpPr>
        <p:spPr bwMode="auto">
          <a:xfrm rot="5400000">
            <a:off x="6622368" y="3021706"/>
            <a:ext cx="1630548" cy="1109148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직선 연결선 8"/>
          <p:cNvCxnSpPr/>
          <p:nvPr/>
        </p:nvCxnSpPr>
        <p:spPr bwMode="auto">
          <a:xfrm rot="10800000" flipV="1">
            <a:off x="7119432" y="4071942"/>
            <a:ext cx="595840" cy="379240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직선 연결선 11"/>
          <p:cNvCxnSpPr/>
          <p:nvPr/>
        </p:nvCxnSpPr>
        <p:spPr bwMode="auto">
          <a:xfrm rot="10800000">
            <a:off x="7215206" y="4786322"/>
            <a:ext cx="428628" cy="142876"/>
          </a:xfrm>
          <a:prstGeom prst="line">
            <a:avLst/>
          </a:prstGeom>
          <a:solidFill>
            <a:schemeClr val="accent1"/>
          </a:solidFill>
          <a:ln w="508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3. </a:t>
            </a:r>
            <a:r>
              <a:rPr lang="ko-KR" altLang="en-US" dirty="0" smtClean="0"/>
              <a:t>시스템 설계도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i="0" dirty="0" smtClean="0"/>
          </a:p>
          <a:p>
            <a:r>
              <a:rPr lang="en-US" altLang="ko-KR" i="0" dirty="0" smtClean="0"/>
              <a:t>3.2 Use Case Diagram : User Interface (</a:t>
            </a:r>
            <a:r>
              <a:rPr lang="ko-KR" altLang="en-US" i="0" dirty="0" smtClean="0"/>
              <a:t>책갈피</a:t>
            </a:r>
            <a:r>
              <a:rPr lang="en-US" altLang="ko-KR" i="0" dirty="0" smtClean="0"/>
              <a:t>)</a:t>
            </a: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42908" y="1844674"/>
            <a:ext cx="9286908" cy="44418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xmlns="" val="306210526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ko-KR" altLang="en-US" dirty="0" smtClean="0"/>
              <a:t>상세 설계도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438120" y="866756"/>
            <a:ext cx="8858280" cy="568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latinLnBrk="1">
              <a:spcBef>
                <a:spcPct val="20000"/>
              </a:spcBef>
              <a:buFontTx/>
              <a:buChar char="•"/>
              <a:defRPr/>
            </a:pP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4.1 Sequence Diagram</a:t>
            </a:r>
            <a:endParaRPr lang="ko-KR" altLang="en-US" sz="2000" dirty="0"/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pic>
        <p:nvPicPr>
          <p:cNvPr id="4099" name="_x117046432" descr="EMB0000162038d0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57158" y="1052736"/>
            <a:ext cx="8358246" cy="576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xmlns:mc="http://schemas.openxmlformats.org/markup-compatibility/2006" val="FFFFFF" mc:Ignorable=""/>
                </a:solidFill>
              </a14:hiddenFill>
            </a:ext>
          </a:extLst>
        </p:spPr>
      </p:pic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ko-KR" altLang="en-US" dirty="0" smtClean="0"/>
              <a:t>상세 설계도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438120" y="866756"/>
            <a:ext cx="8858280" cy="568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latinLnBrk="1">
              <a:spcBef>
                <a:spcPct val="20000"/>
              </a:spcBef>
              <a:buFontTx/>
              <a:buChar char="•"/>
              <a:defRPr/>
            </a:pP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4.2 Sequence Diagram : Converting</a:t>
            </a:r>
            <a:endParaRPr lang="ko-KR" altLang="en-US" sz="2000" dirty="0"/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pic>
        <p:nvPicPr>
          <p:cNvPr id="4097" name="_x117045952" descr="EMB0000162038c7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066097" y="1268760"/>
            <a:ext cx="6530239" cy="4635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xmlns:mc="http://schemas.openxmlformats.org/markup-compatibility/2006" val="FFFFFF" mc:Ignorable="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330512609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ko-KR" altLang="en-US" dirty="0" smtClean="0"/>
              <a:t>상세 설계도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sp>
        <p:nvSpPr>
          <p:cNvPr id="18" name="Rectangle 3"/>
          <p:cNvSpPr txBox="1">
            <a:spLocks noChangeArrowheads="1"/>
          </p:cNvSpPr>
          <p:nvPr/>
        </p:nvSpPr>
        <p:spPr bwMode="auto">
          <a:xfrm>
            <a:off x="438120" y="866756"/>
            <a:ext cx="8858280" cy="568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indent="-342900" latinLnBrk="1">
              <a:spcBef>
                <a:spcPct val="20000"/>
              </a:spcBef>
              <a:buFontTx/>
              <a:buChar char="•"/>
              <a:defRPr/>
            </a:pP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굴림" charset="-127"/>
              </a:rPr>
              <a:t>4.3 Sequence Diagram : Hardware</a:t>
            </a:r>
            <a:endParaRPr lang="ko-KR" altLang="en-US" sz="2000" dirty="0"/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</p:txBody>
      </p:sp>
      <p:sp>
        <p:nvSpPr>
          <p:cNvPr id="2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 dirty="0"/>
          </a:p>
        </p:txBody>
      </p:sp>
      <p:pic>
        <p:nvPicPr>
          <p:cNvPr id="5121" name="_x117044112" descr="EMB0000162038ca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1187624" y="1052736"/>
            <a:ext cx="6527648" cy="5684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xmlns:mc="http://schemas.openxmlformats.org/markup-compatibility/2006" val="FFFFFF" mc:Ignorable="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4067614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</a:t>
            </a:r>
            <a:r>
              <a:rPr lang="ko-KR" altLang="en-US" dirty="0" smtClean="0"/>
              <a:t>시험 절차서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38120" y="866756"/>
            <a:ext cx="8858280" cy="568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5.1 ePub 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– Unicode </a:t>
            </a:r>
            <a:r>
              <a:rPr kumimoji="0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변환 기능 시험</a:t>
            </a: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ePub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내용과 변환된 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Unicode Text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간 동일 여부 시험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kumimoji="0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변환 부분에 대해서 성능</a:t>
            </a: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(</a:t>
            </a:r>
            <a:r>
              <a:rPr kumimoji="0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속도</a:t>
            </a: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)</a:t>
            </a:r>
            <a:r>
              <a:rPr kumimoji="0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이 적당한지에 대한 여부 시험</a:t>
            </a: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altLang="ko-KR" sz="2000" b="1" kern="0" dirty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5.2 Unicode –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점자출력기 기능 시험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변환된 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Unicode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가 정확하기 점자 출력기로 출력되는지에 대한 여부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숫자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한글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영어에 대한 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Text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출력이 정확히되는지에 대한 여부 시험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lang="en-US" altLang="ko-KR" sz="2000" b="1" kern="0" dirty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5.3 UI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정상 동작 기능 시험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ko-KR" altLang="en-US" sz="20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점자출력기로부터 버튼 입력이 정확한지에 대한 여부 시험</a:t>
            </a:r>
            <a:endParaRPr lang="en-US" altLang="ko-KR" sz="2000" b="1" kern="0" baseline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입력된 버튼에 대한 메뉴 동작 기능 수행 여부 시험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목록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처음보기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이어보기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책깔피 기능을 시험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ko-KR" altLang="en-US" sz="2000" b="1" kern="0" baseline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테스트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화면을 통하여 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UI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의 버그 여부 체크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 smtClean="0"/>
              <a:t>데모 환경 설계서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38120" y="866756"/>
            <a:ext cx="8858280" cy="568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ko-KR" sz="2000" b="1" kern="0" dirty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6</a:t>
            </a: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.1 </a:t>
            </a:r>
            <a:r>
              <a:rPr kumimoji="0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데모 환경 구성</a:t>
            </a: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SD Card : ePub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문서를 저장하는 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Storage</a:t>
            </a: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Embedded Board : ePub-Unicode,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점자출력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, User Interface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제공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kumimoji="0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점자 출력기 </a:t>
            </a: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: 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Unicode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출력 및 사용자로부터 메뉴 입력</a:t>
            </a:r>
            <a:endParaRPr lang="en-US" altLang="ko-KR" sz="2000" dirty="0"/>
          </a:p>
        </p:txBody>
      </p:sp>
      <p:pic>
        <p:nvPicPr>
          <p:cNvPr id="5" name="Picture 6" descr="C:\Users\Hong\Desktop\200901301044230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87824" y="2924944"/>
            <a:ext cx="2857520" cy="2143140"/>
          </a:xfrm>
          <a:prstGeom prst="rect">
            <a:avLst/>
          </a:prstGeom>
          <a:noFill/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79512" y="3709978"/>
            <a:ext cx="2259012" cy="1363663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" name="Right Arrow 1"/>
          <p:cNvSpPr/>
          <p:nvPr/>
        </p:nvSpPr>
        <p:spPr bwMode="auto">
          <a:xfrm>
            <a:off x="2555776" y="3709978"/>
            <a:ext cx="720080" cy="295086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8" name="Right Arrow 7"/>
          <p:cNvSpPr/>
          <p:nvPr/>
        </p:nvSpPr>
        <p:spPr bwMode="auto">
          <a:xfrm rot="10800000">
            <a:off x="2555776" y="4009922"/>
            <a:ext cx="720080" cy="295086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sp>
        <p:nvSpPr>
          <p:cNvPr id="9" name="Right Arrow 8"/>
          <p:cNvSpPr/>
          <p:nvPr/>
        </p:nvSpPr>
        <p:spPr bwMode="auto">
          <a:xfrm rot="10800000">
            <a:off x="5508104" y="3845907"/>
            <a:ext cx="720080" cy="295086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6372200" y="3152671"/>
            <a:ext cx="1905000" cy="1409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Rectangle 2"/>
          <p:cNvSpPr/>
          <p:nvPr/>
        </p:nvSpPr>
        <p:spPr>
          <a:xfrm>
            <a:off x="6661326" y="4407495"/>
            <a:ext cx="13740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ko-KR" sz="2000" dirty="0" smtClean="0">
                <a:latin typeface="맑은 고딕" pitchFamily="50" charset="-127"/>
                <a:ea typeface="맑은 고딕" pitchFamily="50" charset="-127"/>
              </a:rPr>
              <a:t>ePub </a:t>
            </a:r>
            <a:r>
              <a:rPr lang="ko-KR" altLang="en-US" sz="2000" dirty="0" smtClean="0">
                <a:latin typeface="맑은 고딕" pitchFamily="50" charset="-127"/>
                <a:ea typeface="맑은 고딕" pitchFamily="50" charset="-127"/>
              </a:rPr>
              <a:t>문서</a:t>
            </a:r>
            <a:endParaRPr lang="ko-KR" altLang="en-US" sz="200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50340293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 smtClean="0"/>
              <a:t>데모 환경 설계서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 bwMode="auto">
          <a:xfrm>
            <a:off x="438120" y="866756"/>
            <a:ext cx="8858280" cy="568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6</a:t>
            </a: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.2 </a:t>
            </a:r>
            <a:r>
              <a:rPr kumimoji="0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데모 방법</a:t>
            </a: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  <a:defRPr/>
            </a:pP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E-Book(ePub)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에 대한 메뉴 이동 및 책 보기 등 전자책에서 일어나는 기능에 대한 데모 실시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  <a:defRPr/>
            </a:pPr>
            <a:endParaRPr lang="en-US" altLang="ko-KR" sz="2000" b="1" kern="0" dirty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257300" lvl="2" indent="-342900" latinLnBrk="1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초기 메뉴에서 부터 책을 읽기까지의 메뉴 출력 기능 데모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257300" lvl="2" indent="-342900" latinLnBrk="1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257300" lvl="2" indent="-342900" latinLnBrk="1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책을 읽는 도중의 메뉴 구성 기능 데모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257300" lvl="2" indent="-342900" latinLnBrk="1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257300" lvl="2" indent="-342900" latinLnBrk="1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이어보기</a:t>
            </a:r>
            <a:r>
              <a:rPr lang="en-US" altLang="ko-KR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, </a:t>
            </a: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책깔피 기능에 대한 데모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257300" lvl="2" indent="-342900" latinLnBrk="1">
              <a:spcBef>
                <a:spcPct val="20000"/>
              </a:spcBef>
              <a:buFont typeface="Wingdings" pitchFamily="2" charset="2"/>
              <a:buChar char="§"/>
              <a:defRPr/>
            </a:pPr>
            <a:endParaRPr lang="en-US" altLang="ko-KR" sz="2000" b="1" kern="0" dirty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1257300" lvl="2" indent="-342900" latinLnBrk="1">
              <a:spcBef>
                <a:spcPct val="20000"/>
              </a:spcBef>
              <a:buFont typeface="Wingdings" pitchFamily="2" charset="2"/>
              <a:buChar char="§"/>
              <a:defRPr/>
            </a:pPr>
            <a:r>
              <a:rPr lang="ko-KR" altLang="en-US" sz="20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책의 내용 출력에 대한 데모</a:t>
            </a:r>
            <a:endParaRPr lang="en-US" altLang="ko-KR" sz="20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3731717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7. </a:t>
            </a:r>
            <a:r>
              <a:rPr lang="ko-KR" altLang="en-US" dirty="0" smtClean="0"/>
              <a:t>업무 분담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graphicFrame>
        <p:nvGraphicFramePr>
          <p:cNvPr id="4" name="Group 95"/>
          <p:cNvGraphicFramePr>
            <a:graphicFrameLocks/>
          </p:cNvGraphicFramePr>
          <p:nvPr/>
        </p:nvGraphicFramePr>
        <p:xfrm>
          <a:off x="285720" y="1285020"/>
          <a:ext cx="8501123" cy="4572872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887075"/>
                <a:gridCol w="2538016"/>
                <a:gridCol w="2538016"/>
                <a:gridCol w="2538016"/>
              </a:tblGrid>
              <a:tr h="478440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endParaRPr kumimoji="1" lang="ko-KR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anchorCtr="1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권  혁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anchorCtr="1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김제민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anchorCtr="1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홍은지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anchorCtr="1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261470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자료</a:t>
                      </a:r>
                      <a:endParaRPr kumimoji="1" lang="en-US" altLang="ko-KR" sz="1800" b="1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수집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anchorCtr="1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Document 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Template</a:t>
                      </a: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Embedded Board</a:t>
                      </a: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및 </a:t>
                      </a: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OS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점자 출력 기 및 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Device Driver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1003796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anchorCtr="1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Document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변환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 API 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Embedded Board 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및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OS Protocol 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</a:t>
                      </a: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(Device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간</a:t>
                      </a: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Device Driver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설계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929325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구현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anchorCtr="1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Device Driver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구현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Document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변환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Application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구현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Device Driver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구현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User Interface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구현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점자 출력 기 출력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 Application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구현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User Interface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구현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1003796">
                <a:tc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None/>
                        <a:tabLst/>
                      </a:pPr>
                      <a:r>
                        <a:rPr kumimoji="1" lang="ko-KR" altLang="en-US" sz="1800" b="1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테스트</a:t>
                      </a:r>
                      <a:endParaRPr kumimoji="1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anchorCtr="1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시스템 신뢰성 테스트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문서 변환 테스트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출력 </a:t>
                      </a: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Application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테스트</a:t>
                      </a:r>
                      <a:endParaRPr kumimoji="1" lang="en-US" altLang="ko-KR" sz="1800" u="none" strike="noStrike" cap="none" normalizeH="0" baseline="0" dirty="0" smtClean="0">
                        <a:ln>
                          <a:noFill/>
                        </a:ln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lvl="0" indent="0" algn="l" defTabSz="95885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65000"/>
                        <a:buFont typeface="Wingdings 2" pitchFamily="18" charset="2"/>
                        <a:buBlip>
                          <a:blip r:embed="rId3"/>
                        </a:buBlip>
                        <a:tabLst/>
                      </a:pP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User Interface(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입력 정확도 및 편의성</a:t>
                      </a:r>
                      <a:r>
                        <a:rPr kumimoji="1" lang="en-US" altLang="ko-KR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) </a:t>
                      </a:r>
                      <a:r>
                        <a:rPr kumimoji="1" lang="ko-KR" altLang="en-US" sz="1800" u="none" strike="noStrike" cap="none" normalizeH="0" baseline="0" dirty="0" smtClean="0">
                          <a:ln>
                            <a:noFill/>
                          </a:ln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테스트</a:t>
                      </a:r>
                      <a:endParaRPr kumimoji="1" lang="en-US" altLang="ko-KR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80698" marR="80698" marT="45460" marB="45460" anchor="ctr" horzOverflow="overflow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8. </a:t>
            </a:r>
            <a:r>
              <a:rPr lang="ko-KR" altLang="en-US" dirty="0" smtClean="0"/>
              <a:t>문제점 및 해결방안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438120" y="866756"/>
            <a:ext cx="8858280" cy="56864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굴림" charset="-127"/>
              <a:cs typeface="+mn-cs"/>
            </a:endParaRP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8.1 </a:t>
            </a:r>
            <a:r>
              <a:rPr kumimoji="0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다양한</a:t>
            </a: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Document </a:t>
            </a:r>
            <a:r>
              <a:rPr kumimoji="0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변환 </a:t>
            </a:r>
            <a:r>
              <a:rPr kumimoji="0" lang="en-US" altLang="ko-KR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Algorithm </a:t>
            </a:r>
            <a:r>
              <a:rPr kumimoji="0" lang="ko-KR" altLang="en-US" sz="20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구현</a:t>
            </a:r>
            <a:r>
              <a:rPr kumimoji="0" lang="ko-KR" altLang="en-US" sz="2000" b="1" i="0" u="none" strike="noStrike" kern="0" cap="none" spc="0" normalizeH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 문제</a:t>
            </a:r>
            <a:endParaRPr kumimoji="0" lang="en-US" altLang="ko-KR" sz="2000" b="1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다양한 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Template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의 조사 후 가장 많이 이용되는 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Template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를 지원</a:t>
            </a:r>
            <a:endParaRPr lang="en-US" altLang="ko-KR" sz="18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Converting Algorithm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을 최적화 하여 정확한 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Text 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변환이 가능하도록 함</a:t>
            </a:r>
            <a:endParaRPr lang="en-US" altLang="ko-KR" sz="1800" b="1" kern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Tx/>
              <a:buChar char="•"/>
            </a:pPr>
            <a:endParaRPr kumimoji="0" lang="en-US" altLang="ko-KR" sz="1800" b="1" i="0" u="none" strike="noStrike" kern="0" cap="none" spc="0" normalizeH="0" baseline="0" noProof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342900" indent="-342900" latinLnBrk="1">
              <a:spcBef>
                <a:spcPct val="20000"/>
              </a:spcBef>
              <a:buFontTx/>
              <a:buChar char="•"/>
            </a:pPr>
            <a:r>
              <a:rPr lang="en-US" altLang="ko-KR" sz="1800" b="1" kern="0" noProof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8.2 </a:t>
            </a:r>
            <a:r>
              <a:rPr lang="ko-KR" altLang="en-US" sz="1800" b="1" kern="0" noProof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변환된 </a:t>
            </a:r>
            <a:r>
              <a:rPr lang="en-US" altLang="ko-KR" sz="1800" b="1" kern="0" noProof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Document</a:t>
            </a:r>
            <a:r>
              <a:rPr lang="ko-KR" altLang="en-US" sz="1800" b="1" kern="0" noProof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의 </a:t>
            </a:r>
            <a:r>
              <a:rPr lang="ko-KR" altLang="en-US" sz="1800" b="1" kern="0" noProof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다중 </a:t>
            </a:r>
            <a:r>
              <a:rPr lang="en-US" altLang="ko-KR" sz="1800" b="1" kern="0" noProof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Line</a:t>
            </a:r>
            <a:r>
              <a:rPr lang="ko-KR" altLang="en-US" sz="1800" b="1" kern="0" noProof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을 단일 </a:t>
            </a:r>
            <a:r>
              <a:rPr lang="en-US" altLang="ko-KR" sz="1800" b="1" kern="0" noProof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Line</a:t>
            </a:r>
            <a:r>
              <a:rPr lang="ko-KR" altLang="en-US" sz="1800" b="1" kern="0" noProof="0" dirty="0" smtClean="0">
                <a:solidFill>
                  <a:srgbClr val="FF0000"/>
                </a:solidFill>
                <a:latin typeface="맑은 고딕" pitchFamily="50" charset="-127"/>
                <a:ea typeface="맑은 고딕" pitchFamily="50" charset="-127"/>
              </a:rPr>
              <a:t>으로 처리</a:t>
            </a:r>
            <a:r>
              <a:rPr lang="ko-KR" altLang="en-US" sz="1800" b="1" kern="0" noProof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하는 문제</a:t>
            </a:r>
            <a:endParaRPr lang="en-US" altLang="ko-KR" sz="1800" b="1" kern="0" noProof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현재 다중 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Line 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점자 출력 기의 개발이 이루어지지 않았다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kumimoji="0" lang="ko-KR" altLang="en-US" sz="1800" b="1" i="0" u="none" strike="noStrike" kern="0" cap="none" spc="0" normalizeH="0" baseline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본 졸업작품에서는 단일 </a:t>
            </a:r>
            <a:r>
              <a:rPr kumimoji="0" lang="en-US" altLang="ko-KR" sz="1800" b="1" i="0" u="none" strike="noStrike" kern="0" cap="none" spc="0" normalizeH="0" baseline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Line</a:t>
            </a:r>
            <a:r>
              <a:rPr kumimoji="0" lang="ko-KR" altLang="en-US" sz="1800" b="1" i="0" u="none" strike="noStrike" kern="0" cap="none" spc="0" normalizeH="0" baseline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의 출력 기능을 우선 구현한다</a:t>
            </a:r>
            <a:r>
              <a:rPr kumimoji="0" lang="en-US" altLang="ko-KR" sz="1800" b="1" i="0" u="none" strike="noStrike" kern="0" cap="none" spc="0" normalizeH="0" baseline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.</a:t>
            </a: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추가로 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Project 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진행 시 다중 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Line </a:t>
            </a: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출력 기에서도 호환 가능하도록 구현한다</a:t>
            </a:r>
            <a:r>
              <a:rPr lang="en-US" altLang="ko-KR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.</a:t>
            </a:r>
            <a:endParaRPr kumimoji="0" lang="en-US" altLang="ko-KR" sz="1800" b="1" i="0" u="none" strike="noStrike" kern="0" cap="none" spc="0" normalizeH="0" baseline="0" dirty="0" smtClean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Tx/>
              <a:buChar char="•"/>
            </a:pPr>
            <a:endParaRPr lang="en-US" altLang="ko-KR" sz="1800" b="1" kern="0" noProof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342900" indent="-342900" latinLnBrk="1">
              <a:spcBef>
                <a:spcPct val="20000"/>
              </a:spcBef>
              <a:buFontTx/>
              <a:buChar char="•"/>
            </a:pPr>
            <a:r>
              <a:rPr kumimoji="0" lang="en-US" altLang="ko-KR" sz="1800" b="1" i="0" u="none" strike="noStrike" kern="0" cap="none" spc="0" normalizeH="0" baseline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8.3 </a:t>
            </a:r>
            <a:r>
              <a:rPr kumimoji="0" lang="ko-KR" altLang="en-US" sz="1800" b="1" i="0" u="none" strike="noStrike" kern="0" cap="none" spc="0" normalizeH="0" baseline="0" dirty="0" smtClean="0">
                <a:ln>
                  <a:noFill/>
                </a:ln>
                <a:solidFill>
                  <a:srgbClr val="5F5F5F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시각장애인이 불편해하지 않도록 </a:t>
            </a:r>
            <a:r>
              <a:rPr kumimoji="0" lang="ko-KR" altLang="en-US" sz="1800" b="1" i="0" u="none" strike="noStrike" kern="0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간단한 </a:t>
            </a:r>
            <a:r>
              <a:rPr kumimoji="0" lang="en-US" altLang="ko-KR" sz="1800" b="1" i="0" u="none" strike="noStrike" kern="0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User Interface </a:t>
            </a:r>
            <a:r>
              <a:rPr kumimoji="0" lang="ko-KR" altLang="en-US" sz="1800" b="1" i="0" u="none" strike="noStrike" kern="0" cap="none" spc="0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</a:rPr>
              <a:t>구성</a:t>
            </a:r>
            <a:endParaRPr kumimoji="0" lang="en-US" altLang="ko-KR" sz="1800" b="1" i="0" u="none" strike="noStrike" kern="0" cap="none" spc="0" normalizeH="0" baseline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적은 </a:t>
            </a:r>
            <a:r>
              <a:rPr lang="en-US" altLang="ko-KR" sz="1800" b="1" kern="0" noProof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User Interface Component</a:t>
            </a:r>
            <a:r>
              <a:rPr lang="ko-KR" altLang="en-US" sz="1800" b="1" kern="0" noProof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를 이용한 효율적인 메뉴 구성</a:t>
            </a:r>
            <a:endParaRPr lang="en-US" altLang="ko-KR" sz="1800" b="1" kern="0" noProof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  <a:p>
            <a:pPr marL="800100" lvl="1" indent="-342900" latinLnBrk="1">
              <a:spcBef>
                <a:spcPct val="20000"/>
              </a:spcBef>
              <a:buFont typeface="Wingdings" pitchFamily="2" charset="2"/>
              <a:buChar char="ü"/>
            </a:pPr>
            <a:r>
              <a:rPr lang="ko-KR" altLang="en-US" sz="1800" b="1" kern="0" dirty="0" smtClean="0">
                <a:solidFill>
                  <a:srgbClr val="5F5F5F"/>
                </a:solidFill>
                <a:latin typeface="맑은 고딕" pitchFamily="50" charset="-127"/>
                <a:ea typeface="맑은 고딕" pitchFamily="50" charset="-127"/>
              </a:rPr>
              <a:t>장애인이 쉽게 사용할 수 있도록 편의성 강화</a:t>
            </a:r>
            <a:endParaRPr lang="en-US" altLang="ko-KR" sz="1800" b="1" kern="0" noProof="0" dirty="0" smtClean="0">
              <a:solidFill>
                <a:srgbClr val="5F5F5F"/>
              </a:solidFill>
              <a:latin typeface="맑은 고딕" pitchFamily="50" charset="-127"/>
              <a:ea typeface="맑은 고딕" pitchFamily="50" charset="-127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9. </a:t>
            </a:r>
            <a:r>
              <a:rPr lang="ko-KR" altLang="en-US" dirty="0" smtClean="0"/>
              <a:t>졸업연구 수행일정</a:t>
            </a:r>
            <a:endParaRPr lang="en-US" altLang="ko-KR" dirty="0"/>
          </a:p>
        </p:txBody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>
              <a:ea typeface="굴림" charset="-127"/>
            </a:endParaRPr>
          </a:p>
          <a:p>
            <a:endParaRPr lang="en-US" altLang="ko-KR" dirty="0" smtClean="0">
              <a:ea typeface="굴림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/>
        </p:nvGraphicFramePr>
        <p:xfrm>
          <a:off x="214282" y="861398"/>
          <a:ext cx="8715436" cy="5496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65"/>
                <a:gridCol w="2138253"/>
                <a:gridCol w="504953"/>
                <a:gridCol w="526166"/>
                <a:gridCol w="587327"/>
                <a:gridCol w="584788"/>
                <a:gridCol w="668072"/>
                <a:gridCol w="584788"/>
                <a:gridCol w="587327"/>
                <a:gridCol w="533497"/>
              </a:tblGrid>
              <a:tr h="32004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추진사항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상세 내용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09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gridSpan="7"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2010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</a:tr>
              <a:tr h="3200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6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7</a:t>
                      </a:r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594360">
                <a:tc rowSpan="2">
                  <a:txBody>
                    <a:bodyPr/>
                    <a:lstStyle/>
                    <a:p>
                      <a:pPr marL="342900" indent="-342900" algn="ctr" latinLnBrk="1">
                        <a:buNone/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졸업연구 과제</a:t>
                      </a:r>
                      <a:endParaRPr lang="en-US" altLang="ko-KR" sz="1400" b="1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342900" indent="-342900" algn="ctr" latinLnBrk="1">
                        <a:buNone/>
                      </a:pP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조사 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&amp; 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계획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졸업연구 조</a:t>
                      </a:r>
                      <a:r>
                        <a:rPr lang="ko-KR" altLang="en-US" sz="14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사 및 선정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59436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졸업연구 계획서 발표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연구과제 </a:t>
                      </a:r>
                      <a:endParaRPr lang="en-US" altLang="ko-KR" sz="1400" b="1" baseline="0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요구 분석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연구 과제 자료 수집 및 분석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133368"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 설계 및 구현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 설계 및 </a:t>
                      </a:r>
                      <a:endParaRPr lang="en-US" altLang="ko-KR" sz="1400" b="1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상세 설계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기본 기능 구현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1514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 상세 구현 및</a:t>
                      </a:r>
                      <a:endParaRPr lang="en-US" altLang="ko-KR" sz="1400" b="1" dirty="0" smtClean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프로토 타입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4572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시스템 테스트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시범 운영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457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유지 보수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기능 추가</a:t>
                      </a:r>
                      <a:r>
                        <a:rPr lang="en-US" altLang="ko-KR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4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오류수정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각 기능별 추가 및 수정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  <a:tr h="37084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b="1" baseline="0" dirty="0" smtClean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최종 시스템 운영</a:t>
                      </a:r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400" b="1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dirty="0">
                        <a:solidFill>
                          <a:schemeClr val="tx1"/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C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gradFill flip="none" rotWithShape="1">
                      <a:gsLst>
                        <a:gs pos="0">
                          <a:srgbClr val="FFC000">
                            <a:tint val="66000"/>
                            <a:satMod val="160000"/>
                          </a:srgbClr>
                        </a:gs>
                        <a:gs pos="50000">
                          <a:srgbClr val="FFC000">
                            <a:tint val="44500"/>
                            <a:satMod val="160000"/>
                          </a:srgbClr>
                        </a:gs>
                        <a:gs pos="100000">
                          <a:srgbClr val="FFC000">
                            <a:tint val="23500"/>
                            <a:satMod val="160000"/>
                          </a:srgbClr>
                        </a:gs>
                      </a:gsLst>
                      <a:lin ang="16200000" scaled="1"/>
                      <a:tileRect/>
                    </a:gradFill>
                  </a:tcPr>
                </a:tc>
              </a:tr>
            </a:tbl>
          </a:graphicData>
        </a:graphic>
      </p:graphicFrame>
      <p:cxnSp>
        <p:nvCxnSpPr>
          <p:cNvPr id="6" name="직선 화살표 연결선 5"/>
          <p:cNvCxnSpPr/>
          <p:nvPr/>
        </p:nvCxnSpPr>
        <p:spPr bwMode="auto">
          <a:xfrm>
            <a:off x="4357686" y="1928802"/>
            <a:ext cx="500066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8" name="직선 화살표 연결선 7"/>
          <p:cNvCxnSpPr/>
          <p:nvPr/>
        </p:nvCxnSpPr>
        <p:spPr bwMode="auto">
          <a:xfrm>
            <a:off x="4357686" y="2500306"/>
            <a:ext cx="500066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9" name="직선 화살표 연결선 8"/>
          <p:cNvCxnSpPr/>
          <p:nvPr/>
        </p:nvCxnSpPr>
        <p:spPr bwMode="auto">
          <a:xfrm>
            <a:off x="4857752" y="3071810"/>
            <a:ext cx="1143008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직선 화살표 연결선 10"/>
          <p:cNvCxnSpPr/>
          <p:nvPr/>
        </p:nvCxnSpPr>
        <p:spPr bwMode="auto">
          <a:xfrm>
            <a:off x="4857752" y="3571876"/>
            <a:ext cx="1143008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2" name="직선 화살표 연결선 11"/>
          <p:cNvCxnSpPr/>
          <p:nvPr/>
        </p:nvCxnSpPr>
        <p:spPr bwMode="auto">
          <a:xfrm>
            <a:off x="5429256" y="4000504"/>
            <a:ext cx="1143008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3" name="직선 화살표 연결선 12"/>
          <p:cNvCxnSpPr/>
          <p:nvPr/>
        </p:nvCxnSpPr>
        <p:spPr bwMode="auto">
          <a:xfrm>
            <a:off x="5429256" y="4429132"/>
            <a:ext cx="1785950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5" name="직선 화살표 연결선 14"/>
          <p:cNvCxnSpPr/>
          <p:nvPr/>
        </p:nvCxnSpPr>
        <p:spPr bwMode="auto">
          <a:xfrm>
            <a:off x="6572264" y="5429264"/>
            <a:ext cx="1857388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6" name="직선 화살표 연결선 15"/>
          <p:cNvCxnSpPr/>
          <p:nvPr/>
        </p:nvCxnSpPr>
        <p:spPr bwMode="auto">
          <a:xfrm>
            <a:off x="6572264" y="5000636"/>
            <a:ext cx="1857388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20" name="직선 화살표 연결선 19"/>
          <p:cNvCxnSpPr/>
          <p:nvPr/>
        </p:nvCxnSpPr>
        <p:spPr bwMode="auto">
          <a:xfrm>
            <a:off x="7286612" y="5857892"/>
            <a:ext cx="1643106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</p:spTree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chnological_awakening">
  <a:themeElements>
    <a:clrScheme name="Office 테마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테마">
      <a:majorFont>
        <a:latin typeface="Eurostile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fice 테마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테마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테마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technological_awakening</Template>
  <TotalTime>961</TotalTime>
  <Words>666</Words>
  <Application>Microsoft Office PowerPoint</Application>
  <PresentationFormat>화면 슬라이드 쇼(4:3)</PresentationFormat>
  <Paragraphs>160</Paragraphs>
  <Slides>18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19" baseType="lpstr">
      <vt:lpstr>technological_awakening</vt:lpstr>
      <vt:lpstr>점자 출력 기를 이용한 시각장애인 용 전자 책</vt:lpstr>
      <vt:lpstr>CONTENT</vt:lpstr>
      <vt:lpstr>1. 졸업 연구 개요</vt:lpstr>
      <vt:lpstr>2. 시스템 구성도</vt:lpstr>
      <vt:lpstr>2. 시스템 구성도</vt:lpstr>
      <vt:lpstr>2. 시스템 구성도</vt:lpstr>
      <vt:lpstr>3. 시스템 설계도</vt:lpstr>
      <vt:lpstr>3. 시스템 설계도</vt:lpstr>
      <vt:lpstr>3. 시스템 설계도</vt:lpstr>
      <vt:lpstr>4. 상세 설계도</vt:lpstr>
      <vt:lpstr>4. 상세 설계도</vt:lpstr>
      <vt:lpstr>4. 상세 설계도</vt:lpstr>
      <vt:lpstr>5. 시험 절차서</vt:lpstr>
      <vt:lpstr>6. 데모 환경 설계서</vt:lpstr>
      <vt:lpstr>6. 데모 환경 설계서</vt:lpstr>
      <vt:lpstr>7. 업무 분담</vt:lpstr>
      <vt:lpstr>8. 문제점 및 해결방안</vt:lpstr>
      <vt:lpstr>9. 졸업연구 수행일정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Technological Awakening</dc:title>
  <dc:creator>JMsource</dc:creator>
  <cp:lastModifiedBy>third9</cp:lastModifiedBy>
  <cp:revision>115</cp:revision>
  <cp:lastPrinted>2010-01-28T08:32:32Z</cp:lastPrinted>
  <dcterms:created xsi:type="dcterms:W3CDTF">2009-12-21T01:59:51Z</dcterms:created>
  <dcterms:modified xsi:type="dcterms:W3CDTF">2010-02-17T06:15:45Z</dcterms:modified>
</cp:coreProperties>
</file>