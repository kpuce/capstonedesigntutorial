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6" r:id="rId2"/>
    <p:sldId id="265" r:id="rId3"/>
    <p:sldId id="267" r:id="rId4"/>
    <p:sldId id="268" r:id="rId5"/>
    <p:sldId id="277" r:id="rId6"/>
    <p:sldId id="269" r:id="rId7"/>
    <p:sldId id="270" r:id="rId8"/>
    <p:sldId id="271" r:id="rId9"/>
    <p:sldId id="278" r:id="rId10"/>
    <p:sldId id="279" r:id="rId11"/>
    <p:sldId id="272" r:id="rId12"/>
    <p:sldId id="280" r:id="rId13"/>
    <p:sldId id="273" r:id="rId14"/>
    <p:sldId id="281" r:id="rId15"/>
    <p:sldId id="274" r:id="rId16"/>
    <p:sldId id="275" r:id="rId17"/>
    <p:sldId id="276" r:id="rId18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E6AF00"/>
    <a:srgbClr val="A8EEFE"/>
    <a:srgbClr val="96EAFE"/>
    <a:srgbClr val="7C5989"/>
    <a:srgbClr val="000066"/>
    <a:srgbClr val="333399"/>
    <a:srgbClr val="FFFFFF"/>
    <a:srgbClr val="336699"/>
    <a:srgbClr val="5F5F5F"/>
  </p:clrMru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3659" autoAdjust="0"/>
  </p:normalViewPr>
  <p:slideViewPr>
    <p:cSldViewPr>
      <p:cViewPr varScale="1">
        <p:scale>
          <a:sx n="67" d="100"/>
          <a:sy n="67" d="100"/>
        </p:scale>
        <p:origin x="-61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84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085D3-576E-4D5E-9120-7E042969C733}" type="datetimeFigureOut">
              <a:rPr lang="ko-KR" altLang="en-US" smtClean="0"/>
              <a:pPr/>
              <a:t>2009-12-28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AD505-C548-4F6A-8715-7129F047543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D505-C548-4F6A-8715-7129F047543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429000"/>
            <a:ext cx="9144000" cy="609600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4038600"/>
            <a:ext cx="9104312" cy="304800"/>
          </a:xfrm>
        </p:spPr>
        <p:txBody>
          <a:bodyPr/>
          <a:lstStyle>
            <a:lvl1pPr marL="0" indent="0">
              <a:buFontTx/>
              <a:buNone/>
              <a:defRPr sz="1400" b="1"/>
            </a:lvl1pPr>
          </a:lstStyle>
          <a:p>
            <a:r>
              <a:rPr lang="ko-KR" altLang="en-US" dirty="0" smtClean="0"/>
              <a:t>마스터 부제목 스타일 편집</a:t>
            </a:r>
            <a:endParaRPr lang="en-US" altLang="ko-KR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fld id="{EC18C2B8-7E44-4B9E-80ED-F439A7DA737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20" y="0"/>
            <a:ext cx="8858280" cy="714356"/>
          </a:xfrm>
        </p:spPr>
        <p:txBody>
          <a:bodyPr/>
          <a:lstStyle>
            <a:lvl1pPr>
              <a:defRPr b="1">
                <a:effectLst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86444"/>
          </a:xfrm>
        </p:spPr>
        <p:txBody>
          <a:bodyPr/>
          <a:lstStyle>
            <a:lvl1pPr>
              <a:defRPr i="0"/>
            </a:lvl1pPr>
            <a:lvl2pPr>
              <a:buFont typeface="Wingdings" pitchFamily="2" charset="2"/>
              <a:buChar char="ü"/>
              <a:defRPr i="0"/>
            </a:lvl2pPr>
            <a:lvl3pPr>
              <a:buFont typeface="Wingdings" pitchFamily="2" charset="2"/>
              <a:buChar char="Ø"/>
              <a:defRPr i="0"/>
            </a:lvl3pPr>
            <a:lvl4pPr>
              <a:defRPr i="0"/>
            </a:lvl4pPr>
            <a:lvl5pPr>
              <a:defRPr i="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C99F7-DBA8-486D-A074-127B66FA54D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44DA3-2A3C-46C9-9239-E9DF9723D13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F7B839-7E1C-4D38-AD0D-325823C19C3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07FEA-00B1-496D-B76C-5044BADCD63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F1458-307D-4486-91B8-8794761A87A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F3344-13B3-40A3-B0D0-1E0E4A71314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9A619-7943-46B6-B674-681A488A710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A0A54-381D-41BF-8436-23567EA3F23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6F12D-DAF0-424A-845F-1990A9610DB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00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00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8D4A0-139A-4BB7-83F3-62E39359DBA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572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47C5DF82-5DD5-421C-A76A-CA86624644D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2000" b="1" i="1">
          <a:solidFill>
            <a:srgbClr val="5F5F5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•"/>
        <a:defRPr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928934"/>
            <a:ext cx="9144000" cy="609600"/>
          </a:xfrm>
        </p:spPr>
        <p:txBody>
          <a:bodyPr/>
          <a:lstStyle/>
          <a:p>
            <a:r>
              <a:rPr lang="ko-KR" altLang="en-US" dirty="0" smtClean="0"/>
              <a:t>점자 </a:t>
            </a:r>
            <a:r>
              <a:rPr lang="ko-KR" altLang="en-US" dirty="0" err="1" smtClean="0"/>
              <a:t>출력기를</a:t>
            </a:r>
            <a:r>
              <a:rPr lang="ko-KR" altLang="en-US" dirty="0" smtClean="0"/>
              <a:t> 이용한 시각장애인 용 전자 책</a:t>
            </a:r>
            <a:endParaRPr lang="en-US" altLang="ko-KR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3571876"/>
            <a:ext cx="9104312" cy="3048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E-Book for the </a:t>
            </a:r>
            <a:r>
              <a:rPr lang="en-US" altLang="ko-KR" smtClean="0">
                <a:ea typeface="굴림" charset="-127"/>
              </a:rPr>
              <a:t>blind Using </a:t>
            </a:r>
            <a:r>
              <a:rPr lang="en-US" altLang="ko-KR" dirty="0" smtClean="0">
                <a:ea typeface="굴림" charset="-127"/>
              </a:rPr>
              <a:t>Braille Display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gray">
          <a:xfrm>
            <a:off x="142844" y="5357832"/>
            <a:ext cx="4370387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latinLnBrk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2004151005   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권   혁</a:t>
            </a: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전광일 교수님</a:t>
            </a: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2004153011   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김제민</a:t>
            </a: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전광일 교수님</a:t>
            </a: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2006153049	</a:t>
            </a:r>
            <a:r>
              <a:rPr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홍은지</a:t>
            </a: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전광일 교수님</a:t>
            </a: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ko-KR" altLang="en-US" sz="1200" b="1" kern="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charset="-127"/>
              </a:rPr>
              <a:t>CONTENT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44" name="대각선 방향의 모서리가 둥근 사각형 43"/>
          <p:cNvSpPr/>
          <p:nvPr/>
        </p:nvSpPr>
        <p:spPr bwMode="auto">
          <a:xfrm>
            <a:off x="857224" y="714356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1. </a:t>
            </a:r>
            <a:r>
              <a:rPr lang="ko-KR" altLang="en-US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졸업 연구 개요</a:t>
            </a:r>
            <a:endParaRPr kumimoji="0" lang="ko-KR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대각선 방향의 모서리가 둥근 사각형 90"/>
          <p:cNvSpPr/>
          <p:nvPr/>
        </p:nvSpPr>
        <p:spPr bwMode="auto">
          <a:xfrm>
            <a:off x="857224" y="1285860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2.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연구배경 및 개발목표</a:t>
            </a:r>
          </a:p>
        </p:txBody>
      </p:sp>
      <p:sp>
        <p:nvSpPr>
          <p:cNvPr id="92" name="대각선 방향의 모서리가 둥근 사각형 91"/>
          <p:cNvSpPr/>
          <p:nvPr/>
        </p:nvSpPr>
        <p:spPr bwMode="auto">
          <a:xfrm>
            <a:off x="857224" y="1785926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3.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관 련 사 </a:t>
            </a:r>
            <a:r>
              <a:rPr kumimoji="0" lang="ko-KR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례</a:t>
            </a:r>
            <a:endParaRPr kumimoji="0" lang="ko-KR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대각선 방향의 모서리가 둥근 사각형 92"/>
          <p:cNvSpPr/>
          <p:nvPr/>
        </p:nvSpPr>
        <p:spPr bwMode="auto">
          <a:xfrm>
            <a:off x="857224" y="2357430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4.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시스템 개발방법 </a:t>
            </a:r>
          </a:p>
        </p:txBody>
      </p:sp>
      <p:sp>
        <p:nvSpPr>
          <p:cNvPr id="94" name="대각선 방향의 모서리가 둥근 사각형 93"/>
          <p:cNvSpPr/>
          <p:nvPr/>
        </p:nvSpPr>
        <p:spPr bwMode="auto">
          <a:xfrm>
            <a:off x="857224" y="2928934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5.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요구사항</a:t>
            </a:r>
            <a:r>
              <a:rPr kumimoji="0" lang="ko-KR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분석</a:t>
            </a:r>
          </a:p>
        </p:txBody>
      </p:sp>
      <p:sp>
        <p:nvSpPr>
          <p:cNvPr id="95" name="대각선 방향의 모서리가 둥근 사각형 94"/>
          <p:cNvSpPr/>
          <p:nvPr/>
        </p:nvSpPr>
        <p:spPr bwMode="auto">
          <a:xfrm>
            <a:off x="857224" y="3500438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6.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시스템</a:t>
            </a:r>
            <a:r>
              <a:rPr kumimoji="0" lang="ko-KR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구성도</a:t>
            </a:r>
          </a:p>
        </p:txBody>
      </p:sp>
      <p:sp>
        <p:nvSpPr>
          <p:cNvPr id="96" name="대각선 방향의 모서리가 둥근 사각형 95"/>
          <p:cNvSpPr/>
          <p:nvPr/>
        </p:nvSpPr>
        <p:spPr bwMode="auto">
          <a:xfrm>
            <a:off x="857224" y="4071942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7.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소프트웨어 구성도</a:t>
            </a:r>
          </a:p>
        </p:txBody>
      </p:sp>
      <p:sp>
        <p:nvSpPr>
          <p:cNvPr id="97" name="대각선 방향의 모서리가 둥근 사각형 96"/>
          <p:cNvSpPr/>
          <p:nvPr/>
        </p:nvSpPr>
        <p:spPr bwMode="auto">
          <a:xfrm>
            <a:off x="857224" y="4643446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8.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업 무 분 담</a:t>
            </a:r>
          </a:p>
        </p:txBody>
      </p:sp>
      <p:sp>
        <p:nvSpPr>
          <p:cNvPr id="98" name="대각선 방향의 모서리가 둥근 사각형 97"/>
          <p:cNvSpPr/>
          <p:nvPr/>
        </p:nvSpPr>
        <p:spPr bwMode="auto">
          <a:xfrm>
            <a:off x="857224" y="5143512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9.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문 제 점 및 해 결 방 안</a:t>
            </a:r>
          </a:p>
        </p:txBody>
      </p:sp>
      <p:sp>
        <p:nvSpPr>
          <p:cNvPr id="99" name="대각선 방향의 모서리가 둥근 사각형 98"/>
          <p:cNvSpPr/>
          <p:nvPr/>
        </p:nvSpPr>
        <p:spPr bwMode="auto">
          <a:xfrm>
            <a:off x="857224" y="5715016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10.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졸 업 연 구 수 행 일 정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졸업 연구 개요</a:t>
            </a:r>
            <a:endParaRPr lang="en-US" altLang="ko-KR" dirty="0"/>
          </a:p>
        </p:txBody>
      </p:sp>
      <p:sp>
        <p:nvSpPr>
          <p:cNvPr id="4" name="대각선 방향의 모서리가 둥근 사각형 3"/>
          <p:cNvSpPr/>
          <p:nvPr/>
        </p:nvSpPr>
        <p:spPr bwMode="auto">
          <a:xfrm>
            <a:off x="785786" y="1071546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점자 입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출력 기반의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E-Book </a:t>
            </a:r>
            <a:r>
              <a:rPr lang="ko-KR" altLang="en-US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구현</a:t>
            </a:r>
            <a:endParaRPr kumimoji="0" lang="ko-KR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대각선 방향의 모서리가 둥근 사각형 4"/>
          <p:cNvSpPr/>
          <p:nvPr/>
        </p:nvSpPr>
        <p:spPr bwMode="auto">
          <a:xfrm>
            <a:off x="785786" y="2214554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점자를 이용한 다양한 문서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서적을 지원</a:t>
            </a:r>
          </a:p>
        </p:txBody>
      </p:sp>
      <p:sp>
        <p:nvSpPr>
          <p:cNvPr id="6" name="대각선 방향의 모서리가 둥근 사각형 5"/>
          <p:cNvSpPr/>
          <p:nvPr/>
        </p:nvSpPr>
        <p:spPr bwMode="auto">
          <a:xfrm>
            <a:off x="785786" y="3429000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기존의 부정확한 음성을 </a:t>
            </a:r>
            <a:r>
              <a:rPr lang="ko-KR" altLang="en-US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점자 출력으로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대체</a:t>
            </a:r>
          </a:p>
        </p:txBody>
      </p:sp>
      <p:sp>
        <p:nvSpPr>
          <p:cNvPr id="7" name="대각선 방향의 모서리가 둥근 사각형 6"/>
          <p:cNvSpPr/>
          <p:nvPr/>
        </p:nvSpPr>
        <p:spPr bwMode="auto">
          <a:xfrm>
            <a:off x="785786" y="4643446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시각장애인의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접근성을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높임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연구배경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개발목표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>
              <a:ea typeface="굴림" charset="-127"/>
            </a:endParaRPr>
          </a:p>
          <a:p>
            <a:r>
              <a:rPr lang="en-US" altLang="ko-KR" i="0" dirty="0" smtClean="0"/>
              <a:t>2.1 </a:t>
            </a:r>
            <a:r>
              <a:rPr lang="ko-KR" altLang="en-US" i="0" dirty="0" smtClean="0"/>
              <a:t>연구 배경</a:t>
            </a:r>
            <a:endParaRPr lang="en-US" altLang="ko-KR" i="0" dirty="0" smtClean="0"/>
          </a:p>
          <a:p>
            <a:endParaRPr lang="en-US" altLang="ko-KR" i="0" dirty="0" smtClean="0"/>
          </a:p>
          <a:p>
            <a:pPr lvl="1">
              <a:buFont typeface="Wingdings" pitchFamily="2" charset="2"/>
              <a:buChar char="ü"/>
            </a:pPr>
            <a:r>
              <a:rPr lang="ko-KR" altLang="en-US" i="0" dirty="0" smtClean="0"/>
              <a:t>휴대 성을 높인 </a:t>
            </a:r>
            <a:r>
              <a:rPr lang="ko-KR" altLang="en-US" i="0" dirty="0" smtClean="0">
                <a:solidFill>
                  <a:srgbClr val="FF0000"/>
                </a:solidFill>
              </a:rPr>
              <a:t>전자 </a:t>
            </a:r>
            <a:r>
              <a:rPr lang="en-US" altLang="ko-KR" i="0" dirty="0" smtClean="0">
                <a:solidFill>
                  <a:srgbClr val="FF0000"/>
                </a:solidFill>
              </a:rPr>
              <a:t>E-Book </a:t>
            </a:r>
            <a:r>
              <a:rPr lang="ko-KR" altLang="en-US" i="0" dirty="0" smtClean="0">
                <a:solidFill>
                  <a:srgbClr val="FF0000"/>
                </a:solidFill>
              </a:rPr>
              <a:t>기기들이 전 세계적으로 이슈화 됨</a:t>
            </a:r>
            <a:endParaRPr lang="en-US" altLang="ko-KR" i="0" dirty="0" smtClean="0">
              <a:solidFill>
                <a:srgbClr val="FF0000"/>
              </a:solidFill>
            </a:endParaRPr>
          </a:p>
          <a:p>
            <a:pPr lvl="2"/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아마존의 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E-Book 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성공 사례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”, “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국내 </a:t>
            </a:r>
            <a:r>
              <a:rPr lang="en-US" altLang="ko-KR" dirty="0" err="1" smtClean="0">
                <a:solidFill>
                  <a:schemeClr val="bg2">
                    <a:lumMod val="75000"/>
                  </a:schemeClr>
                </a:solidFill>
              </a:rPr>
              <a:t>Iriver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의 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E-Book 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기기 출시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en-US" altLang="ko-KR" i="0" dirty="0" smtClean="0">
              <a:solidFill>
                <a:schemeClr val="bg2">
                  <a:lumMod val="75000"/>
                </a:schemeClr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ko-KR" altLang="en-US" i="0" dirty="0" smtClean="0">
                <a:solidFill>
                  <a:srgbClr val="FF0000"/>
                </a:solidFill>
              </a:rPr>
              <a:t>시각장애인을 위한 서적이 부족</a:t>
            </a:r>
            <a:endParaRPr lang="en-US" altLang="ko-KR" dirty="0" smtClean="0"/>
          </a:p>
          <a:p>
            <a:pPr lvl="1"/>
            <a:r>
              <a:rPr lang="ko-KR" altLang="en-US" i="0" dirty="0" smtClean="0"/>
              <a:t>더 많고 편리한 생활을 누려야 하는 시각장애인에 대한 관심 부족</a:t>
            </a:r>
            <a:endParaRPr lang="en-US" altLang="ko-KR" i="0" dirty="0" smtClean="0"/>
          </a:p>
          <a:p>
            <a:pPr lvl="2"/>
            <a:r>
              <a:rPr lang="en-US" altLang="ko-KR" dirty="0" smtClean="0"/>
              <a:t>(</a:t>
            </a:r>
            <a:r>
              <a:rPr lang="ko-KR" altLang="en-US" dirty="0" smtClean="0"/>
              <a:t>세계 보건 기구</a:t>
            </a:r>
            <a:r>
              <a:rPr lang="en-US" altLang="ko-KR" dirty="0" smtClean="0"/>
              <a:t>) </a:t>
            </a:r>
            <a:r>
              <a:rPr lang="ko-KR" altLang="en-US" dirty="0" smtClean="0"/>
              <a:t>전 세계 인구의 </a:t>
            </a:r>
            <a:r>
              <a:rPr lang="en-US" altLang="ko-KR" dirty="0" smtClean="0"/>
              <a:t>10%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6</a:t>
            </a:r>
            <a:r>
              <a:rPr lang="ko-KR" altLang="en-US" dirty="0" smtClean="0"/>
              <a:t>억 명이 시각장애인 이며</a:t>
            </a:r>
            <a:endParaRPr lang="en-US" altLang="ko-KR" dirty="0" smtClean="0"/>
          </a:p>
          <a:p>
            <a:pPr lvl="2">
              <a:buNone/>
            </a:pPr>
            <a:r>
              <a:rPr lang="en-US" altLang="ko-KR" dirty="0" smtClean="0"/>
              <a:t>	(</a:t>
            </a:r>
            <a:r>
              <a:rPr lang="ko-KR" altLang="en-US" dirty="0" smtClean="0"/>
              <a:t>장애인 협회</a:t>
            </a:r>
            <a:r>
              <a:rPr lang="en-US" altLang="ko-KR" dirty="0" smtClean="0"/>
              <a:t>) </a:t>
            </a:r>
            <a:r>
              <a:rPr lang="ko-KR" altLang="en-US" dirty="0" smtClean="0"/>
              <a:t>국내 장애인 인구의 </a:t>
            </a:r>
            <a:r>
              <a:rPr lang="en-US" altLang="ko-KR" dirty="0" smtClean="0"/>
              <a:t>10%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13</a:t>
            </a:r>
            <a:r>
              <a:rPr lang="ko-KR" altLang="en-US" dirty="0" smtClean="0"/>
              <a:t>만 </a:t>
            </a:r>
            <a:r>
              <a:rPr lang="en-US" altLang="ko-KR" dirty="0" smtClean="0"/>
              <a:t>6</a:t>
            </a:r>
            <a:r>
              <a:rPr lang="ko-KR" altLang="en-US" dirty="0" smtClean="0"/>
              <a:t>천 여명이 시각장애인</a:t>
            </a:r>
            <a:endParaRPr lang="en-US" altLang="ko-KR" dirty="0" smtClean="0"/>
          </a:p>
          <a:p>
            <a:pPr lvl="2">
              <a:buNone/>
            </a:pPr>
            <a:endParaRPr lang="en-US" altLang="ko-KR" i="0" dirty="0" smtClean="0"/>
          </a:p>
          <a:p>
            <a:r>
              <a:rPr lang="en-US" altLang="ko-KR" i="0" dirty="0" smtClean="0"/>
              <a:t>2.2 </a:t>
            </a:r>
            <a:r>
              <a:rPr lang="ko-KR" altLang="en-US" i="0" dirty="0" smtClean="0"/>
              <a:t>개발 목표</a:t>
            </a:r>
            <a:endParaRPr lang="en-US" altLang="ko-KR" i="0" dirty="0" smtClean="0"/>
          </a:p>
          <a:p>
            <a:endParaRPr lang="en-US" altLang="ko-KR" i="0" dirty="0" smtClean="0"/>
          </a:p>
          <a:p>
            <a:pPr lvl="1"/>
            <a:r>
              <a:rPr lang="ko-KR" altLang="en-US" dirty="0" smtClean="0"/>
              <a:t>전자 서적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표준화된 문서를 </a:t>
            </a:r>
            <a:r>
              <a:rPr lang="ko-KR" altLang="en-US" dirty="0" smtClean="0">
                <a:solidFill>
                  <a:srgbClr val="FF0000"/>
                </a:solidFill>
              </a:rPr>
              <a:t>시각장애인이 쉽게 접근할 수 있도록 </a:t>
            </a:r>
            <a:r>
              <a:rPr lang="ko-KR" altLang="en-US" dirty="0" smtClean="0"/>
              <a:t>개발</a:t>
            </a:r>
            <a:endParaRPr lang="en-US" altLang="ko-KR" dirty="0" smtClean="0"/>
          </a:p>
          <a:p>
            <a:pPr lvl="1"/>
            <a:endParaRPr lang="en-US" altLang="ko-KR" i="0" dirty="0" smtClean="0"/>
          </a:p>
          <a:p>
            <a:pPr lvl="1"/>
            <a:r>
              <a:rPr lang="ko-KR" altLang="en-US" dirty="0" smtClean="0"/>
              <a:t>시각장애인이 정확하게 문자를 인식할 수 있도록 점자 </a:t>
            </a:r>
            <a:r>
              <a:rPr lang="ko-KR" altLang="en-US" dirty="0" err="1" smtClean="0"/>
              <a:t>출력기를</a:t>
            </a:r>
            <a:r>
              <a:rPr lang="ko-KR" altLang="en-US" dirty="0" smtClean="0"/>
              <a:t> 활용</a:t>
            </a:r>
            <a:endParaRPr lang="en-US" altLang="ko-KR" i="0" dirty="0" smtClean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연구배경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개발목표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ko-KR" i="0" dirty="0" smtClean="0"/>
          </a:p>
          <a:p>
            <a:r>
              <a:rPr lang="en-US" altLang="ko-KR" i="0" dirty="0" smtClean="0"/>
              <a:t>2.3 </a:t>
            </a:r>
            <a:r>
              <a:rPr lang="ko-KR" altLang="en-US" i="0" dirty="0" smtClean="0"/>
              <a:t>기대효과</a:t>
            </a:r>
            <a:endParaRPr lang="en-US" altLang="ko-KR" i="0" dirty="0" smtClean="0"/>
          </a:p>
          <a:p>
            <a:endParaRPr lang="en-US" altLang="ko-KR" i="0" dirty="0" smtClean="0"/>
          </a:p>
          <a:p>
            <a:pPr lvl="1"/>
            <a:r>
              <a:rPr lang="ko-KR" altLang="en-US" i="0" dirty="0" smtClean="0"/>
              <a:t>다양한 전자 서적 및 표준화 문서에 대한 접근이 용이하도록 함</a:t>
            </a:r>
            <a:endParaRPr lang="en-US" altLang="ko-KR" i="0" dirty="0" smtClean="0"/>
          </a:p>
          <a:p>
            <a:pPr lvl="1"/>
            <a:endParaRPr lang="en-US" altLang="ko-KR" i="0" dirty="0" smtClean="0"/>
          </a:p>
          <a:p>
            <a:pPr lvl="1"/>
            <a:r>
              <a:rPr lang="ko-KR" altLang="en-US" i="0" dirty="0" smtClean="0">
                <a:solidFill>
                  <a:srgbClr val="FF0000"/>
                </a:solidFill>
              </a:rPr>
              <a:t>더 많은 지식의 기회를 시각장애인에게 줌</a:t>
            </a:r>
            <a:endParaRPr lang="en-US" altLang="ko-KR" i="0" dirty="0" smtClean="0">
              <a:solidFill>
                <a:srgbClr val="FF0000"/>
              </a:solidFill>
            </a:endParaRPr>
          </a:p>
          <a:p>
            <a:pPr lvl="1"/>
            <a:endParaRPr lang="en-US" altLang="ko-KR" i="0" dirty="0" smtClean="0"/>
          </a:p>
          <a:p>
            <a:pPr lvl="1"/>
            <a:r>
              <a:rPr lang="ko-KR" altLang="en-US" i="0" dirty="0" smtClean="0"/>
              <a:t>다양한 분야</a:t>
            </a:r>
            <a:r>
              <a:rPr lang="en-US" altLang="ko-KR" i="0" dirty="0" smtClean="0"/>
              <a:t>(</a:t>
            </a:r>
            <a:r>
              <a:rPr lang="ko-KR" altLang="en-US" i="0" dirty="0" smtClean="0"/>
              <a:t>장애인 학교 교재 등</a:t>
            </a:r>
            <a:r>
              <a:rPr lang="en-US" altLang="ko-KR" i="0" dirty="0" smtClean="0"/>
              <a:t>)</a:t>
            </a:r>
            <a:r>
              <a:rPr lang="ko-KR" altLang="en-US" i="0" dirty="0" smtClean="0"/>
              <a:t>에서 이용 가능</a:t>
            </a:r>
            <a:endParaRPr lang="en-US" altLang="ko-KR" i="0" dirty="0" smtClean="0"/>
          </a:p>
          <a:p>
            <a:pPr lvl="1"/>
            <a:endParaRPr lang="en-US" altLang="ko-KR" i="0" dirty="0" smtClean="0"/>
          </a:p>
          <a:p>
            <a:pPr lvl="1"/>
            <a:r>
              <a:rPr lang="ko-KR" altLang="en-US" i="0" dirty="0" smtClean="0">
                <a:solidFill>
                  <a:srgbClr val="FF0000"/>
                </a:solidFill>
              </a:rPr>
              <a:t>시각장애인의 다양한 사회 분야로의 진출 가능성을 증대함</a:t>
            </a:r>
            <a:endParaRPr lang="en-US" altLang="ko-KR" i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관련 사례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r>
              <a:rPr lang="en-US" altLang="ko-KR" dirty="0" smtClean="0"/>
              <a:t>2.4 </a:t>
            </a:r>
            <a:r>
              <a:rPr lang="ko-KR" altLang="en-US" dirty="0" smtClean="0"/>
              <a:t>관련 사례</a:t>
            </a:r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국내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아이리버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</a:t>
            </a:r>
            <a:r>
              <a:rPr lang="en-US" altLang="ko-KR" dirty="0" err="1" smtClean="0"/>
              <a:t>Iriver</a:t>
            </a:r>
            <a:r>
              <a:rPr lang="en-US" altLang="ko-KR" dirty="0" smtClean="0"/>
              <a:t> Story”</a:t>
            </a:r>
          </a:p>
          <a:p>
            <a:pPr lvl="1"/>
            <a:r>
              <a:rPr lang="ko-KR" altLang="en-US" dirty="0" smtClean="0"/>
              <a:t>해외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아마존 </a:t>
            </a:r>
            <a:r>
              <a:rPr lang="en-US" altLang="ko-KR" dirty="0" smtClean="0"/>
              <a:t>“Kindle”</a:t>
            </a:r>
            <a:endParaRPr lang="en-US" altLang="ko-K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42" y="2199046"/>
            <a:ext cx="2173274" cy="28730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2770" y="2785683"/>
            <a:ext cx="2260602" cy="29293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가로로 말린 두루마리 모양 5"/>
          <p:cNvSpPr/>
          <p:nvPr/>
        </p:nvSpPr>
        <p:spPr bwMode="auto">
          <a:xfrm>
            <a:off x="1285852" y="3786190"/>
            <a:ext cx="6715172" cy="1071570"/>
          </a:xfrm>
          <a:prstGeom prst="horizontalScroll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CC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맑은 고딕" pitchFamily="50" charset="-127"/>
                <a:ea typeface="맑은 고딕" pitchFamily="50" charset="-127"/>
              </a:rPr>
              <a:t>시각장애인이 접할 수 있는 지식의 기회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2763" y="5715016"/>
            <a:ext cx="122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Kindle -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8586" y="5072074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Iriver</a:t>
            </a:r>
            <a:r>
              <a:rPr lang="en-US" altLang="ko-K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Story -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시스템 개발 방법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590520" y="10191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20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문서</a:t>
            </a:r>
            <a:r>
              <a:rPr lang="en-US" altLang="ko-KR" sz="20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전자 서적 </a:t>
            </a:r>
            <a:r>
              <a:rPr lang="en-US" altLang="ko-KR" sz="20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Format</a:t>
            </a:r>
            <a:r>
              <a:rPr lang="ko-KR" altLang="en-US" sz="20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을 변환하여 출력 </a:t>
            </a:r>
            <a:r>
              <a:rPr lang="ko-KR" altLang="en-US" sz="20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가능하도록 제작</a:t>
            </a:r>
            <a:endParaRPr lang="en-US" altLang="ko-KR" sz="2000" b="1" kern="0" noProof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ko-KR" sz="20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PDF, DOC, </a:t>
            </a:r>
            <a:r>
              <a:rPr lang="en-US" altLang="ko-KR" sz="2000" b="1" kern="0" noProof="0" dirty="0" err="1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ePub</a:t>
            </a:r>
            <a:r>
              <a:rPr lang="ko-KR" altLang="en-US" sz="20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과 같은 문서 서적 </a:t>
            </a:r>
            <a:r>
              <a:rPr lang="en-US" altLang="ko-KR" sz="20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Format </a:t>
            </a:r>
            <a:r>
              <a:rPr lang="ko-KR" altLang="en-US" sz="20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확인 및 변환</a:t>
            </a:r>
            <a:endParaRPr kumimoji="0" lang="en-US" altLang="ko-KR" sz="2000" b="1" i="0" u="none" strike="noStrike" kern="0" cap="none" spc="0" normalizeH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점자 </a:t>
            </a:r>
            <a:r>
              <a:rPr lang="ko-KR" altLang="en-US" sz="2000" b="1" kern="0" dirty="0" err="1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출력기를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 이용하기 위한 </a:t>
            </a:r>
            <a:r>
              <a:rPr lang="en-US" altLang="ko-KR" sz="20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Device Driver </a:t>
            </a:r>
            <a:r>
              <a:rPr lang="ko-KR" altLang="en-US" sz="20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제작</a:t>
            </a:r>
            <a:endParaRPr lang="en-US" altLang="ko-KR" sz="20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Braille Display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설계도를 통한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Register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구성 및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Driver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작성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입력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Register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변환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 기능을 수행하기 위한 </a:t>
            </a:r>
            <a:r>
              <a:rPr lang="en-US" altLang="ko-KR" sz="20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Embedded Board </a:t>
            </a:r>
            <a:r>
              <a:rPr lang="ko-KR" altLang="en-US" sz="20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구성</a:t>
            </a:r>
            <a:endParaRPr lang="en-US" altLang="ko-KR" sz="20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Board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에 맞는 환경 구성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Windows CE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기반의 </a:t>
            </a:r>
            <a:r>
              <a:rPr lang="en-US" altLang="ko-KR" sz="20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Application </a:t>
            </a:r>
            <a:r>
              <a:rPr lang="ko-KR" altLang="en-US" sz="20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개발</a:t>
            </a:r>
            <a:endParaRPr lang="en-US" altLang="ko-KR" sz="20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Windows CE Core 5.0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기반의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Application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개발</a:t>
            </a: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요구 사항 분석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4.1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기능적 요구</a:t>
            </a: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사항</a:t>
            </a: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2000" b="1" kern="0" baseline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표준화된 문서에 대한 호환이 가능</a:t>
            </a: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하도록 구현</a:t>
            </a: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시각장애인이 알아볼 수 있도록 </a:t>
            </a: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점자 </a:t>
            </a:r>
            <a:r>
              <a:rPr kumimoji="0" lang="ko-KR" altLang="en-US" sz="2000" b="1" i="0" u="none" strike="noStrike" kern="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출력기로</a:t>
            </a: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내용 출력</a:t>
            </a: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간단한 </a:t>
            </a:r>
            <a:r>
              <a:rPr lang="en-US" altLang="ko-KR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Interface</a:t>
            </a: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를 이용하여 </a:t>
            </a:r>
            <a:r>
              <a:rPr lang="ko-KR" altLang="en-US" sz="2000" b="1" kern="0" baseline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페이지 전환이 쉽도록 </a:t>
            </a: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구현</a:t>
            </a: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시각장애인이 쉽게 이용할 수 있도록 메뉴 </a:t>
            </a: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구성</a:t>
            </a: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요구 사항 분석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4.2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비기능적 요구</a:t>
            </a: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사항</a:t>
            </a: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표준화된 문서 변환 작업에서 </a:t>
            </a:r>
            <a:r>
              <a:rPr lang="ko-KR" altLang="en-US" sz="1800" b="1" kern="0" baseline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문자 오류 없이 출력</a:t>
            </a: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한다</a:t>
            </a: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kumimoji="0" lang="ko-KR" altLang="en-US" sz="18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변환된 문서의 내용과 점자 </a:t>
            </a:r>
            <a:r>
              <a:rPr kumimoji="0" lang="ko-KR" altLang="en-US" sz="1800" b="1" i="0" u="none" strike="noStrike" kern="0" cap="none" spc="0" normalizeH="0" noProof="0" dirty="0" err="1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출력기로</a:t>
            </a:r>
            <a:r>
              <a:rPr kumimoji="0" lang="ko-KR" altLang="en-US" sz="18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나오는 내용에 오류가 없도록 한다</a:t>
            </a:r>
            <a:r>
              <a:rPr kumimoji="0" lang="en-US" altLang="ko-KR" sz="18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kumimoji="0" lang="en-US" altLang="ko-KR" sz="18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시각장애인이 사용함에 있어서 </a:t>
            </a:r>
            <a:r>
              <a:rPr lang="ko-KR" altLang="en-US" sz="18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불편함이 없도록 한다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시각장애인이 읽기에 불편하지 않은 시간 안에 점자 </a:t>
            </a:r>
            <a:r>
              <a:rPr lang="ko-KR" altLang="en-US" sz="1800" b="1" kern="0" dirty="0" err="1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출력기로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 출력한다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요구 사항 분석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4.3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기타 요구사항</a:t>
            </a: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원본 문서</a:t>
            </a:r>
            <a:r>
              <a:rPr lang="en-US" altLang="ko-KR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서적과 변환된 문서</a:t>
            </a:r>
            <a:r>
              <a:rPr lang="en-US" altLang="ko-KR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서적의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Text </a:t>
            </a:r>
            <a:r>
              <a:rPr lang="ko-KR" altLang="en-US" sz="1800" b="1" kern="0" baseline="0" dirty="0" err="1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일치율을</a:t>
            </a: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99.9</a:t>
            </a:r>
            <a:r>
              <a:rPr lang="en-US" altLang="ko-KR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% </a:t>
            </a: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유지한다</a:t>
            </a:r>
            <a:r>
              <a:rPr lang="en-US" altLang="ko-KR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문서</a:t>
            </a:r>
            <a:r>
              <a:rPr lang="en-US" altLang="ko-KR" sz="18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서적 내용에 대해 줄 바꿈 작업이 즉각적으로 일어나도록 한다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endParaRPr lang="en-US" altLang="ko-KR" sz="18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간편한 </a:t>
            </a:r>
            <a:r>
              <a:rPr lang="en-US" altLang="ko-KR" sz="18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User Interface</a:t>
            </a:r>
            <a:r>
              <a:rPr lang="ko-KR" altLang="en-US" sz="18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를 이용하여 효율적인 기능을 수행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하도록 한다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시스템 구성도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787538"/>
            <a:ext cx="1477963" cy="1301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25710" y="2303379"/>
            <a:ext cx="2746368" cy="208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6512" y="3429000"/>
            <a:ext cx="2259012" cy="13636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아래로 구부러진 화살표 6"/>
          <p:cNvSpPr/>
          <p:nvPr/>
        </p:nvSpPr>
        <p:spPr bwMode="auto">
          <a:xfrm rot="1414521">
            <a:off x="1692248" y="1917713"/>
            <a:ext cx="1920875" cy="57150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ko-KR" altLang="en-US" sz="2000" b="1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아래로 구부러진 화살표 7"/>
          <p:cNvSpPr/>
          <p:nvPr/>
        </p:nvSpPr>
        <p:spPr bwMode="auto">
          <a:xfrm rot="1414521">
            <a:off x="5073623" y="3021025"/>
            <a:ext cx="1922462" cy="57150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ko-KR" altLang="en-US" sz="2000" b="1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아래로 구부러진 화살표 8"/>
          <p:cNvSpPr/>
          <p:nvPr/>
        </p:nvSpPr>
        <p:spPr bwMode="auto">
          <a:xfrm rot="12292130">
            <a:off x="4714848" y="3752863"/>
            <a:ext cx="1920875" cy="571500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ko-KR" altLang="en-US" sz="2000" b="1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세로로 말린 두루마리 모양 9"/>
          <p:cNvSpPr/>
          <p:nvPr/>
        </p:nvSpPr>
        <p:spPr bwMode="auto">
          <a:xfrm>
            <a:off x="2182785" y="1374788"/>
            <a:ext cx="714375" cy="928687"/>
          </a:xfrm>
          <a:prstGeom prst="verticalScroll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n-US" altLang="ko-KR" sz="20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….….</a:t>
            </a:r>
            <a:endParaRPr lang="ko-KR" altLang="en-US" sz="20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2897160" y="1558938"/>
            <a:ext cx="24206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PDF, DOC, ePub ...</a:t>
            </a:r>
            <a:endParaRPr lang="ko-KR" altLang="en-US" sz="20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1500166" y="4429132"/>
            <a:ext cx="36433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Document </a:t>
            </a:r>
            <a:r>
              <a:rPr lang="en-US" altLang="ko-KR" sz="2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Converting ...</a:t>
            </a:r>
            <a:endParaRPr lang="en-US" altLang="ko-KR" sz="2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5572132" y="2571744"/>
            <a:ext cx="29367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Print to Braille Display</a:t>
            </a:r>
            <a:endParaRPr lang="en-US" altLang="ko-KR" sz="2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5179442" y="4429132"/>
            <a:ext cx="3035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Instruction with Button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시스템 구성도</a:t>
            </a:r>
            <a:endParaRPr lang="en-US" altLang="ko-KR" dirty="0"/>
          </a:p>
        </p:txBody>
      </p:sp>
      <p:grpSp>
        <p:nvGrpSpPr>
          <p:cNvPr id="51" name="그룹 50"/>
          <p:cNvGrpSpPr/>
          <p:nvPr/>
        </p:nvGrpSpPr>
        <p:grpSpPr>
          <a:xfrm>
            <a:off x="214282" y="857232"/>
            <a:ext cx="8501122" cy="4786346"/>
            <a:chOff x="214282" y="857232"/>
            <a:chExt cx="8501122" cy="4786346"/>
          </a:xfrm>
        </p:grpSpPr>
        <p:grpSp>
          <p:nvGrpSpPr>
            <p:cNvPr id="43" name="그룹 42"/>
            <p:cNvGrpSpPr/>
            <p:nvPr/>
          </p:nvGrpSpPr>
          <p:grpSpPr>
            <a:xfrm>
              <a:off x="2928926" y="857232"/>
              <a:ext cx="2928958" cy="4786346"/>
              <a:chOff x="3071802" y="785794"/>
              <a:chExt cx="2928958" cy="4786346"/>
            </a:xfrm>
          </p:grpSpPr>
          <p:sp>
            <p:nvSpPr>
              <p:cNvPr id="21" name="모서리가 둥근 직사각형 20"/>
              <p:cNvSpPr/>
              <p:nvPr/>
            </p:nvSpPr>
            <p:spPr bwMode="auto">
              <a:xfrm>
                <a:off x="3071802" y="1214422"/>
                <a:ext cx="2928958" cy="435771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23" name="모서리가 둥근 직사각형 22"/>
              <p:cNvSpPr/>
              <p:nvPr/>
            </p:nvSpPr>
            <p:spPr bwMode="auto">
              <a:xfrm>
                <a:off x="3428992" y="1571612"/>
                <a:ext cx="2214578" cy="71438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Converting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20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(to UNICODE)</a:t>
                </a:r>
                <a:endParaRPr kumimoji="0" lang="ko-KR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4" name="모서리가 둥근 직사각형 23"/>
              <p:cNvSpPr/>
              <p:nvPr/>
            </p:nvSpPr>
            <p:spPr bwMode="auto">
              <a:xfrm>
                <a:off x="4643438" y="4500570"/>
                <a:ext cx="1214446" cy="71438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Input</a:t>
                </a:r>
                <a:endParaRPr kumimoji="0" lang="ko-KR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5" name="모서리가 둥근 직사각형 24"/>
              <p:cNvSpPr/>
              <p:nvPr/>
            </p:nvSpPr>
            <p:spPr bwMode="auto">
              <a:xfrm>
                <a:off x="4643438" y="3500438"/>
                <a:ext cx="1214446" cy="71438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20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Output</a:t>
                </a:r>
                <a:endParaRPr kumimoji="0" lang="ko-KR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8" name="줄무늬가 있는 오른쪽 화살표 27"/>
              <p:cNvSpPr/>
              <p:nvPr/>
            </p:nvSpPr>
            <p:spPr bwMode="auto">
              <a:xfrm rot="5400000">
                <a:off x="4107653" y="2393149"/>
                <a:ext cx="857256" cy="928694"/>
              </a:xfrm>
              <a:prstGeom prst="stripedRightArrow">
                <a:avLst/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lin ang="18900000" scaled="1"/>
                <a:tileRect/>
              </a:gradFill>
              <a:ln w="9525" cap="flat" cmpd="sng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143240" y="785794"/>
                <a:ext cx="27139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 smtClean="0">
                    <a:solidFill>
                      <a:schemeClr val="bg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Embedded Board</a:t>
                </a:r>
                <a:endParaRPr lang="ko-KR" altLang="en-US" b="1" dirty="0">
                  <a:solidFill>
                    <a:schemeClr val="bg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1" name="그룹 40"/>
            <p:cNvGrpSpPr/>
            <p:nvPr/>
          </p:nvGrpSpPr>
          <p:grpSpPr>
            <a:xfrm>
              <a:off x="6429388" y="2857496"/>
              <a:ext cx="2286016" cy="2786082"/>
              <a:chOff x="6572264" y="2786058"/>
              <a:chExt cx="2286016" cy="2786082"/>
            </a:xfrm>
          </p:grpSpPr>
          <p:grpSp>
            <p:nvGrpSpPr>
              <p:cNvPr id="30" name="그룹 29"/>
              <p:cNvGrpSpPr/>
              <p:nvPr/>
            </p:nvGrpSpPr>
            <p:grpSpPr>
              <a:xfrm>
                <a:off x="6572264" y="3214686"/>
                <a:ext cx="2286016" cy="2357454"/>
                <a:chOff x="428596" y="1214422"/>
                <a:chExt cx="2286016" cy="2357454"/>
              </a:xfrm>
            </p:grpSpPr>
            <p:sp>
              <p:nvSpPr>
                <p:cNvPr id="31" name="모서리가 둥근 직사각형 30"/>
                <p:cNvSpPr/>
                <p:nvPr/>
              </p:nvSpPr>
              <p:spPr bwMode="auto">
                <a:xfrm>
                  <a:off x="428596" y="1214422"/>
                  <a:ext cx="2286016" cy="2357454"/>
                </a:xfrm>
                <a:prstGeom prst="round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ko-KR" alt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  <p:sp>
              <p:nvSpPr>
                <p:cNvPr id="32" name="모서리가 둥근 직사각형 31"/>
                <p:cNvSpPr/>
                <p:nvPr/>
              </p:nvSpPr>
              <p:spPr bwMode="auto">
                <a:xfrm>
                  <a:off x="785786" y="1571612"/>
                  <a:ext cx="1571636" cy="714380"/>
                </a:xfrm>
                <a:prstGeom prst="round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ko-KR" sz="2000" b="1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</a:rPr>
                    <a:t>Braille Display</a:t>
                  </a:r>
                  <a:endParaRPr kumimoji="0" lang="ko-KR" altLang="en-US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33" name="모서리가 둥근 직사각형 32"/>
                <p:cNvSpPr/>
                <p:nvPr/>
              </p:nvSpPr>
              <p:spPr bwMode="auto">
                <a:xfrm>
                  <a:off x="785786" y="2500306"/>
                  <a:ext cx="1571636" cy="714380"/>
                </a:xfrm>
                <a:prstGeom prst="round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2000" b="1" dirty="0" smtClean="0">
                      <a:solidFill>
                        <a:schemeClr val="tx1"/>
                      </a:solidFill>
                      <a:latin typeface="맑은 고딕" pitchFamily="50" charset="-127"/>
                      <a:ea typeface="맑은 고딕" pitchFamily="50" charset="-127"/>
                    </a:rPr>
                    <a:t>Button</a:t>
                  </a:r>
                  <a:endParaRPr kumimoji="0" lang="ko-KR" altLang="en-US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sp>
            <p:nvSpPr>
              <p:cNvPr id="37" name="TextBox 36"/>
              <p:cNvSpPr txBox="1"/>
              <p:nvPr/>
            </p:nvSpPr>
            <p:spPr>
              <a:xfrm>
                <a:off x="7143768" y="2786058"/>
                <a:ext cx="11544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 smtClean="0">
                    <a:solidFill>
                      <a:schemeClr val="bg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Device</a:t>
                </a:r>
                <a:endParaRPr lang="ko-KR" altLang="en-US" b="1" dirty="0">
                  <a:solidFill>
                    <a:schemeClr val="bg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214282" y="857232"/>
              <a:ext cx="2286016" cy="2786082"/>
              <a:chOff x="285720" y="785794"/>
              <a:chExt cx="2286016" cy="2786082"/>
            </a:xfrm>
          </p:grpSpPr>
          <p:sp>
            <p:nvSpPr>
              <p:cNvPr id="16" name="모서리가 둥근 직사각형 15"/>
              <p:cNvSpPr/>
              <p:nvPr/>
            </p:nvSpPr>
            <p:spPr bwMode="auto">
              <a:xfrm>
                <a:off x="285720" y="1214422"/>
                <a:ext cx="2286016" cy="235745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5" name="모서리가 둥근 직사각형 14"/>
              <p:cNvSpPr/>
              <p:nvPr/>
            </p:nvSpPr>
            <p:spPr bwMode="auto">
              <a:xfrm>
                <a:off x="642910" y="1571612"/>
                <a:ext cx="1571636" cy="71438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Document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20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(PDF,DOC)</a:t>
                </a:r>
                <a:endParaRPr kumimoji="0" lang="ko-KR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" name="모서리가 둥근 직사각형 17"/>
              <p:cNvSpPr/>
              <p:nvPr/>
            </p:nvSpPr>
            <p:spPr bwMode="auto">
              <a:xfrm>
                <a:off x="642910" y="2500306"/>
                <a:ext cx="1571636" cy="71438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Book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20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(</a:t>
                </a:r>
                <a:r>
                  <a:rPr lang="en-US" altLang="ko-KR" sz="2000" b="1" dirty="0" err="1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ePub</a:t>
                </a:r>
                <a:r>
                  <a:rPr lang="en-US" altLang="ko-KR" sz="20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)</a:t>
                </a:r>
                <a:endParaRPr kumimoji="0" lang="ko-KR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762016" y="785794"/>
                <a:ext cx="13096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 smtClean="0">
                    <a:solidFill>
                      <a:schemeClr val="bg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Storage</a:t>
                </a:r>
                <a:endParaRPr lang="ko-KR" altLang="en-US" b="1" dirty="0">
                  <a:solidFill>
                    <a:schemeClr val="bg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26" name="줄무늬가 있는 오른쪽 화살표 25"/>
            <p:cNvSpPr/>
            <p:nvPr/>
          </p:nvSpPr>
          <p:spPr bwMode="auto">
            <a:xfrm>
              <a:off x="2214546" y="1571612"/>
              <a:ext cx="928694" cy="928694"/>
            </a:xfrm>
            <a:prstGeom prst="stripedRightArrow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 w="9525" cap="flat" cmpd="sng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8" name="모서리가 둥근 직사각형 47"/>
            <p:cNvSpPr/>
            <p:nvPr/>
          </p:nvSpPr>
          <p:spPr bwMode="auto">
            <a:xfrm>
              <a:off x="3143240" y="3571876"/>
              <a:ext cx="1214446" cy="1714512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Device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20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Driver</a:t>
              </a:r>
              <a:endPara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왼쪽/오른쪽 화살표 34"/>
            <p:cNvSpPr/>
            <p:nvPr/>
          </p:nvSpPr>
          <p:spPr bwMode="auto">
            <a:xfrm>
              <a:off x="5715008" y="3714752"/>
              <a:ext cx="1000132" cy="500066"/>
            </a:xfrm>
            <a:prstGeom prst="leftRightArrow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 w="9525" cap="flat" cmpd="sng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7" name="왼쪽/오른쪽 화살표 26"/>
          <p:cNvSpPr/>
          <p:nvPr/>
        </p:nvSpPr>
        <p:spPr bwMode="auto">
          <a:xfrm>
            <a:off x="5715008" y="4643446"/>
            <a:ext cx="1000132" cy="500066"/>
          </a:xfrm>
          <a:prstGeom prst="leftRightArrow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 cap="flat" cmpd="sng" algn="ctr">
            <a:solidFill>
              <a:srgbClr val="CC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5500694" y="1142984"/>
            <a:ext cx="3314492" cy="857255"/>
            <a:chOff x="5500694" y="1142984"/>
            <a:chExt cx="3314492" cy="857255"/>
          </a:xfrm>
        </p:grpSpPr>
        <p:cxnSp>
          <p:nvCxnSpPr>
            <p:cNvPr id="34" name="직선 화살표 연결선 33"/>
            <p:cNvCxnSpPr>
              <a:stCxn id="39" idx="1"/>
              <a:endCxn id="23" idx="3"/>
            </p:cNvCxnSpPr>
            <p:nvPr/>
          </p:nvCxnSpPr>
          <p:spPr bwMode="auto">
            <a:xfrm rot="10800000" flipV="1">
              <a:off x="5500694" y="1535398"/>
              <a:ext cx="1071570" cy="46484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sp>
          <p:nvSpPr>
            <p:cNvPr id="39" name="TextBox 38"/>
            <p:cNvSpPr txBox="1"/>
            <p:nvPr/>
          </p:nvSpPr>
          <p:spPr>
            <a:xfrm>
              <a:off x="6572264" y="1142984"/>
              <a:ext cx="2242922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b="1" dirty="0" smtClean="0">
                  <a:latin typeface="맑은 고딕" pitchFamily="50" charset="-127"/>
                  <a:ea typeface="맑은 고딕" pitchFamily="50" charset="-127"/>
                </a:rPr>
                <a:t>문서 변환 </a:t>
              </a:r>
              <a:r>
                <a:rPr lang="en-US" altLang="ko-KR" sz="1500" b="1" dirty="0" smtClean="0">
                  <a:latin typeface="맑은 고딕" pitchFamily="50" charset="-127"/>
                  <a:ea typeface="맑은 고딕" pitchFamily="50" charset="-127"/>
                </a:rPr>
                <a:t>Algorithm</a:t>
              </a:r>
              <a:r>
                <a:rPr lang="ko-KR" altLang="en-US" sz="1500" b="1" dirty="0" smtClean="0">
                  <a:latin typeface="맑은 고딕" pitchFamily="50" charset="-127"/>
                  <a:ea typeface="맑은 고딕" pitchFamily="50" charset="-127"/>
                </a:rPr>
                <a:t>을</a:t>
              </a:r>
              <a:endParaRPr lang="en-US" altLang="ko-KR" sz="15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500" b="1" dirty="0" smtClean="0">
                  <a:latin typeface="맑은 고딕" pitchFamily="50" charset="-127"/>
                  <a:ea typeface="맑은 고딕" pitchFamily="50" charset="-127"/>
                </a:rPr>
                <a:t>이용한 유니코드 형식의</a:t>
              </a:r>
              <a:endParaRPr lang="en-US" altLang="ko-KR" sz="15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500" b="1" dirty="0" smtClean="0">
                  <a:latin typeface="맑은 고딕" pitchFamily="50" charset="-127"/>
                  <a:ea typeface="맑은 고딕" pitchFamily="50" charset="-127"/>
                </a:rPr>
                <a:t>데이터로 변환</a:t>
              </a:r>
              <a:endParaRPr lang="ko-KR" altLang="en-US" sz="15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6" name="직선 화살표 연결선 45"/>
          <p:cNvCxnSpPr>
            <a:endCxn id="48" idx="1"/>
          </p:cNvCxnSpPr>
          <p:nvPr/>
        </p:nvCxnSpPr>
        <p:spPr bwMode="auto">
          <a:xfrm flipV="1">
            <a:off x="2357422" y="4429132"/>
            <a:ext cx="785818" cy="42862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214282" y="4715872"/>
            <a:ext cx="221964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atin typeface="맑은 고딕" pitchFamily="50" charset="-127"/>
                <a:ea typeface="맑은 고딕" pitchFamily="50" charset="-127"/>
              </a:rPr>
              <a:t>점자출력기와 </a:t>
            </a:r>
            <a:r>
              <a:rPr lang="en-US" altLang="ko-KR" sz="1500" b="1" dirty="0" smtClean="0">
                <a:latin typeface="맑은 고딕" pitchFamily="50" charset="-127"/>
                <a:ea typeface="맑은 고딕" pitchFamily="50" charset="-127"/>
              </a:rPr>
              <a:t>Button</a:t>
            </a:r>
            <a:r>
              <a:rPr lang="ko-KR" altLang="en-US" sz="1500" b="1" dirty="0" smtClean="0">
                <a:latin typeface="맑은 고딕" pitchFamily="50" charset="-127"/>
                <a:ea typeface="맑은 고딕" pitchFamily="50" charset="-127"/>
              </a:rPr>
              <a:t>을</a:t>
            </a:r>
            <a:endParaRPr lang="en-US" altLang="ko-KR" sz="15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500" b="1" dirty="0" smtClean="0">
                <a:latin typeface="맑은 고딕" pitchFamily="50" charset="-127"/>
                <a:ea typeface="맑은 고딕" pitchFamily="50" charset="-127"/>
              </a:rPr>
              <a:t>제어하기 위한</a:t>
            </a:r>
            <a:endParaRPr lang="en-US" altLang="ko-KR" sz="15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500" b="1" dirty="0" smtClean="0">
                <a:latin typeface="맑은 고딕" pitchFamily="50" charset="-127"/>
                <a:ea typeface="맑은 고딕" pitchFamily="50" charset="-127"/>
              </a:rPr>
              <a:t>Device Driver </a:t>
            </a:r>
            <a:r>
              <a:rPr lang="ko-KR" altLang="en-US" sz="1500" b="1" dirty="0" smtClean="0">
                <a:latin typeface="맑은 고딕" pitchFamily="50" charset="-127"/>
                <a:ea typeface="맑은 고딕" pitchFamily="50" charset="-127"/>
              </a:rPr>
              <a:t>작성</a:t>
            </a:r>
            <a:endParaRPr lang="ko-KR" altLang="en-US" sz="15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소프트웨어 구성도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29252008" descr="EMB00000e3837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1684402"/>
            <a:ext cx="9144001" cy="3959176"/>
          </a:xfrm>
          <a:prstGeom prst="rect">
            <a:avLst/>
          </a:prstGeom>
          <a:noFill/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6.1 User Interface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구성도</a:t>
            </a: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소프트웨어 구성도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6.2 Converting &amp; Print</a:t>
            </a:r>
            <a:r>
              <a:rPr kumimoji="0" lang="en-US" altLang="ko-KR" sz="2000" b="1" i="0" u="none" strike="noStrike" kern="0" cap="none" spc="0" normalizeH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Braille Display</a:t>
            </a: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73552104" descr="EMB00000e3837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0045" y="1428736"/>
            <a:ext cx="8076797" cy="4857784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 </a:t>
            </a:r>
            <a:r>
              <a:rPr lang="ko-KR" altLang="en-US" dirty="0" smtClean="0"/>
              <a:t>업무 분담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graphicFrame>
        <p:nvGraphicFramePr>
          <p:cNvPr id="4" name="Group 95"/>
          <p:cNvGraphicFramePr>
            <a:graphicFrameLocks/>
          </p:cNvGraphicFramePr>
          <p:nvPr/>
        </p:nvGraphicFramePr>
        <p:xfrm>
          <a:off x="285720" y="1285020"/>
          <a:ext cx="8501123" cy="457287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87075"/>
                <a:gridCol w="2538016"/>
                <a:gridCol w="2538016"/>
                <a:gridCol w="2538016"/>
              </a:tblGrid>
              <a:tr h="478440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endParaRPr kumimoji="1" lang="ko-KR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권  혁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김제민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홍은지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261470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자료</a:t>
                      </a:r>
                      <a:endParaRPr kumimoji="1" lang="en-US" altLang="ko-KR" sz="1800" b="1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수집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점자 </a:t>
                      </a:r>
                      <a:r>
                        <a:rPr kumimoji="1" lang="ko-KR" alt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출력기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및 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Device Driver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Embedded Board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OS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Document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en-US" altLang="ko-KR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Templete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003796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Device Driver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Embedded Board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OS Protocol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(Device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간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Document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변환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API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929325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Device Driver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점자 </a:t>
                      </a:r>
                      <a:r>
                        <a:rPr kumimoji="1" lang="ko-KR" alt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출력기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출력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Application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Device Driver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User Interface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Document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변환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Application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User Interface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003796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시스템 신뢰성 테스트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문서 변환 테스트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출력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Application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User Interface(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 정확도 및 편의성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문제점 및 해결방안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8.1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다양한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 Document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변환 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Algorithm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구현</a:t>
            </a: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 문제</a:t>
            </a: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다양한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Template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의 조사 후 가장 많이 이용되는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Template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를 지원</a:t>
            </a: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Converting Algorithm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을 최적화 하여 정확한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Text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변환이 가능하도록 함</a:t>
            </a: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Tx/>
              <a:buChar char="•"/>
            </a:pPr>
            <a:endParaRPr kumimoji="0" lang="en-US" altLang="ko-KR" sz="18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</a:endParaRPr>
          </a:p>
          <a:p>
            <a:pPr marL="342900" indent="-342900" latinLnBrk="1">
              <a:spcBef>
                <a:spcPct val="20000"/>
              </a:spcBef>
              <a:buFontTx/>
              <a:buChar char="•"/>
            </a:pP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8.2 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변환된 </a:t>
            </a: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Document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의 </a:t>
            </a:r>
            <a:r>
              <a:rPr lang="ko-KR" altLang="en-US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굴림" charset="-127"/>
              </a:rPr>
              <a:t>다중 </a:t>
            </a:r>
            <a:r>
              <a:rPr lang="en-US" altLang="ko-KR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굴림" charset="-127"/>
              </a:rPr>
              <a:t>Line</a:t>
            </a:r>
            <a:r>
              <a:rPr lang="ko-KR" altLang="en-US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굴림" charset="-127"/>
              </a:rPr>
              <a:t>을 단일 </a:t>
            </a:r>
            <a:r>
              <a:rPr lang="en-US" altLang="ko-KR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굴림" charset="-127"/>
              </a:rPr>
              <a:t>Line</a:t>
            </a:r>
            <a:r>
              <a:rPr lang="ko-KR" altLang="en-US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굴림" charset="-127"/>
              </a:rPr>
              <a:t>으로 처리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하는 문제</a:t>
            </a: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현재 다중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Line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점자 </a:t>
            </a:r>
            <a:r>
              <a:rPr lang="ko-KR" altLang="en-US" sz="1800" b="1" kern="0" dirty="0" err="1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출력기의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 개발이 이루어지지 않았다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본 졸업작품에서는 단일 </a:t>
            </a: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Line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의 출력 기능을 우선 구현한다</a:t>
            </a: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추가로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Project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진행 시 다중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Line </a:t>
            </a:r>
            <a:r>
              <a:rPr lang="ko-KR" altLang="en-US" sz="1800" b="1" kern="0" dirty="0" err="1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출력기에서도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 호환 가능하도록 구현한다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.</a:t>
            </a:r>
            <a:endParaRPr kumimoji="0" lang="en-US" altLang="ko-KR" sz="1800" b="1" i="0" u="none" strike="noStrike" kern="0" cap="none" spc="0" normalizeH="0" baseline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Tx/>
              <a:buChar char="•"/>
            </a:pP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342900" indent="-342900" latinLnBrk="1">
              <a:spcBef>
                <a:spcPct val="20000"/>
              </a:spcBef>
              <a:buFontTx/>
              <a:buChar char="•"/>
            </a:pP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8.3 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시각장애인이 불편해하지 않도록 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간단한 </a:t>
            </a: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User Interface 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굴림" charset="-127"/>
              </a:rPr>
              <a:t>구성</a:t>
            </a:r>
            <a:endParaRPr kumimoji="0" lang="en-US" altLang="ko-KR" sz="1800" b="1" i="0" u="none" strike="noStrike" kern="0" cap="none" spc="0" normalizeH="0" baseline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적은 </a:t>
            </a: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User </a:t>
            </a: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Interface Component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를 이용한 효율적인 메뉴 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구성</a:t>
            </a: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장애인이 쉽게 사용할 수 있도록 편의성 강화</a:t>
            </a: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굴림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9. </a:t>
            </a:r>
            <a:r>
              <a:rPr lang="ko-KR" altLang="en-US" dirty="0" smtClean="0"/>
              <a:t>졸업연구 수행일정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214282" y="861398"/>
          <a:ext cx="8715436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65"/>
                <a:gridCol w="2138253"/>
                <a:gridCol w="504953"/>
                <a:gridCol w="526166"/>
                <a:gridCol w="587327"/>
                <a:gridCol w="584788"/>
                <a:gridCol w="668072"/>
                <a:gridCol w="584788"/>
                <a:gridCol w="587327"/>
                <a:gridCol w="533497"/>
              </a:tblGrid>
              <a:tr h="3200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추진사항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상세 내용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09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594360">
                <a:tc rowSpan="2">
                  <a:txBody>
                    <a:bodyPr/>
                    <a:lstStyle/>
                    <a:p>
                      <a:pPr marL="342900" indent="-342900" algn="ctr" latinLnBrk="1">
                        <a:buNone/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졸업연구 과제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indent="-342900" algn="ctr" latinLnBrk="1">
                        <a:buNone/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조사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&amp;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계획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졸업연구 조</a:t>
                      </a:r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 및 선정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5943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졸업연구 계획서 발표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연구과제 </a:t>
                      </a:r>
                      <a:endParaRPr lang="en-US" altLang="ko-KR" sz="1400" b="1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요구 분석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 과제 자료 수집 및 분석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3336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설계 및 구현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설계 및 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상세 설계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기본 기능 구현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514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상세 구현 및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프로토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타입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테스트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시범 운영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45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유지 보수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기능 추가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오류수정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 기능별 </a:t>
                      </a:r>
                      <a:r>
                        <a:rPr lang="ko-KR" altLang="en-US" sz="14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추가및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수정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최종 시스템 운영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 bwMode="auto">
          <a:xfrm>
            <a:off x="4357686" y="1928802"/>
            <a:ext cx="500066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직선 화살표 연결선 7"/>
          <p:cNvCxnSpPr/>
          <p:nvPr/>
        </p:nvCxnSpPr>
        <p:spPr bwMode="auto">
          <a:xfrm>
            <a:off x="4357686" y="2500306"/>
            <a:ext cx="500066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직선 화살표 연결선 8"/>
          <p:cNvCxnSpPr/>
          <p:nvPr/>
        </p:nvCxnSpPr>
        <p:spPr bwMode="auto">
          <a:xfrm>
            <a:off x="4857752" y="3071810"/>
            <a:ext cx="114300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직선 화살표 연결선 10"/>
          <p:cNvCxnSpPr/>
          <p:nvPr/>
        </p:nvCxnSpPr>
        <p:spPr bwMode="auto">
          <a:xfrm>
            <a:off x="4857752" y="3571876"/>
            <a:ext cx="114300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직선 화살표 연결선 11"/>
          <p:cNvCxnSpPr/>
          <p:nvPr/>
        </p:nvCxnSpPr>
        <p:spPr bwMode="auto">
          <a:xfrm>
            <a:off x="5429256" y="4000504"/>
            <a:ext cx="114300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직선 화살표 연결선 12"/>
          <p:cNvCxnSpPr/>
          <p:nvPr/>
        </p:nvCxnSpPr>
        <p:spPr bwMode="auto">
          <a:xfrm>
            <a:off x="5429256" y="4429132"/>
            <a:ext cx="178595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직선 화살표 연결선 14"/>
          <p:cNvCxnSpPr/>
          <p:nvPr/>
        </p:nvCxnSpPr>
        <p:spPr bwMode="auto">
          <a:xfrm>
            <a:off x="6572264" y="5429264"/>
            <a:ext cx="185738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직선 화살표 연결선 15"/>
          <p:cNvCxnSpPr/>
          <p:nvPr/>
        </p:nvCxnSpPr>
        <p:spPr bwMode="auto">
          <a:xfrm>
            <a:off x="6572264" y="5000636"/>
            <a:ext cx="185738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직선 화살표 연결선 19"/>
          <p:cNvCxnSpPr/>
          <p:nvPr/>
        </p:nvCxnSpPr>
        <p:spPr bwMode="auto">
          <a:xfrm>
            <a:off x="7286612" y="5857892"/>
            <a:ext cx="1643106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ical_awakening">
  <a:themeElements>
    <a:clrScheme name="Office 테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Eurostile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technological_awakening</Template>
  <TotalTime>665</TotalTime>
  <Words>817</Words>
  <Application>Microsoft Office PowerPoint</Application>
  <PresentationFormat>화면 슬라이드 쇼(4:3)</PresentationFormat>
  <Paragraphs>221</Paragraphs>
  <Slides>17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technological_awakening</vt:lpstr>
      <vt:lpstr>점자 출력기를 이용한 시각장애인 용 전자 책</vt:lpstr>
      <vt:lpstr>CONTENT</vt:lpstr>
      <vt:lpstr>졸업 연구 개요</vt:lpstr>
      <vt:lpstr>2. 연구배경 및 개발목표</vt:lpstr>
      <vt:lpstr>2. 연구배경 및 개발목표</vt:lpstr>
      <vt:lpstr>2. 관련 사례</vt:lpstr>
      <vt:lpstr>3. 시스템 개발 방법</vt:lpstr>
      <vt:lpstr>4. 요구 사항 분석</vt:lpstr>
      <vt:lpstr>4. 요구 사항 분석</vt:lpstr>
      <vt:lpstr>4. 요구 사항 분석</vt:lpstr>
      <vt:lpstr>5. 시스템 구성도</vt:lpstr>
      <vt:lpstr>5. 시스템 구성도</vt:lpstr>
      <vt:lpstr>6. 소프트웨어 구성도</vt:lpstr>
      <vt:lpstr>6. 소프트웨어 구성도</vt:lpstr>
      <vt:lpstr>7. 업무 분담</vt:lpstr>
      <vt:lpstr>8. 문제점 및 해결방안</vt:lpstr>
      <vt:lpstr>9. 졸업연구 수행일정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Technological Awakening</dc:title>
  <dc:creator>JMsource</dc:creator>
  <cp:lastModifiedBy>JMsource</cp:lastModifiedBy>
  <cp:revision>91</cp:revision>
  <dcterms:created xsi:type="dcterms:W3CDTF">2009-12-21T01:59:51Z</dcterms:created>
  <dcterms:modified xsi:type="dcterms:W3CDTF">2009-12-28T07:34:00Z</dcterms:modified>
</cp:coreProperties>
</file>