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embedTrueTypeFonts="1" saveSubsetFonts="1">
  <p:sldMasterIdLst>
    <p:sldMasterId id="214748366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present/>
    <p:sldAll/>
    <p:penClr>
      <a:srgbClr val="ff0000"/>
    </p:penClr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lastView="sldThumbnailView">
  <p:normalViewPr showOutlineIcons="0">
    <p:restoredLeft sz="10353"/>
    <p:restoredTop sz="93866"/>
  </p:normalViewPr>
  <p:slideViewPr>
    <p:cSldViewPr snapToGrid="0" snapToObjects="1">
      <p:cViewPr varScale="1">
        <p:scale>
          <a:sx n="103" d="100"/>
          <a:sy n="103" d="100"/>
        </p:scale>
        <p:origin x="876" y="102"/>
      </p:cViewPr>
      <p:guideLst>
        <p:guide orient="horz" pos="2157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presProps" Target="presProps.xml"  /><Relationship Id="rId31" Type="http://schemas.openxmlformats.org/officeDocument/2006/relationships/viewProps" Target="viewProps.xml"  /><Relationship Id="rId32" Type="http://schemas.openxmlformats.org/officeDocument/2006/relationships/theme" Target="theme/theme1.xml"  /><Relationship Id="rId33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나눔스퀘어"/>
                <a:ea typeface="나눔스퀘어"/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나눔스퀘어"/>
                <a:ea typeface="나눔스퀘어"/>
              </a:defRPr>
            </a:lvl1pPr>
          </a:lstStyle>
          <a:p>
            <a:pPr lvl="0">
              <a:defRPr lang="ko-KR" altLang="en-US"/>
            </a:pPr>
            <a:fld id="{B5FF55E4-E7AD-4F99-8D18-71968AA37575}" type="datetime1">
              <a:rPr lang="ko-KR" altLang="en-US"/>
              <a:pPr lvl="0">
                <a:defRPr lang="ko-KR" altLang="en-US"/>
              </a:pPr>
              <a:t>2025-06-08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나눔스퀘어"/>
                <a:ea typeface="나눔스퀘어"/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나눔스퀘어"/>
                <a:ea typeface="나눔스퀘어"/>
              </a:defRPr>
            </a:lvl1pPr>
          </a:lstStyle>
          <a:p>
            <a:pPr lvl="0">
              <a:defRPr lang="ko-KR" altLang="en-US"/>
            </a:pPr>
            <a:fld id="{28E5D57D-E12E-477C-A7D1-F7C0F54FFF1D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"/>
        <a:ea typeface="나눔스퀘어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"/>
        <a:ea typeface="나눔스퀘어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"/>
        <a:ea typeface="나눔스퀘어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"/>
        <a:ea typeface="나눔스퀘어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"/>
        <a:ea typeface="나눔스퀘어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Relationship Id="rId3" Type="http://schemas.openxmlformats.org/officeDocument/2006/relationships/hyperlink" Target="https://www.wah.or.kr:444/board/boardView.asp?page=1&amp;amp;brd_sn=4&amp;amp;brd_idx=1013" TargetMode="External"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시각 장애인의 점자 해독 가능 비율이 </a:t>
            </a:r>
            <a:r>
              <a:rPr lang="en-US" altLang="ko-KR"/>
              <a:t>10% </a:t>
            </a:r>
            <a:r>
              <a:rPr lang="ko-KR" altLang="en-US"/>
              <a:t>초반인 이유 </a:t>
            </a:r>
            <a:r>
              <a:rPr lang="en-US" altLang="ko-KR"/>
              <a:t>-&gt; </a:t>
            </a:r>
            <a:r>
              <a:rPr lang="ko-KR" altLang="en-US"/>
              <a:t>시각 장애인의 </a:t>
            </a:r>
            <a:r>
              <a:rPr lang="en-US" altLang="ko-KR"/>
              <a:t>90% </a:t>
            </a:r>
            <a:r>
              <a:rPr lang="ko-KR" altLang="en-US"/>
              <a:t>는 후천적 원인으로 장애를 얻기 때문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28E5D57D-E12E-477C-A7D1-F7C0F54FFF1D}" type="slidenum">
              <a:rPr lang="ko-KR" altLang="en-US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</p:cSld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 defTabSz="9000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  <a:defRPr lang="ko-KR"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28E5D57D-E12E-477C-A7D1-F7C0F54FFF1D}" type="slidenum">
              <a:rPr lang="ko-KR" altLang="en-US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228600" indent="-228600" algn="l" defTabSz="9000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1800"/>
            </a:pPr>
            <a:r>
              <a:rPr lang="en-US" altLang="ko-KR" sz="1200"/>
              <a:t>APNS: </a:t>
            </a:r>
            <a:r>
              <a:rPr lang="ko-KR" altLang="en-US" sz="1200"/>
              <a:t>애플 푸시 알림 서비스</a:t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6</a:t>
            </a:fld>
            <a:endParaRPr lang="ko-KR" altLang="en-US" sz="1200"/>
          </a:p>
        </p:txBody>
      </p:sp>
    </p:spTree>
  </p:cSld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200"/>
              <a:t/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7</a:t>
            </a:fld>
            <a:endParaRPr lang="ko-KR" altLang="en-US" sz="1200"/>
          </a:p>
        </p:txBody>
      </p:sp>
    </p:spTree>
  </p:cSld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200"/>
              <a:t/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8</a:t>
            </a:fld>
            <a:endParaRPr lang="ko-KR" altLang="en-US" sz="1200"/>
          </a:p>
        </p:txBody>
      </p:sp>
    </p:spTree>
  </p:cSld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200"/>
              <a:t/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9</a:t>
            </a:fld>
            <a:endParaRPr lang="ko-KR" altLang="en-US" sz="1200"/>
          </a:p>
        </p:txBody>
      </p:sp>
    </p:spTree>
  </p:cSld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200"/>
              <a:t/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10</a:t>
            </a:fld>
            <a:endParaRPr lang="ko-KR" altLang="en-US" sz="1200"/>
          </a:p>
        </p:txBody>
      </p:sp>
    </p:spTree>
  </p:cSld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200"/>
              <a:t/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11</a:t>
            </a:fld>
            <a:endParaRPr lang="ko-KR" altLang="en-US" sz="1200"/>
          </a:p>
        </p:txBody>
      </p:sp>
    </p:spTree>
  </p:cSld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7988" cy="3087688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670" cy="360172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200"/>
              <a:t>우선 </a:t>
            </a:r>
            <a:r>
              <a:rPr lang="en-US" altLang="ko-KR" sz="1200"/>
              <a:t>STT </a:t>
            </a:r>
            <a:r>
              <a:rPr lang="ko-KR" altLang="en-US" sz="1200"/>
              <a:t>엔진의 인식률은 우리가 건드릴 수 있는 부분이 아니기 때문에 그 부분은 일단 넘겼다</a:t>
            </a:r>
            <a:r>
              <a:rPr lang="en-US" altLang="ko-KR" sz="1200"/>
              <a:t>. </a:t>
            </a:r>
            <a:r>
              <a:rPr lang="ko-KR" altLang="en-US" sz="1200"/>
              <a:t>대신 </a:t>
            </a:r>
            <a:r>
              <a:rPr lang="en-US" altLang="ko-KR" sz="1200"/>
              <a:t>STT</a:t>
            </a:r>
            <a:r>
              <a:rPr lang="ko-KR" altLang="en-US" sz="1200"/>
              <a:t>엔진이 사용자의 발화를 잘 못 인식한 경우의 패턴에 대해 몇가지 테스트를 해보았는데</a:t>
            </a:r>
            <a:r>
              <a:rPr lang="en-US" altLang="ko-KR" sz="1200"/>
              <a:t>, </a:t>
            </a:r>
            <a:r>
              <a:rPr lang="ko-KR" altLang="en-US" sz="1200"/>
              <a:t>잘 못 인식은 하되</a:t>
            </a:r>
            <a:r>
              <a:rPr lang="en-US" altLang="ko-KR" sz="1200"/>
              <a:t>, </a:t>
            </a:r>
            <a:r>
              <a:rPr lang="ko-KR" altLang="en-US" sz="1200"/>
              <a:t>대부분 유사한 발음의 단어로 변환을 하는 것을 발견했다</a:t>
            </a:r>
            <a:r>
              <a:rPr lang="en-US" altLang="ko-KR" sz="1200"/>
              <a:t>. (</a:t>
            </a:r>
            <a:r>
              <a:rPr lang="ko-KR" altLang="en-US" sz="1200"/>
              <a:t>예를 들어 </a:t>
            </a:r>
            <a:r>
              <a:rPr lang="en-US" altLang="ko-KR" sz="1200"/>
              <a:t>'</a:t>
            </a:r>
            <a:r>
              <a:rPr lang="ko-KR" altLang="en-US" sz="1200"/>
              <a:t>한개</a:t>
            </a:r>
            <a:r>
              <a:rPr lang="en-US" altLang="ko-KR" sz="1200"/>
              <a:t>'</a:t>
            </a:r>
            <a:r>
              <a:rPr lang="ko-KR" altLang="en-US" sz="1200"/>
              <a:t>는 </a:t>
            </a:r>
            <a:r>
              <a:rPr lang="en-US" altLang="ko-KR" sz="1200"/>
              <a:t>'</a:t>
            </a:r>
            <a:r>
              <a:rPr lang="ko-KR" altLang="en-US" sz="1200"/>
              <a:t>한계</a:t>
            </a:r>
            <a:r>
              <a:rPr lang="en-US" altLang="ko-KR" sz="1200"/>
              <a:t>', </a:t>
            </a:r>
            <a:r>
              <a:rPr lang="ko-KR" altLang="en-US" sz="1200"/>
              <a:t>모카 프라푸치노는 </a:t>
            </a:r>
            <a:r>
              <a:rPr lang="en-US" altLang="ko-KR" sz="1200"/>
              <a:t>'</a:t>
            </a:r>
            <a:r>
              <a:rPr lang="ko-KR" altLang="en-US" sz="1200"/>
              <a:t>오카 프라푸치노</a:t>
            </a:r>
            <a:r>
              <a:rPr lang="en-US" altLang="ko-KR" sz="1200"/>
              <a:t>' </a:t>
            </a:r>
            <a:r>
              <a:rPr lang="ko-KR" altLang="en-US" sz="1200"/>
              <a:t>등</a:t>
            </a:r>
            <a:r>
              <a:rPr lang="en-US" altLang="ko-KR" sz="1200"/>
              <a:t>) </a:t>
            </a:r>
            <a:r>
              <a:rPr lang="ko-KR" altLang="en-US" sz="1200"/>
              <a:t>따라서 유사도 알고리즘을 이용하여 </a:t>
            </a:r>
            <a:r>
              <a:rPr lang="en-US" altLang="ko-KR" sz="1200"/>
              <a:t>STT</a:t>
            </a:r>
            <a:r>
              <a:rPr lang="ko-KR" altLang="en-US" sz="1200"/>
              <a:t>가 잘 못 인식한 유사한 발음의 단어에 근거하여 새로운 단어를 추천해주는 방법을 고안해보았다</a:t>
            </a:r>
            <a:r>
              <a:rPr lang="en-US" altLang="ko-KR" sz="1200"/>
              <a:t>. </a:t>
            </a:r>
            <a:r>
              <a:rPr lang="ko-KR" altLang="en-US" sz="1200"/>
              <a:t>채택한 유사도 알고리즘 자체는 간단하다</a:t>
            </a:r>
            <a:r>
              <a:rPr lang="en-US" altLang="ko-KR" sz="1200"/>
              <a:t>. N-gram </a:t>
            </a:r>
            <a:r>
              <a:rPr lang="ko-KR" altLang="en-US" sz="1200"/>
              <a:t>알고리즘을 사용하였다</a:t>
            </a:r>
            <a:r>
              <a:rPr lang="en-US" altLang="ko-KR" sz="1200"/>
              <a:t>. N-gram</a:t>
            </a:r>
            <a:r>
              <a:rPr lang="ko-KR" altLang="en-US" sz="1200"/>
              <a:t>알고리즘은 </a:t>
            </a:r>
            <a:r>
              <a:rPr lang="en-US" altLang="ko-KR" sz="1200"/>
              <a:t>N=1,2,3,4 ... </a:t>
            </a:r>
            <a:r>
              <a:rPr lang="ko-KR" altLang="en-US" sz="1200"/>
              <a:t>중 하나를 선택하여 </a:t>
            </a:r>
            <a:r>
              <a:rPr lang="en-US" altLang="ko-KR" sz="1200"/>
              <a:t>N</a:t>
            </a:r>
            <a:r>
              <a:rPr lang="ko-KR" altLang="en-US" sz="1200"/>
              <a:t>개만큼 단어를 잘라서 유사도를 추정하는 방법이다</a:t>
            </a:r>
            <a:r>
              <a:rPr lang="en-US" altLang="ko-KR" sz="1200"/>
              <a:t>. </a:t>
            </a:r>
            <a:r>
              <a:rPr lang="ko-KR" altLang="en-US" sz="1200"/>
              <a:t>처음 </a:t>
            </a:r>
            <a:r>
              <a:rPr lang="en-US" altLang="ko-KR" sz="1200"/>
              <a:t>N</a:t>
            </a:r>
            <a:r>
              <a:rPr lang="ko-KR" altLang="en-US" sz="1200"/>
              <a:t>을 선택하는 과정이 중요한데</a:t>
            </a:r>
            <a:r>
              <a:rPr lang="en-US" altLang="ko-KR" sz="1200"/>
              <a:t>, 1</a:t>
            </a:r>
            <a:r>
              <a:rPr lang="ko-KR" altLang="en-US" sz="1200"/>
              <a:t>로 선택을 하면 단어를 구성하는 각 음소들의 순서를 고려하지 않아서 다른 단어를 추천해 줄 확률이 높아지기 때문에 배제하였고 </a:t>
            </a:r>
            <a:r>
              <a:rPr lang="en-US" altLang="ko-KR" sz="1200"/>
              <a:t>3</a:t>
            </a:r>
            <a:r>
              <a:rPr lang="ko-KR" altLang="en-US" sz="1200"/>
              <a:t>을 선택하면 순서에 너무 집중해서 유사도가 너무 낮아져서 잘못 추천해줄 확률이 높다고 추측되어 그  중간 지점에 있는 </a:t>
            </a:r>
            <a:r>
              <a:rPr lang="en-US" altLang="ko-KR" sz="1200"/>
              <a:t>2</a:t>
            </a:r>
            <a:r>
              <a:rPr lang="ko-KR" altLang="en-US" sz="1200"/>
              <a:t>를 선택하였다</a:t>
            </a:r>
            <a:r>
              <a:rPr lang="en-US" altLang="ko-KR" sz="1200"/>
              <a:t>. </a:t>
            </a:r>
            <a:r>
              <a:rPr lang="ko-KR" altLang="en-US" sz="1200"/>
              <a:t>즉</a:t>
            </a:r>
            <a:r>
              <a:rPr lang="en-US" altLang="ko-KR" sz="1200"/>
              <a:t>, bi-gram</a:t>
            </a:r>
            <a:r>
              <a:rPr lang="ko-KR" altLang="en-US" sz="1200"/>
              <a:t>을 선택하였다</a:t>
            </a:r>
            <a:r>
              <a:rPr lang="en-US" altLang="ko-KR" sz="1200"/>
              <a:t>.  </a:t>
            </a:r>
            <a:r>
              <a:rPr lang="ko-KR" altLang="en-US" sz="1200"/>
              <a:t>문제는 기존에 나와 있는 </a:t>
            </a:r>
            <a:r>
              <a:rPr lang="en-US" altLang="ko-KR" sz="1200"/>
              <a:t>bigram </a:t>
            </a:r>
            <a:r>
              <a:rPr lang="ko-KR" altLang="en-US" sz="1200"/>
              <a:t>알고리즘들이 모두 영어 기준이어서 우선 한글을 적용하려면 한글을 최소 단위인 음소 단위로 분해할 필요가 있었다</a:t>
            </a:r>
            <a:r>
              <a:rPr lang="en-US" altLang="ko-KR" sz="1200"/>
              <a:t>. </a:t>
            </a:r>
            <a:r>
              <a:rPr lang="ko-KR" altLang="en-US" sz="1200"/>
              <a:t>따라서 기존에 구축해둔 </a:t>
            </a:r>
            <a:r>
              <a:rPr lang="en-US" altLang="ko-KR" sz="1200"/>
              <a:t>Web</a:t>
            </a:r>
            <a:r>
              <a:rPr lang="ko-KR" altLang="en-US" sz="1200"/>
              <a:t>서버를 이용하여 </a:t>
            </a:r>
            <a:r>
              <a:rPr lang="en-US" altLang="ko-KR" sz="1200"/>
              <a:t>PHP</a:t>
            </a:r>
            <a:r>
              <a:rPr lang="ko-KR" altLang="en-US" sz="1200"/>
              <a:t>언어를 사용해 챗봇에 미리 등록돼있는 </a:t>
            </a:r>
            <a:r>
              <a:rPr lang="en-US" altLang="ko-KR" sz="1200"/>
              <a:t>Entity </a:t>
            </a:r>
            <a:r>
              <a:rPr lang="ko-KR" altLang="en-US" sz="1200"/>
              <a:t>단어를 초</a:t>
            </a:r>
            <a:r>
              <a:rPr lang="en-US" altLang="ko-KR" sz="1200"/>
              <a:t>/</a:t>
            </a:r>
            <a:r>
              <a:rPr lang="ko-KR" altLang="en-US" sz="1200"/>
              <a:t>중</a:t>
            </a:r>
            <a:r>
              <a:rPr lang="en-US" altLang="ko-KR" sz="1200"/>
              <a:t>/</a:t>
            </a:r>
            <a:r>
              <a:rPr lang="ko-KR" altLang="en-US" sz="1200"/>
              <a:t>종성의 음소단위로 분해하여 </a:t>
            </a:r>
            <a:r>
              <a:rPr lang="en-US" altLang="ko-KR" sz="1200"/>
              <a:t>DB</a:t>
            </a:r>
            <a:r>
              <a:rPr lang="ko-KR" altLang="en-US" sz="1200"/>
              <a:t>에 적재하였다</a:t>
            </a:r>
            <a:r>
              <a:rPr lang="en-US" altLang="ko-KR" sz="1200"/>
              <a:t>. (</a:t>
            </a:r>
            <a:r>
              <a:rPr lang="ko-KR" altLang="en-US" sz="1200"/>
              <a:t>예를 들어 스무디 </a:t>
            </a:r>
            <a:r>
              <a:rPr lang="en-US" altLang="ko-KR" sz="1200"/>
              <a:t>-&gt; ^</a:t>
            </a:r>
            <a:r>
              <a:rPr lang="ko-KR" altLang="en-US" sz="1200"/>
              <a:t>ㅅ</a:t>
            </a:r>
            <a:r>
              <a:rPr lang="en-US" altLang="ko-KR" sz="1200"/>
              <a:t>, </a:t>
            </a:r>
            <a:r>
              <a:rPr lang="ko-KR" altLang="en-US" sz="1200"/>
              <a:t>ㅅㅡ</a:t>
            </a:r>
            <a:r>
              <a:rPr lang="en-US" altLang="ko-KR" sz="1200"/>
              <a:t>, </a:t>
            </a:r>
            <a:r>
              <a:rPr lang="ko-KR" altLang="en-US" sz="1200"/>
              <a:t>ㅡㅁ</a:t>
            </a:r>
            <a:r>
              <a:rPr lang="en-US" altLang="ko-KR" sz="1200"/>
              <a:t>, </a:t>
            </a:r>
            <a:r>
              <a:rPr lang="ko-KR" altLang="en-US" sz="1200"/>
              <a:t>ㅁㅜ</a:t>
            </a:r>
            <a:r>
              <a:rPr lang="en-US" altLang="ko-KR" sz="1200"/>
              <a:t>, </a:t>
            </a:r>
            <a:r>
              <a:rPr lang="ko-KR" altLang="en-US" sz="1200"/>
              <a:t>ㅜㄷ</a:t>
            </a:r>
            <a:r>
              <a:rPr lang="en-US" altLang="ko-KR" sz="1200"/>
              <a:t>, </a:t>
            </a:r>
            <a:r>
              <a:rPr lang="ko-KR" altLang="en-US" sz="1200"/>
              <a:t>ㄷㅣ</a:t>
            </a:r>
            <a:r>
              <a:rPr lang="en-US" altLang="ko-KR" sz="1200"/>
              <a:t>, </a:t>
            </a:r>
            <a:r>
              <a:rPr lang="ko-KR" altLang="en-US" sz="1200"/>
              <a:t>ㅣ</a:t>
            </a:r>
            <a:r>
              <a:rPr lang="en-US" altLang="ko-KR" sz="1200"/>
              <a:t>$ </a:t>
            </a:r>
            <a:r>
              <a:rPr lang="ko-KR" altLang="en-US" sz="1200"/>
              <a:t>로 한 단어당 여러개 등록</a:t>
            </a:r>
            <a:r>
              <a:rPr lang="en-US" altLang="ko-KR" sz="1200"/>
              <a:t>) </a:t>
            </a:r>
            <a:r>
              <a:rPr lang="ko-KR" altLang="en-US" sz="1200"/>
              <a:t>대신 알고리즘 자체가 집합 개념이므로 중복을 허용하지 않아야 하기 때문에 모두 기본키로 설정하여 같은 음소 단위가 중복으로 적재되는 경우는 없게 하였다</a:t>
            </a:r>
            <a:r>
              <a:rPr lang="en-US" altLang="ko-KR" sz="1200"/>
              <a:t>.</a:t>
            </a:r>
            <a:endParaRPr lang="en-US" altLang="ko-KR" sz="1200"/>
          </a:p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 sz="1200"/>
          </a:p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200"/>
              <a:t>이후 사용자가 말을 했는데 </a:t>
            </a:r>
            <a:r>
              <a:rPr lang="en-US" altLang="ko-KR" sz="1200"/>
              <a:t>STT</a:t>
            </a:r>
            <a:r>
              <a:rPr lang="ko-KR" altLang="en-US" sz="1200"/>
              <a:t>엔진이 잘 못 인식하여 </a:t>
            </a:r>
            <a:r>
              <a:rPr lang="en-US" altLang="ko-KR" sz="1200"/>
              <a:t>Dialogflow</a:t>
            </a:r>
            <a:r>
              <a:rPr lang="ko-KR" altLang="en-US" sz="1200"/>
              <a:t>가 이해하지 못해서 </a:t>
            </a:r>
            <a:r>
              <a:rPr lang="en-US" altLang="ko-KR" sz="1200"/>
              <a:t>'</a:t>
            </a:r>
            <a:r>
              <a:rPr lang="ko-KR" altLang="en-US" sz="1200"/>
              <a:t>다시 말씀해주세요 혹은 같은 질문 반복 시</a:t>
            </a:r>
            <a:r>
              <a:rPr lang="en-US" altLang="ko-KR" sz="1200"/>
              <a:t>' </a:t>
            </a:r>
            <a:r>
              <a:rPr lang="ko-KR" altLang="en-US" sz="1200"/>
              <a:t>유사도 알고리즘을 작동시켜서 </a:t>
            </a:r>
            <a:r>
              <a:rPr lang="en-US" altLang="ko-KR" sz="1200"/>
              <a:t>STT</a:t>
            </a:r>
            <a:r>
              <a:rPr lang="ko-KR" altLang="en-US" sz="1200"/>
              <a:t>엔진이 인식한 단어와 </a:t>
            </a:r>
            <a:r>
              <a:rPr lang="en-US" altLang="ko-KR" sz="1200"/>
              <a:t>DB</a:t>
            </a:r>
            <a:r>
              <a:rPr lang="ko-KR" altLang="en-US" sz="1200"/>
              <a:t>에 적재된 단어 사이의 유사도를 측정하여 가장 유사도가 높은 단어를 추천하게 하였다</a:t>
            </a:r>
            <a:r>
              <a:rPr lang="en-US" altLang="ko-KR" sz="1200"/>
              <a:t>. </a:t>
            </a:r>
            <a:r>
              <a:rPr lang="ko-KR" altLang="en-US" sz="1200"/>
              <a:t>유사도를 측정하는 알고리즘 또한 워낙 다양했는데 그 중 자카드 유사도를 사용하여 교집합</a:t>
            </a:r>
            <a:r>
              <a:rPr lang="en-US" altLang="ko-KR" sz="1200"/>
              <a:t>/</a:t>
            </a:r>
            <a:r>
              <a:rPr lang="ko-KR" altLang="en-US" sz="1200"/>
              <a:t>합집합 식으로 유사도를 측정하였다</a:t>
            </a:r>
            <a:r>
              <a:rPr lang="en-US" altLang="ko-KR" sz="1200"/>
              <a:t>. </a:t>
            </a:r>
            <a:endParaRPr lang="en-US" altLang="ko-KR" sz="1200"/>
          </a:p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en-US" altLang="ko-KR" sz="1200"/>
          </a:p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200"/>
              <a:t>아직 개선할 점이 더 남아있지만 테스트 결과 사용자의 발화를 잘 못 인식하더라도 유사도 측정 알고리즘이 상당히 정확하게 단어를 추천해주는 것으로 확인돼었다</a:t>
            </a:r>
            <a:r>
              <a:rPr lang="en-US" altLang="ko-KR" sz="1200"/>
              <a:t>. </a:t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3070" cy="45974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12</a:t>
            </a:fld>
            <a:endParaRPr lang="ko-KR" altLang="en-US" sz="1200"/>
          </a:p>
        </p:txBody>
      </p:sp>
    </p:spTree>
  </p:cSld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7988" cy="3087688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670" cy="360172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200"/>
              <a:t>우선 </a:t>
            </a:r>
            <a:r>
              <a:rPr lang="en-US" altLang="ko-KR" sz="1200"/>
              <a:t>STT </a:t>
            </a:r>
            <a:r>
              <a:rPr lang="ko-KR" altLang="en-US" sz="1200"/>
              <a:t>엔진의 인식률은 우리가 건드릴 수 있는 부분이 아니기 때문에 그 부분은 일단 넘겼다</a:t>
            </a:r>
            <a:r>
              <a:rPr lang="en-US" altLang="ko-KR" sz="1200"/>
              <a:t>. </a:t>
            </a:r>
            <a:r>
              <a:rPr lang="ko-KR" altLang="en-US" sz="1200"/>
              <a:t>대신 </a:t>
            </a:r>
            <a:r>
              <a:rPr lang="en-US" altLang="ko-KR" sz="1200"/>
              <a:t>STT</a:t>
            </a:r>
            <a:r>
              <a:rPr lang="ko-KR" altLang="en-US" sz="1200"/>
              <a:t>엔진이 사용자의 발화를 잘 못 인식한 경우의 패턴에 대해 몇가지 테스트를 해보았는데</a:t>
            </a:r>
            <a:r>
              <a:rPr lang="en-US" altLang="ko-KR" sz="1200"/>
              <a:t>, </a:t>
            </a:r>
            <a:r>
              <a:rPr lang="ko-KR" altLang="en-US" sz="1200"/>
              <a:t>잘 못 인식은 하되</a:t>
            </a:r>
            <a:r>
              <a:rPr lang="en-US" altLang="ko-KR" sz="1200"/>
              <a:t>, </a:t>
            </a:r>
            <a:r>
              <a:rPr lang="ko-KR" altLang="en-US" sz="1200"/>
              <a:t>대부분 유사한 발음의 단어로 변환을 하는 것을 발견했다</a:t>
            </a:r>
            <a:r>
              <a:rPr lang="en-US" altLang="ko-KR" sz="1200"/>
              <a:t>. (</a:t>
            </a:r>
            <a:r>
              <a:rPr lang="ko-KR" altLang="en-US" sz="1200"/>
              <a:t>예를 들어 </a:t>
            </a:r>
            <a:r>
              <a:rPr lang="en-US" altLang="ko-KR" sz="1200"/>
              <a:t>'</a:t>
            </a:r>
            <a:r>
              <a:rPr lang="ko-KR" altLang="en-US" sz="1200"/>
              <a:t>한개</a:t>
            </a:r>
            <a:r>
              <a:rPr lang="en-US" altLang="ko-KR" sz="1200"/>
              <a:t>'</a:t>
            </a:r>
            <a:r>
              <a:rPr lang="ko-KR" altLang="en-US" sz="1200"/>
              <a:t>는 </a:t>
            </a:r>
            <a:r>
              <a:rPr lang="en-US" altLang="ko-KR" sz="1200"/>
              <a:t>'</a:t>
            </a:r>
            <a:r>
              <a:rPr lang="ko-KR" altLang="en-US" sz="1200"/>
              <a:t>한계</a:t>
            </a:r>
            <a:r>
              <a:rPr lang="en-US" altLang="ko-KR" sz="1200"/>
              <a:t>', </a:t>
            </a:r>
            <a:r>
              <a:rPr lang="ko-KR" altLang="en-US" sz="1200"/>
              <a:t>모카 프라푸치노는 </a:t>
            </a:r>
            <a:r>
              <a:rPr lang="en-US" altLang="ko-KR" sz="1200"/>
              <a:t>'</a:t>
            </a:r>
            <a:r>
              <a:rPr lang="ko-KR" altLang="en-US" sz="1200"/>
              <a:t>오카 프라푸치노</a:t>
            </a:r>
            <a:r>
              <a:rPr lang="en-US" altLang="ko-KR" sz="1200"/>
              <a:t>' </a:t>
            </a:r>
            <a:r>
              <a:rPr lang="ko-KR" altLang="en-US" sz="1200"/>
              <a:t>등</a:t>
            </a:r>
            <a:r>
              <a:rPr lang="en-US" altLang="ko-KR" sz="1200"/>
              <a:t>) </a:t>
            </a:r>
            <a:r>
              <a:rPr lang="ko-KR" altLang="en-US" sz="1200"/>
              <a:t>따라서 유사도 알고리즘을 이용하여 </a:t>
            </a:r>
            <a:r>
              <a:rPr lang="en-US" altLang="ko-KR" sz="1200"/>
              <a:t>STT</a:t>
            </a:r>
            <a:r>
              <a:rPr lang="ko-KR" altLang="en-US" sz="1200"/>
              <a:t>가 잘 못 인식한 유사한 발음의 단어에 근거하여 새로운 단어를 추천해주는 방법을 고안해보았다</a:t>
            </a:r>
            <a:r>
              <a:rPr lang="en-US" altLang="ko-KR" sz="1200"/>
              <a:t>. </a:t>
            </a:r>
            <a:r>
              <a:rPr lang="ko-KR" altLang="en-US" sz="1200"/>
              <a:t>채택한 유사도 알고리즘 자체는 간단하다</a:t>
            </a:r>
            <a:r>
              <a:rPr lang="en-US" altLang="ko-KR" sz="1200"/>
              <a:t>. N-gram </a:t>
            </a:r>
            <a:r>
              <a:rPr lang="ko-KR" altLang="en-US" sz="1200"/>
              <a:t>알고리즘을 사용하였다</a:t>
            </a:r>
            <a:r>
              <a:rPr lang="en-US" altLang="ko-KR" sz="1200"/>
              <a:t>. N-gram</a:t>
            </a:r>
            <a:r>
              <a:rPr lang="ko-KR" altLang="en-US" sz="1200"/>
              <a:t>알고리즘은 </a:t>
            </a:r>
            <a:r>
              <a:rPr lang="en-US" altLang="ko-KR" sz="1200"/>
              <a:t>N=1,2,3,4 ... </a:t>
            </a:r>
            <a:r>
              <a:rPr lang="ko-KR" altLang="en-US" sz="1200"/>
              <a:t>중 하나를 선택하여 </a:t>
            </a:r>
            <a:r>
              <a:rPr lang="en-US" altLang="ko-KR" sz="1200"/>
              <a:t>N</a:t>
            </a:r>
            <a:r>
              <a:rPr lang="ko-KR" altLang="en-US" sz="1200"/>
              <a:t>개만큼 단어를 잘라서 유사도를 추정하는 방법이다</a:t>
            </a:r>
            <a:r>
              <a:rPr lang="en-US" altLang="ko-KR" sz="1200"/>
              <a:t>. </a:t>
            </a:r>
            <a:r>
              <a:rPr lang="ko-KR" altLang="en-US" sz="1200"/>
              <a:t>처음 </a:t>
            </a:r>
            <a:r>
              <a:rPr lang="en-US" altLang="ko-KR" sz="1200"/>
              <a:t>N</a:t>
            </a:r>
            <a:r>
              <a:rPr lang="ko-KR" altLang="en-US" sz="1200"/>
              <a:t>을 선택하는 과정이 중요한데</a:t>
            </a:r>
            <a:r>
              <a:rPr lang="en-US" altLang="ko-KR" sz="1200"/>
              <a:t>, 1</a:t>
            </a:r>
            <a:r>
              <a:rPr lang="ko-KR" altLang="en-US" sz="1200"/>
              <a:t>로 선택을 하면 단어를 구성하는 각 음소들의 순서를 고려하지 않아서 다른 단어를 추천해 줄 확률이 높아지기 때문에 배제하였고 </a:t>
            </a:r>
            <a:r>
              <a:rPr lang="en-US" altLang="ko-KR" sz="1200"/>
              <a:t>3</a:t>
            </a:r>
            <a:r>
              <a:rPr lang="ko-KR" altLang="en-US" sz="1200"/>
              <a:t>을 선택하면 순서에 너무 집중해서 유사도가 너무 낮아져서 잘못 추천해줄 확률이 높다고 추측되어 그  중간 지점에 있는 </a:t>
            </a:r>
            <a:r>
              <a:rPr lang="en-US" altLang="ko-KR" sz="1200"/>
              <a:t>2</a:t>
            </a:r>
            <a:r>
              <a:rPr lang="ko-KR" altLang="en-US" sz="1200"/>
              <a:t>를 선택하였다</a:t>
            </a:r>
            <a:r>
              <a:rPr lang="en-US" altLang="ko-KR" sz="1200"/>
              <a:t>. </a:t>
            </a:r>
            <a:r>
              <a:rPr lang="ko-KR" altLang="en-US" sz="1200"/>
              <a:t>즉</a:t>
            </a:r>
            <a:r>
              <a:rPr lang="en-US" altLang="ko-KR" sz="1200"/>
              <a:t>, bi-gram</a:t>
            </a:r>
            <a:r>
              <a:rPr lang="ko-KR" altLang="en-US" sz="1200"/>
              <a:t>을 선택하였다</a:t>
            </a:r>
            <a:r>
              <a:rPr lang="en-US" altLang="ko-KR" sz="1200"/>
              <a:t>.  </a:t>
            </a:r>
            <a:r>
              <a:rPr lang="ko-KR" altLang="en-US" sz="1200"/>
              <a:t>문제는 기존에 나와 있는 </a:t>
            </a:r>
            <a:r>
              <a:rPr lang="en-US" altLang="ko-KR" sz="1200"/>
              <a:t>bigram </a:t>
            </a:r>
            <a:r>
              <a:rPr lang="ko-KR" altLang="en-US" sz="1200"/>
              <a:t>알고리즘들이 모두 영어 기준이어서 우선 한글을 적용하려면 한글을 최소 단위인 음소 단위로 분해할 필요가 있었다</a:t>
            </a:r>
            <a:r>
              <a:rPr lang="en-US" altLang="ko-KR" sz="1200"/>
              <a:t>. </a:t>
            </a:r>
            <a:r>
              <a:rPr lang="ko-KR" altLang="en-US" sz="1200"/>
              <a:t>따라서 기존에 구축해둔 </a:t>
            </a:r>
            <a:r>
              <a:rPr lang="en-US" altLang="ko-KR" sz="1200"/>
              <a:t>Web</a:t>
            </a:r>
            <a:r>
              <a:rPr lang="ko-KR" altLang="en-US" sz="1200"/>
              <a:t>서버를 이용하여 </a:t>
            </a:r>
            <a:r>
              <a:rPr lang="en-US" altLang="ko-KR" sz="1200"/>
              <a:t>PHP</a:t>
            </a:r>
            <a:r>
              <a:rPr lang="ko-KR" altLang="en-US" sz="1200"/>
              <a:t>언어를 사용해 챗봇에 미리 등록돼있는 </a:t>
            </a:r>
            <a:r>
              <a:rPr lang="en-US" altLang="ko-KR" sz="1200"/>
              <a:t>Entity </a:t>
            </a:r>
            <a:r>
              <a:rPr lang="ko-KR" altLang="en-US" sz="1200"/>
              <a:t>단어를 초</a:t>
            </a:r>
            <a:r>
              <a:rPr lang="en-US" altLang="ko-KR" sz="1200"/>
              <a:t>/</a:t>
            </a:r>
            <a:r>
              <a:rPr lang="ko-KR" altLang="en-US" sz="1200"/>
              <a:t>중</a:t>
            </a:r>
            <a:r>
              <a:rPr lang="en-US" altLang="ko-KR" sz="1200"/>
              <a:t>/</a:t>
            </a:r>
            <a:r>
              <a:rPr lang="ko-KR" altLang="en-US" sz="1200"/>
              <a:t>종성의 음소단위로 분해하여 </a:t>
            </a:r>
            <a:r>
              <a:rPr lang="en-US" altLang="ko-KR" sz="1200"/>
              <a:t>DB</a:t>
            </a:r>
            <a:r>
              <a:rPr lang="ko-KR" altLang="en-US" sz="1200"/>
              <a:t>에 적재하였다</a:t>
            </a:r>
            <a:r>
              <a:rPr lang="en-US" altLang="ko-KR" sz="1200"/>
              <a:t>. (</a:t>
            </a:r>
            <a:r>
              <a:rPr lang="ko-KR" altLang="en-US" sz="1200"/>
              <a:t>예를 들어 스무디 </a:t>
            </a:r>
            <a:r>
              <a:rPr lang="en-US" altLang="ko-KR" sz="1200"/>
              <a:t>-&gt; ^</a:t>
            </a:r>
            <a:r>
              <a:rPr lang="ko-KR" altLang="en-US" sz="1200"/>
              <a:t>ㅅ</a:t>
            </a:r>
            <a:r>
              <a:rPr lang="en-US" altLang="ko-KR" sz="1200"/>
              <a:t>, </a:t>
            </a:r>
            <a:r>
              <a:rPr lang="ko-KR" altLang="en-US" sz="1200"/>
              <a:t>ㅅㅡ</a:t>
            </a:r>
            <a:r>
              <a:rPr lang="en-US" altLang="ko-KR" sz="1200"/>
              <a:t>, </a:t>
            </a:r>
            <a:r>
              <a:rPr lang="ko-KR" altLang="en-US" sz="1200"/>
              <a:t>ㅡㅁ</a:t>
            </a:r>
            <a:r>
              <a:rPr lang="en-US" altLang="ko-KR" sz="1200"/>
              <a:t>, </a:t>
            </a:r>
            <a:r>
              <a:rPr lang="ko-KR" altLang="en-US" sz="1200"/>
              <a:t>ㅁㅜ</a:t>
            </a:r>
            <a:r>
              <a:rPr lang="en-US" altLang="ko-KR" sz="1200"/>
              <a:t>, </a:t>
            </a:r>
            <a:r>
              <a:rPr lang="ko-KR" altLang="en-US" sz="1200"/>
              <a:t>ㅜㄷ</a:t>
            </a:r>
            <a:r>
              <a:rPr lang="en-US" altLang="ko-KR" sz="1200"/>
              <a:t>, </a:t>
            </a:r>
            <a:r>
              <a:rPr lang="ko-KR" altLang="en-US" sz="1200"/>
              <a:t>ㄷㅣ</a:t>
            </a:r>
            <a:r>
              <a:rPr lang="en-US" altLang="ko-KR" sz="1200"/>
              <a:t>, </a:t>
            </a:r>
            <a:r>
              <a:rPr lang="ko-KR" altLang="en-US" sz="1200"/>
              <a:t>ㅣ</a:t>
            </a:r>
            <a:r>
              <a:rPr lang="en-US" altLang="ko-KR" sz="1200"/>
              <a:t>$ </a:t>
            </a:r>
            <a:r>
              <a:rPr lang="ko-KR" altLang="en-US" sz="1200"/>
              <a:t>로 한 단어당 여러개 등록</a:t>
            </a:r>
            <a:r>
              <a:rPr lang="en-US" altLang="ko-KR" sz="1200"/>
              <a:t>) </a:t>
            </a:r>
            <a:r>
              <a:rPr lang="ko-KR" altLang="en-US" sz="1200"/>
              <a:t>대신 알고리즘 자체가 집합 개념이므로 중복을 허용하지 않아야 하기 때문에 모두 기본키로 설정하여 같은 음소 단위가 중복으로 적재되는 경우는 없게 하였다</a:t>
            </a:r>
            <a:r>
              <a:rPr lang="en-US" altLang="ko-KR" sz="1200"/>
              <a:t>.</a:t>
            </a:r>
            <a:endParaRPr lang="en-US" altLang="ko-KR" sz="1200"/>
          </a:p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 sz="1200"/>
          </a:p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200"/>
              <a:t>이후 사용자가 말을 했는데 </a:t>
            </a:r>
            <a:r>
              <a:rPr lang="en-US" altLang="ko-KR" sz="1200"/>
              <a:t>STT</a:t>
            </a:r>
            <a:r>
              <a:rPr lang="ko-KR" altLang="en-US" sz="1200"/>
              <a:t>엔진이 잘 못 인식하여 </a:t>
            </a:r>
            <a:r>
              <a:rPr lang="en-US" altLang="ko-KR" sz="1200"/>
              <a:t>Dialogflow</a:t>
            </a:r>
            <a:r>
              <a:rPr lang="ko-KR" altLang="en-US" sz="1200"/>
              <a:t>가 이해하지 못해서 </a:t>
            </a:r>
            <a:r>
              <a:rPr lang="en-US" altLang="ko-KR" sz="1200"/>
              <a:t>'</a:t>
            </a:r>
            <a:r>
              <a:rPr lang="ko-KR" altLang="en-US" sz="1200"/>
              <a:t>다시 말씀해주세요 혹은 같은 질문 반복 시</a:t>
            </a:r>
            <a:r>
              <a:rPr lang="en-US" altLang="ko-KR" sz="1200"/>
              <a:t>' </a:t>
            </a:r>
            <a:r>
              <a:rPr lang="ko-KR" altLang="en-US" sz="1200"/>
              <a:t>유사도 알고리즘을 작동시켜서 </a:t>
            </a:r>
            <a:r>
              <a:rPr lang="en-US" altLang="ko-KR" sz="1200"/>
              <a:t>STT</a:t>
            </a:r>
            <a:r>
              <a:rPr lang="ko-KR" altLang="en-US" sz="1200"/>
              <a:t>엔진이 인식한 단어와 </a:t>
            </a:r>
            <a:r>
              <a:rPr lang="en-US" altLang="ko-KR" sz="1200"/>
              <a:t>DB</a:t>
            </a:r>
            <a:r>
              <a:rPr lang="ko-KR" altLang="en-US" sz="1200"/>
              <a:t>에 적재된 단어 사이의 유사도를 측정하여 가장 유사도가 높은 단어를 추천하게 하였다</a:t>
            </a:r>
            <a:r>
              <a:rPr lang="en-US" altLang="ko-KR" sz="1200"/>
              <a:t>. </a:t>
            </a:r>
            <a:r>
              <a:rPr lang="ko-KR" altLang="en-US" sz="1200"/>
              <a:t>유사도를 측정하는 알고리즘 또한 워낙 다양했는데 그 중 자카드 유사도를 사용하여 교집합</a:t>
            </a:r>
            <a:r>
              <a:rPr lang="en-US" altLang="ko-KR" sz="1200"/>
              <a:t>/</a:t>
            </a:r>
            <a:r>
              <a:rPr lang="ko-KR" altLang="en-US" sz="1200"/>
              <a:t>합집합 식으로 유사도를 측정하였다</a:t>
            </a:r>
            <a:r>
              <a:rPr lang="en-US" altLang="ko-KR" sz="1200"/>
              <a:t>. </a:t>
            </a:r>
            <a:endParaRPr lang="en-US" altLang="ko-KR" sz="1200"/>
          </a:p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en-US" altLang="ko-KR" sz="1200"/>
          </a:p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200"/>
              <a:t>아직 개선할 점이 더 남아있지만 테스트 결과 사용자의 발화를 잘 못 인식하더라도 유사도 측정 알고리즘이 상당히 정확하게 단어를 추천해주는 것으로 확인돼었다</a:t>
            </a:r>
            <a:r>
              <a:rPr lang="en-US" altLang="ko-KR" sz="1200"/>
              <a:t>. </a:t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3070" cy="45974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13</a:t>
            </a:fld>
            <a:endParaRPr lang="ko-KR" altLang="en-US" sz="1200"/>
          </a:p>
        </p:txBody>
      </p:sp>
    </p:spTree>
  </p:cSld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7988" cy="3087688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670" cy="360172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200"/>
              <a:t/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3070" cy="45974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14</a:t>
            </a:fld>
            <a:endParaRPr lang="ko-KR" altLang="en-US" sz="1200"/>
          </a:p>
        </p:txBody>
      </p:sp>
    </p:spTree>
  </p:cSld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7988" cy="3087688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670" cy="360172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200"/>
              <a:t/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3070" cy="45974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15</a:t>
            </a:fld>
            <a:endParaRPr lang="ko-KR" altLang="en-US" sz="1200"/>
          </a:p>
        </p:txBody>
      </p:sp>
    </p:spTree>
  </p:cSld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200"/>
              <a:t/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16</a:t>
            </a:fld>
            <a:endParaRPr lang="ko-KR" altLang="en-US" sz="1200"/>
          </a:p>
        </p:txBody>
      </p:sp>
    </p:spTree>
  </p:cSld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200"/>
              <a:t/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17</a:t>
            </a:fld>
            <a:endParaRPr lang="ko-KR" altLang="en-US" sz="1200"/>
          </a:p>
        </p:txBody>
      </p:sp>
    </p:spTree>
  </p:cSld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200"/>
              <a:t/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18</a:t>
            </a:fld>
            <a:endParaRPr lang="ko-KR" altLang="en-US" sz="1200"/>
          </a:p>
        </p:txBody>
      </p:sp>
    </p:spTree>
  </p:cSld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200"/>
              <a:t/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19</a:t>
            </a:fld>
            <a:endParaRPr lang="ko-KR" altLang="en-US" sz="1200"/>
          </a:p>
        </p:txBody>
      </p:sp>
    </p:spTree>
  </p:cSld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200"/>
              <a:t/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20</a:t>
            </a:fld>
            <a:endParaRPr lang="ko-KR" altLang="en-US" sz="1200"/>
          </a:p>
        </p:txBody>
      </p:sp>
    </p:spTree>
  </p:cSld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온라인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7988" cy="3087688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/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670" cy="360172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200"/>
              <a:t/>
            </a:r>
            <a:endParaRPr lang="en-US" altLang="ko-KR" sz="120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3070" cy="45974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defTabSz="50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ko-KR" altLang="en-US" sz="1200"/>
              <a:pPr marL="0" indent="0" defTabSz="5000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21</a:t>
            </a:fld>
            <a:endParaRPr lang="ko-KR" altLang="en-US" sz="1200"/>
          </a:p>
        </p:txBody>
      </p:sp>
    </p:spTree>
  </p:cSld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장애인 접근성 지침 </a:t>
            </a:r>
            <a:r>
              <a:rPr lang="en-US" altLang="ko-KR"/>
              <a:t>-&gt; </a:t>
            </a:r>
            <a:r>
              <a:rPr lang="ko-KR" altLang="en-US"/>
              <a:t>웹 접근성 연구소</a:t>
            </a:r>
            <a:r>
              <a:rPr lang="en-US" altLang="ko-KR">
                <a:hlinkClick r:id="rId3"/>
              </a:rPr>
              <a:t>https://www.wah.or.kr:444/board/boardView.asp?page=1&amp;brd_sn=4&amp;brd_idx=1013</a:t>
            </a:r>
            <a:r>
              <a:rPr lang="en-US" altLang="ko-KR"/>
              <a:t> </a:t>
            </a:r>
            <a:r>
              <a:rPr lang="ko-KR" altLang="en-US"/>
              <a:t>의 장애인 접근성 지침</a:t>
            </a:r>
            <a:r>
              <a:rPr lang="en-US" altLang="ko-KR"/>
              <a:t>. </a:t>
            </a:r>
            <a:r>
              <a:rPr lang="ko-KR" altLang="en-US"/>
              <a:t>시각장애인의 경우 음성읽기 기능을 제공해야 하며 </a:t>
            </a:r>
            <a:r>
              <a:rPr lang="en-US" altLang="ko-KR"/>
              <a:t>ios voiceover</a:t>
            </a:r>
            <a:r>
              <a:rPr lang="ko-KR" altLang="en-US"/>
              <a:t>에서 제공하는 </a:t>
            </a:r>
            <a:r>
              <a:rPr lang="en-US" altLang="ko-KR"/>
              <a:t>hint </a:t>
            </a:r>
            <a:r>
              <a:rPr lang="ko-KR" altLang="en-US"/>
              <a:t>기능 등 디테일한 프로그래밍적 지침들이 있음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28E5D57D-E12E-477C-A7D1-F7C0F54FFF1D}" type="slidenum">
              <a:rPr lang="ko-KR" altLang="en-US"/>
              <a:pPr lvl="0">
                <a:defRPr lang="ko-KR" altLang="en-US"/>
              </a:pPr>
              <a:t>22</a:t>
            </a:fld>
            <a:endParaRPr lang="ko-KR" altLang="en-US"/>
          </a:p>
        </p:txBody>
      </p:sp>
    </p:spTree>
  </p:cSld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28E5D57D-E12E-477C-A7D1-F7C0F54FFF1D}" type="slidenum">
              <a:rPr lang="ko-KR" altLang="en-US"/>
              <a:pPr lvl="0">
                <a:defRPr lang="ko-KR" altLang="en-US"/>
              </a:pPr>
              <a:t>24</a:t>
            </a:fld>
            <a:endParaRPr lang="ko-KR" altLang="en-US"/>
          </a:p>
        </p:txBody>
      </p:sp>
    </p:spTree>
  </p:cSld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28E5D57D-E12E-477C-A7D1-F7C0F54FFF1D}" type="slidenum">
              <a:rPr lang="ko-KR" altLang="en-US"/>
              <a:pPr lvl="0">
                <a:defRPr lang="ko-KR" altLang="en-US"/>
              </a:pPr>
              <a:t>26</a:t>
            </a:fld>
            <a:endParaRPr lang="ko-KR" altLang="en-US"/>
          </a:p>
        </p:txBody>
      </p:sp>
    </p:spTree>
  </p:cSld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28E5D57D-E12E-477C-A7D1-F7C0F54FFF1D}" type="slidenum">
              <a:rPr lang="ko-KR" altLang="en-US"/>
              <a:pPr lvl="0">
                <a:defRPr lang="ko-KR" altLang="en-US"/>
              </a:pPr>
              <a:t>27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3334-62CF-419E-9525-EB38B3AC140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555CB-71B6-4724-898A-BE555FEED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164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3334-62CF-419E-9525-EB38B3AC140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555CB-71B6-4724-898A-BE555FEED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36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3334-62CF-419E-9525-EB38B3AC140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555CB-71B6-4724-898A-BE555FEED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20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3334-62CF-419E-9525-EB38B3AC140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555CB-71B6-4724-898A-BE555FEED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613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3334-62CF-419E-9525-EB38B3AC140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555CB-71B6-4724-898A-BE555FEED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631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3334-62CF-419E-9525-EB38B3AC140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555CB-71B6-4724-898A-BE555FEED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34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3334-62CF-419E-9525-EB38B3AC140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555CB-71B6-4724-898A-BE555FEED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66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3334-62CF-419E-9525-EB38B3AC140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555CB-71B6-4724-898A-BE555FEED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38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3334-62CF-419E-9525-EB38B3AC140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555CB-71B6-4724-898A-BE555FEED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104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3334-62CF-419E-9525-EB38B3AC140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555CB-71B6-4724-898A-BE555FEED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978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3334-62CF-419E-9525-EB38B3AC1407}" type="datetimeFigureOut">
              <a:rPr lang="ko-KR" altLang="en-US" smtClean="0"/>
              <a:t>2020-03-01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555CB-71B6-4724-898A-BE555FEED3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059660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0A473334-62CF-419E-9525-EB38B3AC1407}" type="datetimeFigureOut">
              <a:rPr lang="ko-KR" altLang="en-US" smtClean="0"/>
              <a:pPr/>
              <a:t>2020-03-01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62E555CB-71B6-4724-898A-BE555FEED3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921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4.jpeg"  /><Relationship Id="rId4" Type="http://schemas.openxmlformats.org/officeDocument/2006/relationships/image" Target="../media/image5.jpeg"  /><Relationship Id="rId5" Type="http://schemas.openxmlformats.org/officeDocument/2006/relationships/image" Target="../media/image6.png"  /><Relationship Id="rId6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13.png"  /><Relationship Id="rId11" Type="http://schemas.openxmlformats.org/officeDocument/2006/relationships/image" Target="../media/image14.tif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1.png"  /><Relationship Id="rId6" Type="http://schemas.openxmlformats.org/officeDocument/2006/relationships/image" Target="../media/image9.png"  /><Relationship Id="rId7" Type="http://schemas.openxmlformats.org/officeDocument/2006/relationships/image" Target="../media/image10.jpeg"  /><Relationship Id="rId8" Type="http://schemas.openxmlformats.org/officeDocument/2006/relationships/image" Target="../media/image11.png"  /><Relationship Id="rId9" Type="http://schemas.openxmlformats.org/officeDocument/2006/relationships/image" Target="../media/image1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1.png"  /><Relationship Id="rId4" Type="http://schemas.openxmlformats.org/officeDocument/2006/relationships/image" Target="../media/image15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.png"  /><Relationship Id="rId4" Type="http://schemas.openxmlformats.org/officeDocument/2006/relationships/image" Target="../media/image16.png"  /><Relationship Id="rId5" Type="http://schemas.openxmlformats.org/officeDocument/2006/relationships/image" Target="../media/image17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1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1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1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1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1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1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1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1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9.xml"  /><Relationship Id="rId3" Type="http://schemas.openxmlformats.org/officeDocument/2006/relationships/image" Target="../media/image18.png"  /><Relationship Id="rId4" Type="http://schemas.openxmlformats.org/officeDocument/2006/relationships/image" Target="../media/image1.png"  /><Relationship Id="rId5" Type="http://schemas.openxmlformats.org/officeDocument/2006/relationships/image" Target="../media/image19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0.png"  /><Relationship Id="rId4" Type="http://schemas.openxmlformats.org/officeDocument/2006/relationships/hyperlink" Target="https://github.com/skadkwld/pos_program" TargetMode="External" /><Relationship Id="rId5" Type="http://schemas.openxmlformats.org/officeDocument/2006/relationships/image" Target="../media/image21.png"  /><Relationship Id="rId6" Type="http://schemas.openxmlformats.org/officeDocument/2006/relationships/hyperlink" Target="https://github.com/bwrw2347/OutOfKiosk" TargetMode="External" /><Relationship Id="rId7" Type="http://schemas.openxmlformats.org/officeDocument/2006/relationships/image" Target="../media/image2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0.xml"  /><Relationship Id="rId3" Type="http://schemas.openxmlformats.org/officeDocument/2006/relationships/image" Target="../media/image1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1.xml"  /><Relationship Id="rId3" Type="http://schemas.openxmlformats.org/officeDocument/2006/relationships/image" Target="../media/image1.png"  /><Relationship Id="rId4" Type="http://schemas.openxmlformats.org/officeDocument/2006/relationships/hyperlink" Target="https://swift.org/" TargetMode="External" /><Relationship Id="rId5" Type="http://schemas.openxmlformats.org/officeDocument/2006/relationships/hyperlink" Target="https://cocoapods.org/" TargetMode="External" /><Relationship Id="rId6" Type="http://schemas.openxmlformats.org/officeDocument/2006/relationships/hyperlink" Target="https://developer.apple.com/ibeacon/" TargetMode="External" /><Relationship Id="rId7" Type="http://schemas.openxmlformats.org/officeDocument/2006/relationships/hyperlink" Target="https://brant-hwang.github.io/blog-images/2017/01/KIOSK.pdf" TargetMode="External"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2.xml"  /><Relationship Id="rId3" Type="http://schemas.openxmlformats.org/officeDocument/2006/relationships/image" Target="../media/image1.png"  /><Relationship Id="rId4" Type="http://schemas.openxmlformats.org/officeDocument/2006/relationships/hyperlink" Target="http://www.dbpia.co.kr.library.kpu.ac.kr:8010/pdf/pdfView.do?nodeId=NODE07614251" TargetMode="External" /><Relationship Id="rId5" Type="http://schemas.openxmlformats.org/officeDocument/2006/relationships/hyperlink" Target="http://www.dbpia.co.kr.library.kpu.ac.kr:8010/pdf/pdfView.do?nodeId=NODE07401446" TargetMode="External" /><Relationship Id="rId6" Type="http://schemas.openxmlformats.org/officeDocument/2006/relationships/hyperlink" Target="https://www.wah.or.kr:444/board/boardView.asp?page=1&amp;brd_sn=4&amp;brd_idx=1013" TargetMode="External" /><Relationship Id="rId7" Type="http://schemas.openxmlformats.org/officeDocument/2006/relationships/hyperlink" Target="https://www.dbpia.co.kr/pdf/pdfView.do?nodeId=NODE02181523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4196715" y="3070225"/>
            <a:ext cx="3909060" cy="457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692015" y="1771650"/>
            <a:ext cx="2918460" cy="22161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69545" y="169545"/>
            <a:ext cx="11853545" cy="651954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020" y="6219190"/>
            <a:ext cx="813435" cy="469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33650" y="1971040"/>
            <a:ext cx="7124700" cy="9531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  <a:cs typeface="KoPubWorld돋움체 Medium" charset="0"/>
              </a:rPr>
              <a:t>시각 장애인을 위한</a:t>
            </a: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800" b="1" dirty="0">
                <a:solidFill>
                  <a:srgbClr val="AC73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 Medium" charset="0"/>
              </a:rPr>
              <a:t>KIOSK</a:t>
            </a:r>
            <a:r>
              <a:rPr lang="ko-KR" altLang="en-US" sz="2800" b="1" dirty="0">
                <a:solidFill>
                  <a:srgbClr val="AC73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 Medium" charset="0"/>
              </a:rPr>
              <a:t> </a:t>
            </a:r>
            <a:r>
              <a:rPr lang="en-US" altLang="ko-KR" sz="2800" b="1" dirty="0">
                <a:solidFill>
                  <a:srgbClr val="AC73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 Medium" charset="0"/>
              </a:rPr>
              <a:t>APP</a:t>
            </a:r>
            <a:endParaRPr lang="ko-KR" altLang="en-US" sz="2800" b="1" dirty="0">
              <a:solidFill>
                <a:srgbClr val="AC73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KoPubWorld돋움체 Medium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84725" y="1729105"/>
            <a:ext cx="27336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종합 설계 제안서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700145" y="4404995"/>
            <a:ext cx="4791075" cy="738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400" spc="3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 algn="ctr"/>
            <a:r>
              <a:rPr lang="en-US" altLang="ko-KR" sz="1400" spc="3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TEAM OOK</a:t>
            </a:r>
          </a:p>
          <a:p>
            <a:pPr algn="ctr"/>
            <a:endParaRPr lang="en-US" altLang="ko-KR" sz="1400" spc="3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67935" y="4668520"/>
            <a:ext cx="4165600" cy="1200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 spc="3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r>
              <a:rPr lang="en-US" altLang="ko-KR" sz="1200" spc="3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2015150019 </a:t>
            </a:r>
            <a:r>
              <a:rPr lang="ko-KR" altLang="en-US" sz="1200" spc="3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심영민</a:t>
            </a:r>
            <a:endParaRPr lang="en-US" altLang="ko-KR" sz="1200" spc="3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r>
              <a:rPr lang="en-US" altLang="ko-KR" sz="1200" spc="3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2011151020 </a:t>
            </a:r>
            <a:r>
              <a:rPr lang="ko-KR" altLang="en-US" sz="1200" spc="3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박진서</a:t>
            </a:r>
            <a:endParaRPr lang="en-US" altLang="ko-KR" sz="1200" spc="3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r>
              <a:rPr lang="en-US" altLang="ko-KR" sz="1200" spc="3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2015154030 </a:t>
            </a:r>
            <a:r>
              <a:rPr lang="ko-KR" altLang="en-US" sz="1200" spc="3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임의주</a:t>
            </a:r>
            <a:endParaRPr lang="en-US" altLang="ko-KR" sz="1200" spc="3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r>
              <a:rPr lang="en-US" altLang="ko-KR" sz="1200" spc="3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2015154022 </a:t>
            </a:r>
            <a:r>
              <a:rPr lang="ko-KR" altLang="en-US" sz="1200" spc="3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신영명</a:t>
            </a:r>
            <a:endParaRPr lang="en-US" altLang="ko-KR" sz="1200" spc="3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endParaRPr lang="en-US" altLang="ko-KR" sz="1200" spc="3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317490" y="5741670"/>
            <a:ext cx="2208530" cy="738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sz="1400" spc="3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r>
              <a:rPr lang="ko-KR" altLang="en-US" sz="1400" spc="3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전광일 교수님</a:t>
            </a:r>
            <a:r>
              <a:rPr lang="en-US" altLang="ko-KR" sz="1400" spc="3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</a:t>
            </a:r>
            <a:endParaRPr lang="ko-KR" altLang="en-US" sz="1400" spc="3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910080" y="2807335"/>
            <a:ext cx="8482965" cy="338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Kiosk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Applications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for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the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visually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impaired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1168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69545" y="169545"/>
            <a:ext cx="11853545" cy="651954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69545" y="809625"/>
            <a:ext cx="135255" cy="7048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8465" y="869950"/>
            <a:ext cx="1250950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n>
                  <a:solidFill>
                    <a:schemeClr val="tx1">
                      <a:alpha val="5000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목차</a:t>
            </a:r>
            <a:endParaRPr lang="en-US" altLang="ko-KR" sz="3200" dirty="0">
              <a:ln>
                <a:solidFill>
                  <a:schemeClr val="tx1">
                    <a:alpha val="50000"/>
                  </a:schemeClr>
                </a:solidFill>
              </a:ln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69545" y="2966720"/>
            <a:ext cx="11853545" cy="9239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27635" y="3275330"/>
            <a:ext cx="12398375" cy="323215"/>
            <a:chOff x="127635" y="3275330"/>
            <a:chExt cx="12398375" cy="323215"/>
          </a:xfrm>
        </p:grpSpPr>
        <p:grpSp>
          <p:nvGrpSpPr>
            <p:cNvPr id="13" name="그룹 12"/>
            <p:cNvGrpSpPr/>
            <p:nvPr/>
          </p:nvGrpSpPr>
          <p:grpSpPr>
            <a:xfrm>
              <a:off x="127635" y="3275330"/>
              <a:ext cx="12398375" cy="323215"/>
              <a:chOff x="127635" y="3275330"/>
              <a:chExt cx="12398375" cy="323215"/>
            </a:xfrm>
          </p:grpSpPr>
          <p:sp>
            <p:nvSpPr>
              <p:cNvPr id="7" name="TextBox 6"/>
              <p:cNvSpPr txBox="1">
                <a:spLocks/>
              </p:cNvSpPr>
              <p:nvPr/>
            </p:nvSpPr>
            <p:spPr>
              <a:xfrm>
                <a:off x="127635" y="3275330"/>
                <a:ext cx="1673225" cy="30861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algn="ctr" defTabSz="91440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lang="ko-KR" altLang="en-US" sz="1400" dirty="0">
                    <a:ln w="9525" cap="flat" cmpd="sng">
                      <a:solidFill>
                        <a:schemeClr val="bg1">
                          <a:alpha val="49803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종합설계 개요</a:t>
                </a:r>
              </a:p>
            </p:txBody>
          </p:sp>
          <p:sp>
            <p:nvSpPr>
              <p:cNvPr id="9" name="TextBox 8"/>
              <p:cNvSpPr txBox="1">
                <a:spLocks/>
              </p:cNvSpPr>
              <p:nvPr/>
            </p:nvSpPr>
            <p:spPr>
              <a:xfrm>
                <a:off x="1567815" y="3275330"/>
                <a:ext cx="2222500" cy="30861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algn="ctr" defTabSz="91440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lang="ko-KR" altLang="en-US" sz="1400" dirty="0">
                    <a:ln w="9525" cap="flat" cmpd="sng">
                      <a:solidFill>
                        <a:schemeClr val="bg1">
                          <a:alpha val="49803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시스템 수행 시나리오</a:t>
                </a:r>
              </a:p>
            </p:txBody>
          </p:sp>
          <p:sp>
            <p:nvSpPr>
              <p:cNvPr id="10" name="TextBox 9"/>
              <p:cNvSpPr txBox="1">
                <a:spLocks/>
              </p:cNvSpPr>
              <p:nvPr/>
            </p:nvSpPr>
            <p:spPr>
              <a:xfrm>
                <a:off x="4606290" y="3291205"/>
                <a:ext cx="2287270" cy="30734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algn="ctr" defTabSz="91440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lang="ko-KR" altLang="en-US" sz="1400" dirty="0">
                    <a:ln w="9525" cap="flat" cmpd="sng">
                      <a:solidFill>
                        <a:schemeClr val="bg1">
                          <a:alpha val="49803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모듈 상세 설계</a:t>
                </a:r>
              </a:p>
            </p:txBody>
          </p:sp>
          <p:sp>
            <p:nvSpPr>
              <p:cNvPr id="11" name="TextBox 10"/>
              <p:cNvSpPr txBox="1">
                <a:spLocks/>
              </p:cNvSpPr>
              <p:nvPr/>
            </p:nvSpPr>
            <p:spPr>
              <a:xfrm>
                <a:off x="8321675" y="3290570"/>
                <a:ext cx="1673225" cy="30861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algn="ctr" defTabSz="91440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lang="ko-KR" altLang="en-US" sz="1400" dirty="0">
                    <a:ln w="9525" cap="flat" cmpd="sng">
                      <a:solidFill>
                        <a:schemeClr val="bg1">
                          <a:alpha val="49803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업무 분담</a:t>
                </a:r>
              </a:p>
            </p:txBody>
          </p:sp>
          <p:sp>
            <p:nvSpPr>
              <p:cNvPr id="12" name="TextBox 11"/>
              <p:cNvSpPr txBox="1">
                <a:spLocks/>
              </p:cNvSpPr>
              <p:nvPr/>
            </p:nvSpPr>
            <p:spPr>
              <a:xfrm>
                <a:off x="10392410" y="3290570"/>
                <a:ext cx="2134235" cy="30734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algn="ctr" defTabSz="91440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lang="ko-KR" altLang="en-US" sz="1400" dirty="0">
                    <a:ln w="9525" cap="flat" cmpd="sng">
                      <a:solidFill>
                        <a:schemeClr val="bg1">
                          <a:alpha val="49803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참고문헌</a:t>
                </a:r>
              </a:p>
            </p:txBody>
          </p:sp>
        </p:grpSp>
        <p:sp>
          <p:nvSpPr>
            <p:cNvPr id="40" name="TextBox 39"/>
            <p:cNvSpPr txBox="1">
              <a:spLocks/>
            </p:cNvSpPr>
            <p:nvPr/>
          </p:nvSpPr>
          <p:spPr>
            <a:xfrm>
              <a:off x="9679305" y="3275330"/>
              <a:ext cx="1411605" cy="3086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9803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수행 일정</a:t>
              </a:r>
            </a:p>
          </p:txBody>
        </p:sp>
      </p:grpSp>
      <p:pic>
        <p:nvPicPr>
          <p:cNvPr id="41" name="그림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020" y="6219190"/>
            <a:ext cx="813435" cy="469900"/>
          </a:xfrm>
          <a:prstGeom prst="rect">
            <a:avLst/>
          </a:prstGeom>
        </p:spPr>
      </p:pic>
      <p:sp>
        <p:nvSpPr>
          <p:cNvPr id="137" name="TextBox 136"/>
          <p:cNvSpPr txBox="1">
            <a:spLocks/>
          </p:cNvSpPr>
          <p:nvPr/>
        </p:nvSpPr>
        <p:spPr>
          <a:xfrm>
            <a:off x="3110230" y="3290570"/>
            <a:ext cx="228727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9803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구성도</a:t>
            </a:r>
          </a:p>
        </p:txBody>
      </p:sp>
      <p:sp>
        <p:nvSpPr>
          <p:cNvPr id="138" name="TextBox 137"/>
          <p:cNvSpPr txBox="1">
            <a:spLocks/>
          </p:cNvSpPr>
          <p:nvPr/>
        </p:nvSpPr>
        <p:spPr>
          <a:xfrm>
            <a:off x="6437630" y="3291205"/>
            <a:ext cx="228727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9803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환경 및 방법</a:t>
            </a:r>
          </a:p>
        </p:txBody>
      </p:sp>
    </p:spTree>
    <p:extLst>
      <p:ext uri="{BB962C8B-B14F-4D97-AF65-F5344CB8AC3E}">
        <p14:creationId xmlns:p14="http://schemas.microsoft.com/office/powerpoint/2010/main" val="98151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69545" y="169545"/>
            <a:ext cx="11853545" cy="651954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197735" y="4197350"/>
            <a:ext cx="8595360" cy="203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국내 </a:t>
            </a:r>
            <a:r>
              <a:rPr lang="ko-KR" altLang="en-US" sz="1400" dirty="0" err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키오스크</a:t>
            </a:r>
            <a:r>
              <a:rPr lang="ko-KR" altLang="en-US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시장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은 꾸준히 성장해 왔으며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최근에는 최저임금 인상으로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인해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더욱 가파른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상승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곡선이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예상되는 산업 분야이다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이로 인해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키오스크를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사용하기 어려운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시각 장애인의 </a:t>
            </a:r>
            <a:r>
              <a:rPr lang="ko-KR" altLang="en-US" sz="1400" dirty="0" err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키오스크</a:t>
            </a:r>
            <a:r>
              <a:rPr lang="ko-KR" altLang="en-US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접근성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은 </a:t>
            </a:r>
            <a:r>
              <a:rPr lang="ko-KR" altLang="en-US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하락</a:t>
            </a:r>
            <a:endParaRPr lang="en-US" altLang="ko-KR" sz="1400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하고 있는 상황이다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이러한 시각 장애인들 또한 어렵지 않게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키오스크를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이용할 수 있는 방안을 마련하여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시각</a:t>
            </a:r>
            <a:r>
              <a:rPr lang="en-US" altLang="ko-KR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장애인들의 </a:t>
            </a:r>
            <a:r>
              <a:rPr lang="ko-KR" altLang="en-US" sz="1400" dirty="0" err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키오스크</a:t>
            </a:r>
            <a:r>
              <a:rPr lang="ko-KR" altLang="en-US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접근성을 높이는 것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이 필요하다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. 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315" y="1586230"/>
            <a:ext cx="2352040" cy="212344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720" y="1610995"/>
            <a:ext cx="2700655" cy="2102485"/>
          </a:xfrm>
          <a:prstGeom prst="rect">
            <a:avLst/>
          </a:prstGeom>
        </p:spPr>
      </p:pic>
      <p:pic>
        <p:nvPicPr>
          <p:cNvPr id="130" name="그림 1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020" y="6219190"/>
            <a:ext cx="813435" cy="469900"/>
          </a:xfrm>
          <a:prstGeom prst="rect">
            <a:avLst/>
          </a:prstGeom>
        </p:spPr>
      </p:pic>
      <p:sp>
        <p:nvSpPr>
          <p:cNvPr id="131" name="직사각형 130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37" name="TextBox 136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138" name="TextBox 137"/>
          <p:cNvSpPr txBox="1">
            <a:spLocks/>
          </p:cNvSpPr>
          <p:nvPr/>
        </p:nvSpPr>
        <p:spPr>
          <a:xfrm>
            <a:off x="-8458" y="414908"/>
            <a:ext cx="2159000" cy="36933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종합설계 개요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678372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수행 시나리오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3254543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구성도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4738999" y="461632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모듈 상세 설계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6430181" y="461632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환경 및 방법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8160005" y="456811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분담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10407378" y="461632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참고 문헌</a:t>
            </a:r>
          </a:p>
        </p:txBody>
      </p:sp>
    </p:spTree>
    <p:extLst>
      <p:ext uri="{BB962C8B-B14F-4D97-AF65-F5344CB8AC3E}">
        <p14:creationId xmlns:p14="http://schemas.microsoft.com/office/powerpoint/2010/main" val="948681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69545" y="169545"/>
            <a:ext cx="11853545" cy="651954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2930" y="1840865"/>
            <a:ext cx="3721735" cy="1867535"/>
          </a:xfrm>
          <a:prstGeom prst="rect">
            <a:avLst/>
          </a:prstGeom>
          <a:noFill/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370" y="1471295"/>
            <a:ext cx="3265170" cy="2520315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2216150" y="4344035"/>
            <a:ext cx="8994140" cy="1708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시각 장애인의 점자 해독 가능 비율은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10%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초반 대에 그친다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.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반면 절반이 넘는 시각 장애인이 스마트폰을 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사용하며 그 증가율도 다른 도구에 비해 빠른 편이다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이에 근거하여 </a:t>
            </a:r>
            <a:r>
              <a:rPr lang="ko-KR" altLang="en-US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스마트폰의 </a:t>
            </a:r>
            <a:r>
              <a:rPr lang="en-US" altLang="ko-KR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App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과 스마트폰을 사용하는 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시각 장애인들에게 가장 친숙한 정보전달 수단인 </a:t>
            </a:r>
            <a:r>
              <a:rPr lang="ko-KR" altLang="en-US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음성 안내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를 통해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키오스크를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이용할 수 있도록 하려고 한다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99195" y="1913255"/>
            <a:ext cx="2753360" cy="1734185"/>
          </a:xfrm>
          <a:prstGeom prst="rect">
            <a:avLst/>
          </a:prstGeom>
          <a:noFill/>
        </p:spPr>
      </p:pic>
      <p:sp>
        <p:nvSpPr>
          <p:cNvPr id="19" name="직사각형 18"/>
          <p:cNvSpPr/>
          <p:nvPr/>
        </p:nvSpPr>
        <p:spPr>
          <a:xfrm>
            <a:off x="2216150" y="5584318"/>
            <a:ext cx="852995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시각 장애인의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90%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는 </a:t>
            </a:r>
            <a:r>
              <a:rPr lang="ko-KR" altLang="en-US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후천적 원인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으로 인해 장애를 얻는다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즉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비장애인 또한 잠재적인 장애인</a:t>
            </a:r>
            <a:endParaRPr lang="en-US" altLang="ko-KR" sz="1400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이라고 할 수 있다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.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따라서 </a:t>
            </a:r>
            <a:r>
              <a:rPr lang="ko-KR" altLang="en-US" sz="14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시각 장애인의 접근성 향상은 곧 사회 전체의 접근성 향상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으로 이어진다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. 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020" y="6219190"/>
            <a:ext cx="813435" cy="469900"/>
          </a:xfrm>
          <a:prstGeom prst="rect">
            <a:avLst/>
          </a:prstGeom>
        </p:spPr>
      </p:pic>
      <p:sp>
        <p:nvSpPr>
          <p:cNvPr id="27" name="직사각형 26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9298417" y="460622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-8458" y="414908"/>
            <a:ext cx="2159000" cy="36933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종합설계 개요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1678372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수행 시나리오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3254543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구성도</a:t>
            </a:r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4738999" y="461632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모듈 상세 설계</a:t>
            </a: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6430181" y="461632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환경 및 방법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8160005" y="456811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분담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10407378" y="461632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참고 문헌</a:t>
            </a:r>
          </a:p>
        </p:txBody>
      </p:sp>
    </p:spTree>
    <p:extLst>
      <p:ext uri="{BB962C8B-B14F-4D97-AF65-F5344CB8AC3E}">
        <p14:creationId xmlns:p14="http://schemas.microsoft.com/office/powerpoint/2010/main" val="260649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2EC65D3-9C2F-724C-99B4-19D5F17F3B4E}"/>
              </a:ext>
            </a:extLst>
          </p:cNvPr>
          <p:cNvSpPr/>
          <p:nvPr/>
        </p:nvSpPr>
        <p:spPr>
          <a:xfrm>
            <a:off x="8930132" y="3553194"/>
            <a:ext cx="2898052" cy="266599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</a:endParaRPr>
          </a:p>
        </p:txBody>
      </p:sp>
      <p:pic>
        <p:nvPicPr>
          <p:cNvPr id="1028" name="그림 102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637" b="22968"/>
          <a:stretch>
            <a:fillRect/>
          </a:stretch>
        </p:blipFill>
        <p:spPr>
          <a:xfrm>
            <a:off x="3449320" y="2257425"/>
            <a:ext cx="3474085" cy="4430395"/>
          </a:xfrm>
          <a:prstGeom prst="rect">
            <a:avLst/>
          </a:prstGeom>
          <a:noFill/>
        </p:spPr>
      </p:pic>
      <p:sp>
        <p:nvSpPr>
          <p:cNvPr id="1040" name="Rounded Rectangular Callout 1039"/>
          <p:cNvSpPr>
            <a:spLocks/>
          </p:cNvSpPr>
          <p:nvPr/>
        </p:nvSpPr>
        <p:spPr>
          <a:xfrm flipH="1">
            <a:off x="4100830" y="3061335"/>
            <a:ext cx="2125980" cy="1142365"/>
          </a:xfrm>
          <a:prstGeom prst="wedgeRoundRectCallout">
            <a:avLst>
              <a:gd name="adj1" fmla="val -17269"/>
              <a:gd name="adj2" fmla="val 68736"/>
              <a:gd name="adj3" fmla="val 16667"/>
            </a:avLst>
          </a:prstGeom>
          <a:solidFill>
            <a:srgbClr val="FFE36A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69545" y="169545"/>
            <a:ext cx="11853545" cy="651954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06555" y="4251695"/>
            <a:ext cx="1205230" cy="1205230"/>
          </a:xfrm>
          <a:prstGeom prst="rect">
            <a:avLst/>
          </a:prstGeom>
          <a:noFill/>
        </p:spPr>
      </p:pic>
      <p:sp>
        <p:nvSpPr>
          <p:cNvPr id="45" name="TextBox 44"/>
          <p:cNvSpPr txBox="1">
            <a:spLocks/>
          </p:cNvSpPr>
          <p:nvPr/>
        </p:nvSpPr>
        <p:spPr>
          <a:xfrm>
            <a:off x="4533265" y="1145540"/>
            <a:ext cx="596900" cy="3676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charset="0"/>
            </a:endParaRPr>
          </a:p>
        </p:txBody>
      </p:sp>
      <p:sp>
        <p:nvSpPr>
          <p:cNvPr id="56" name="직사각형 55"/>
          <p:cNvSpPr>
            <a:spLocks/>
          </p:cNvSpPr>
          <p:nvPr/>
        </p:nvSpPr>
        <p:spPr>
          <a:xfrm>
            <a:off x="9343080" y="4006585"/>
            <a:ext cx="932180" cy="277495"/>
          </a:xfrm>
          <a:prstGeom prst="rect">
            <a:avLst/>
          </a:prstGeom>
        </p:spPr>
        <p:txBody>
          <a:bodyPr vert="horz" wrap="none" lIns="91440" tIns="45720" rIns="91440" bIns="45720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Bold" charset="0"/>
              </a:rPr>
              <a:t>POS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Bold" charset="0"/>
              </a:rPr>
              <a:t>단말기</a:t>
            </a:r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020" y="6219190"/>
            <a:ext cx="813435" cy="469900"/>
          </a:xfrm>
          <a:prstGeom prst="rect">
            <a:avLst/>
          </a:prstGeom>
        </p:spPr>
      </p:pic>
      <p:sp>
        <p:nvSpPr>
          <p:cNvPr id="34" name="TextBox 33"/>
          <p:cNvSpPr txBox="1">
            <a:spLocks/>
          </p:cNvSpPr>
          <p:nvPr/>
        </p:nvSpPr>
        <p:spPr>
          <a:xfrm>
            <a:off x="3526790" y="-1725930"/>
            <a:ext cx="1430655" cy="30861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charset="0"/>
              </a:rPr>
              <a:t>1.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charset="0"/>
              </a:rPr>
              <a:t>키오스크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charset="0"/>
              </a:rPr>
              <a:t> 대체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53362" y="4312466"/>
            <a:ext cx="679450" cy="894715"/>
          </a:xfrm>
          <a:prstGeom prst="rect">
            <a:avLst/>
          </a:prstGeom>
          <a:noFill/>
        </p:spPr>
      </p:pic>
      <p:sp>
        <p:nvSpPr>
          <p:cNvPr id="79" name="TextBox 78"/>
          <p:cNvSpPr txBox="1">
            <a:spLocks/>
          </p:cNvSpPr>
          <p:nvPr/>
        </p:nvSpPr>
        <p:spPr>
          <a:xfrm>
            <a:off x="10169849" y="4362502"/>
            <a:ext cx="1100455" cy="4318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lang="ko-KR" altLang="en-US" sz="11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charset="0"/>
              </a:rPr>
              <a:t>주문표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charset="0"/>
              </a:rPr>
              <a:t> </a:t>
            </a: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charset="0"/>
              </a:rPr>
              <a:t>출력</a:t>
            </a:r>
          </a:p>
        </p:txBody>
      </p:sp>
      <p:pic>
        <p:nvPicPr>
          <p:cNvPr id="1029" name="그림 102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6" t="39463" r="38265" b="33887"/>
          <a:stretch>
            <a:fillRect/>
          </a:stretch>
        </p:blipFill>
        <p:spPr>
          <a:xfrm>
            <a:off x="4500880" y="4623629"/>
            <a:ext cx="1372870" cy="374015"/>
          </a:xfrm>
          <a:prstGeom prst="rect">
            <a:avLst/>
          </a:prstGeom>
          <a:noFill/>
        </p:spPr>
      </p:pic>
      <p:pic>
        <p:nvPicPr>
          <p:cNvPr id="1030" name="그림 1029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23" y="4110672"/>
            <a:ext cx="1312545" cy="1358900"/>
          </a:xfrm>
          <a:prstGeom prst="rect">
            <a:avLst/>
          </a:prstGeom>
          <a:noFill/>
        </p:spPr>
      </p:pic>
      <p:pic>
        <p:nvPicPr>
          <p:cNvPr id="1031" name="그림 1030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1" t="2956" r="10897" b="8844"/>
          <a:stretch>
            <a:fillRect/>
          </a:stretch>
        </p:blipFill>
        <p:spPr>
          <a:xfrm flipH="1">
            <a:off x="1838427" y="2895593"/>
            <a:ext cx="1462405" cy="1561465"/>
          </a:xfrm>
          <a:prstGeom prst="rect">
            <a:avLst/>
          </a:prstGeom>
          <a:noFill/>
        </p:spPr>
      </p:pic>
      <p:sp>
        <p:nvSpPr>
          <p:cNvPr id="1032" name="텍스트 상자 1031"/>
          <p:cNvSpPr txBox="1">
            <a:spLocks/>
          </p:cNvSpPr>
          <p:nvPr/>
        </p:nvSpPr>
        <p:spPr>
          <a:xfrm>
            <a:off x="1970119" y="3334378"/>
            <a:ext cx="1283335" cy="5861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프라푸치노</a:t>
            </a: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주세요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33" name="그림 1032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1" t="2956" r="10897" b="8844"/>
          <a:stretch>
            <a:fillRect/>
          </a:stretch>
        </p:blipFill>
        <p:spPr>
          <a:xfrm flipH="1" flipV="1">
            <a:off x="1858645" y="5071445"/>
            <a:ext cx="1468120" cy="1562735"/>
          </a:xfrm>
          <a:prstGeom prst="rect">
            <a:avLst/>
          </a:prstGeom>
          <a:noFill/>
        </p:spPr>
      </p:pic>
      <p:sp>
        <p:nvSpPr>
          <p:cNvPr id="1034" name="텍스트 상자 1033"/>
          <p:cNvSpPr txBox="1">
            <a:spLocks/>
          </p:cNvSpPr>
          <p:nvPr/>
        </p:nvSpPr>
        <p:spPr>
          <a:xfrm>
            <a:off x="2019300" y="5797885"/>
            <a:ext cx="1283335" cy="33972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우동</a:t>
            </a: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주세요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36" name="텍스트 상자 1035"/>
          <p:cNvSpPr txBox="1">
            <a:spLocks/>
          </p:cNvSpPr>
          <p:nvPr/>
        </p:nvSpPr>
        <p:spPr>
          <a:xfrm>
            <a:off x="4377690" y="2247265"/>
            <a:ext cx="238633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37" name="텍스트 상자 1036"/>
          <p:cNvSpPr txBox="1">
            <a:spLocks/>
          </p:cNvSpPr>
          <p:nvPr/>
        </p:nvSpPr>
        <p:spPr>
          <a:xfrm>
            <a:off x="4262173" y="3320943"/>
            <a:ext cx="2049780" cy="647613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자바칩</a:t>
            </a:r>
            <a:r>
              <a:rPr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프라푸치노</a:t>
            </a:r>
            <a:r>
              <a:rPr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2개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미디엄</a:t>
            </a:r>
            <a:r>
              <a:rPr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사이즈로</a:t>
            </a:r>
            <a:r>
              <a:rPr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휘핑크림</a:t>
            </a:r>
            <a:r>
              <a:rPr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올려서</a:t>
            </a:r>
            <a:r>
              <a:rPr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주문하겠습니다</a:t>
            </a:r>
            <a:r>
              <a:rPr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41" name="Rounded Rectangular Callout 1040"/>
          <p:cNvSpPr>
            <a:spLocks/>
          </p:cNvSpPr>
          <p:nvPr/>
        </p:nvSpPr>
        <p:spPr>
          <a:xfrm flipV="1">
            <a:off x="4100830" y="5391150"/>
            <a:ext cx="2085340" cy="956310"/>
          </a:xfrm>
          <a:prstGeom prst="wedgeRoundRectCallout">
            <a:avLst>
              <a:gd name="adj1" fmla="val -17269"/>
              <a:gd name="adj2" fmla="val 68736"/>
              <a:gd name="adj3" fmla="val 16667"/>
            </a:avLst>
          </a:prstGeom>
          <a:solidFill>
            <a:srgbClr val="FFE36A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39" name="텍스트 상자 1038"/>
          <p:cNvSpPr txBox="1">
            <a:spLocks/>
          </p:cNvSpPr>
          <p:nvPr/>
        </p:nvSpPr>
        <p:spPr>
          <a:xfrm>
            <a:off x="4290279" y="5612641"/>
            <a:ext cx="1792605" cy="52387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김치우동</a:t>
            </a:r>
            <a:r>
              <a:rPr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1개 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주문하겠습니다</a:t>
            </a:r>
            <a:r>
              <a:rPr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043" name="Line 1042"/>
          <p:cNvCxnSpPr>
            <a:cxnSpLocks/>
          </p:cNvCxnSpPr>
          <p:nvPr/>
        </p:nvCxnSpPr>
        <p:spPr>
          <a:xfrm>
            <a:off x="6598285" y="3622040"/>
            <a:ext cx="880834" cy="346516"/>
          </a:xfrm>
          <a:prstGeom prst="line">
            <a:avLst/>
          </a:prstGeom>
          <a:ln w="22225" cap="flat" cmpd="sng">
            <a:solidFill>
              <a:schemeClr val="tx1">
                <a:alpha val="100000"/>
              </a:schemeClr>
            </a:solidFill>
            <a:prstDash val="sysDot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2" name="그림 1041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0000">
            <a:off x="7477890" y="3821683"/>
            <a:ext cx="515620" cy="516890"/>
          </a:xfrm>
          <a:prstGeom prst="rect">
            <a:avLst/>
          </a:prstGeom>
          <a:noFill/>
        </p:spPr>
      </p:pic>
      <p:cxnSp>
        <p:nvCxnSpPr>
          <p:cNvPr id="1044" name="Line 1043"/>
          <p:cNvCxnSpPr>
            <a:cxnSpLocks/>
            <a:endCxn id="1045" idx="3"/>
          </p:cNvCxnSpPr>
          <p:nvPr/>
        </p:nvCxnSpPr>
        <p:spPr>
          <a:xfrm>
            <a:off x="8010537" y="4105716"/>
            <a:ext cx="988249" cy="387971"/>
          </a:xfrm>
          <a:prstGeom prst="line">
            <a:avLst/>
          </a:prstGeom>
          <a:ln w="22225" cap="flat" cmpd="sng">
            <a:solidFill>
              <a:schemeClr val="tx1">
                <a:alpha val="100000"/>
              </a:schemeClr>
            </a:solidFill>
            <a:prstDash val="sysDot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Isosceles Triangle 1044"/>
          <p:cNvSpPr>
            <a:spLocks/>
          </p:cNvSpPr>
          <p:nvPr/>
        </p:nvSpPr>
        <p:spPr>
          <a:xfrm rot="6780000" flipH="1">
            <a:off x="8992779" y="4447648"/>
            <a:ext cx="151130" cy="151130"/>
          </a:xfrm>
          <a:prstGeom prst="triangle">
            <a:avLst/>
          </a:prstGeom>
          <a:solidFill>
            <a:schemeClr val="tx1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046" name="Line 1045"/>
          <p:cNvCxnSpPr>
            <a:cxnSpLocks/>
          </p:cNvCxnSpPr>
          <p:nvPr/>
        </p:nvCxnSpPr>
        <p:spPr>
          <a:xfrm>
            <a:off x="6602730" y="6087110"/>
            <a:ext cx="724904" cy="0"/>
          </a:xfrm>
          <a:prstGeom prst="line">
            <a:avLst/>
          </a:prstGeom>
          <a:ln w="22225" cap="flat" cmpd="sng">
            <a:solidFill>
              <a:schemeClr val="tx1">
                <a:alpha val="100000"/>
              </a:schemeClr>
            </a:solidFill>
            <a:prstDash val="sysDot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7" name="그림 1046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600000">
            <a:off x="7364290" y="5830570"/>
            <a:ext cx="515620" cy="516890"/>
          </a:xfrm>
          <a:prstGeom prst="rect">
            <a:avLst/>
          </a:prstGeom>
          <a:noFill/>
        </p:spPr>
      </p:pic>
      <p:cxnSp>
        <p:nvCxnSpPr>
          <p:cNvPr id="1048" name="Line 1047"/>
          <p:cNvCxnSpPr>
            <a:cxnSpLocks/>
          </p:cNvCxnSpPr>
          <p:nvPr/>
        </p:nvCxnSpPr>
        <p:spPr>
          <a:xfrm flipV="1">
            <a:off x="9430209" y="5592614"/>
            <a:ext cx="86076" cy="122088"/>
          </a:xfrm>
          <a:prstGeom prst="line">
            <a:avLst/>
          </a:prstGeom>
          <a:ln w="22225" cap="flat" cmpd="sng">
            <a:solidFill>
              <a:schemeClr val="tx1">
                <a:alpha val="100000"/>
              </a:schemeClr>
            </a:solidFill>
            <a:prstDash val="sysDot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Line 1048"/>
          <p:cNvCxnSpPr>
            <a:cxnSpLocks/>
            <a:endCxn id="1050" idx="3"/>
          </p:cNvCxnSpPr>
          <p:nvPr/>
        </p:nvCxnSpPr>
        <p:spPr>
          <a:xfrm flipV="1">
            <a:off x="7911579" y="6007536"/>
            <a:ext cx="1110171" cy="79574"/>
          </a:xfrm>
          <a:prstGeom prst="line">
            <a:avLst/>
          </a:prstGeom>
          <a:ln w="22225" cap="flat" cmpd="sng">
            <a:solidFill>
              <a:schemeClr val="tx1">
                <a:alpha val="100000"/>
              </a:schemeClr>
            </a:solidFill>
            <a:prstDash val="sysDot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" name="Isosceles Triangle 1049"/>
          <p:cNvSpPr>
            <a:spLocks/>
          </p:cNvSpPr>
          <p:nvPr/>
        </p:nvSpPr>
        <p:spPr>
          <a:xfrm rot="5026264" flipH="1">
            <a:off x="9004493" y="5926940"/>
            <a:ext cx="179070" cy="145415"/>
          </a:xfrm>
          <a:prstGeom prst="triangle">
            <a:avLst/>
          </a:prstGeom>
          <a:solidFill>
            <a:schemeClr val="tx1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051" name="Line 1050"/>
          <p:cNvCxnSpPr>
            <a:cxnSpLocks/>
          </p:cNvCxnSpPr>
          <p:nvPr/>
        </p:nvCxnSpPr>
        <p:spPr>
          <a:xfrm>
            <a:off x="10444480" y="4826183"/>
            <a:ext cx="598170" cy="0"/>
          </a:xfrm>
          <a:prstGeom prst="line">
            <a:avLst/>
          </a:prstGeom>
          <a:ln w="22225" cap="flat" cmpd="sng">
            <a:solidFill>
              <a:schemeClr val="tx1">
                <a:alpha val="100000"/>
              </a:schemeClr>
            </a:solidFill>
            <a:prstDash val="sysDot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48" name="TextBox 47"/>
          <p:cNvSpPr txBox="1">
            <a:spLocks/>
          </p:cNvSpPr>
          <p:nvPr/>
        </p:nvSpPr>
        <p:spPr>
          <a:xfrm>
            <a:off x="9295954" y="461632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49" name="TextBox 48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51" name="TextBox 50"/>
          <p:cNvSpPr txBox="1">
            <a:spLocks/>
          </p:cNvSpPr>
          <p:nvPr/>
        </p:nvSpPr>
        <p:spPr>
          <a:xfrm>
            <a:off x="1641048" y="436439"/>
            <a:ext cx="2159000" cy="33855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6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시스템 수행 시나리오</a:t>
            </a:r>
          </a:p>
        </p:txBody>
      </p:sp>
      <p:sp>
        <p:nvSpPr>
          <p:cNvPr id="52" name="TextBox 51"/>
          <p:cNvSpPr txBox="1">
            <a:spLocks/>
          </p:cNvSpPr>
          <p:nvPr/>
        </p:nvSpPr>
        <p:spPr>
          <a:xfrm>
            <a:off x="3254543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구성도</a:t>
            </a:r>
          </a:p>
        </p:txBody>
      </p:sp>
      <p:sp>
        <p:nvSpPr>
          <p:cNvPr id="53" name="TextBox 52"/>
          <p:cNvSpPr txBox="1">
            <a:spLocks/>
          </p:cNvSpPr>
          <p:nvPr/>
        </p:nvSpPr>
        <p:spPr>
          <a:xfrm>
            <a:off x="4738999" y="461632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모듈 상세 설계</a:t>
            </a:r>
          </a:p>
        </p:txBody>
      </p:sp>
      <p:sp>
        <p:nvSpPr>
          <p:cNvPr id="54" name="TextBox 53"/>
          <p:cNvSpPr txBox="1">
            <a:spLocks/>
          </p:cNvSpPr>
          <p:nvPr/>
        </p:nvSpPr>
        <p:spPr>
          <a:xfrm>
            <a:off x="6430181" y="461632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환경 및 방법</a:t>
            </a:r>
          </a:p>
        </p:txBody>
      </p:sp>
      <p:sp>
        <p:nvSpPr>
          <p:cNvPr id="55" name="TextBox 54"/>
          <p:cNvSpPr txBox="1">
            <a:spLocks/>
          </p:cNvSpPr>
          <p:nvPr/>
        </p:nvSpPr>
        <p:spPr>
          <a:xfrm>
            <a:off x="8160005" y="456811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분담</a:t>
            </a:r>
          </a:p>
        </p:txBody>
      </p:sp>
      <p:sp>
        <p:nvSpPr>
          <p:cNvPr id="57" name="TextBox 56"/>
          <p:cNvSpPr txBox="1">
            <a:spLocks/>
          </p:cNvSpPr>
          <p:nvPr/>
        </p:nvSpPr>
        <p:spPr>
          <a:xfrm>
            <a:off x="10407378" y="461632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참고 문헌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63DA351-0154-944D-93F5-F238793C26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0138" y="5762323"/>
            <a:ext cx="390526" cy="39052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B9506E1-4690-DC4B-9B08-AC69A52E1703}"/>
              </a:ext>
            </a:extLst>
          </p:cNvPr>
          <p:cNvSpPr txBox="1"/>
          <p:nvPr/>
        </p:nvSpPr>
        <p:spPr>
          <a:xfrm>
            <a:off x="9620563" y="5907535"/>
            <a:ext cx="10985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iBeacon</a:t>
            </a:r>
            <a:endParaRPr kumimoji="1" lang="ko-Kore-KR" altLang="en-US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1861063-E58B-0044-8790-066A1E6D4097}"/>
              </a:ext>
            </a:extLst>
          </p:cNvPr>
          <p:cNvSpPr/>
          <p:nvPr/>
        </p:nvSpPr>
        <p:spPr>
          <a:xfrm rot="19301721">
            <a:off x="8579880" y="3447464"/>
            <a:ext cx="742122" cy="28447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가게</a:t>
            </a:r>
            <a:endParaRPr kumimoji="1" lang="ko-Kore-KR" altLang="en-US" sz="1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2" name="Isosceles Triangle 1044">
            <a:extLst>
              <a:ext uri="{FF2B5EF4-FFF2-40B4-BE49-F238E27FC236}">
                <a16:creationId xmlns:a16="http://schemas.microsoft.com/office/drawing/2014/main" id="{562AEC0D-FCB3-644E-863A-EB6D746194A4}"/>
              </a:ext>
            </a:extLst>
          </p:cNvPr>
          <p:cNvSpPr>
            <a:spLocks/>
          </p:cNvSpPr>
          <p:nvPr/>
        </p:nvSpPr>
        <p:spPr>
          <a:xfrm rot="1800000" flipH="1">
            <a:off x="9471422" y="5472601"/>
            <a:ext cx="151130" cy="151130"/>
          </a:xfrm>
          <a:prstGeom prst="triangle">
            <a:avLst/>
          </a:prstGeom>
          <a:solidFill>
            <a:schemeClr val="tx1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24026" y="1322975"/>
            <a:ext cx="3704158" cy="147732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strike="sngStrike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NFC -&gt;</a:t>
            </a:r>
            <a:r>
              <a:rPr lang="en-US" altLang="ko-KR" sz="12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schemeClr val="accent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iBeacon</a:t>
            </a:r>
          </a:p>
          <a:p>
            <a:pPr>
              <a:lnSpc>
                <a:spcPct val="150000"/>
              </a:lnSpc>
            </a:pPr>
            <a:r>
              <a:rPr lang="ko-KR" altLang="en-US" sz="1200" dirty="0" err="1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키오스크의</a:t>
            </a:r>
            <a:r>
              <a:rPr lang="ko-KR" altLang="en-US" sz="12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NFC </a:t>
            </a:r>
            <a:r>
              <a:rPr lang="ko-KR" altLang="en-US" sz="1200" dirty="0" err="1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리더기까지</a:t>
            </a:r>
            <a:r>
              <a:rPr lang="ko-KR" altLang="en-US" sz="12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 스마트폰을 직접</a:t>
            </a:r>
            <a:endParaRPr lang="en-US" altLang="ko-KR" sz="1200" dirty="0" smtClea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err="1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태깅하는</a:t>
            </a:r>
            <a:r>
              <a:rPr lang="ko-KR" altLang="en-US" sz="12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 것이 쉽지 않다</a:t>
            </a:r>
            <a:endParaRPr lang="en-US" altLang="ko-KR" sz="1200" dirty="0" smtClea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12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따라서 매장 근처까지 도착하면 바로 주문이 접수될</a:t>
            </a:r>
            <a:endParaRPr lang="en-US" altLang="ko-KR" sz="1200" dirty="0" smtClea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 있도록 </a:t>
            </a:r>
            <a:r>
              <a:rPr lang="en-US" altLang="ko-KR" sz="1200" dirty="0" smtClean="0">
                <a:solidFill>
                  <a:schemeClr val="accent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Beacon </a:t>
            </a:r>
            <a:r>
              <a:rPr lang="ko-KR" altLang="en-US" sz="1200" dirty="0" smtClean="0">
                <a:solidFill>
                  <a:schemeClr val="accent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방식으로 변경</a:t>
            </a:r>
            <a:endParaRPr lang="ko-KR" altLang="en-US" sz="1200" dirty="0">
              <a:solidFill>
                <a:schemeClr val="accent2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1861063-E58B-0044-8790-066A1E6D4097}"/>
              </a:ext>
            </a:extLst>
          </p:cNvPr>
          <p:cNvSpPr/>
          <p:nvPr/>
        </p:nvSpPr>
        <p:spPr>
          <a:xfrm rot="19301721">
            <a:off x="7721296" y="1242412"/>
            <a:ext cx="742122" cy="28447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 err="1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변경점</a:t>
            </a:r>
            <a:endParaRPr kumimoji="1" lang="ko-Kore-KR" altLang="en-US" sz="1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693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180" cy="6520180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30" name="Rounded Rectangle 129"/>
          <p:cNvSpPr>
            <a:spLocks/>
          </p:cNvSpPr>
          <p:nvPr/>
        </p:nvSpPr>
        <p:spPr>
          <a:xfrm>
            <a:off x="4886131" y="2332355"/>
            <a:ext cx="1021715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1" name="Rounded Rectangle 130"/>
          <p:cNvSpPr>
            <a:spLocks/>
          </p:cNvSpPr>
          <p:nvPr/>
        </p:nvSpPr>
        <p:spPr>
          <a:xfrm>
            <a:off x="6237605" y="3028315"/>
            <a:ext cx="1054735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2" name="Rectangle 131"/>
          <p:cNvSpPr>
            <a:spLocks/>
          </p:cNvSpPr>
          <p:nvPr/>
        </p:nvSpPr>
        <p:spPr>
          <a:xfrm>
            <a:off x="4708525" y="1393825"/>
            <a:ext cx="2837180" cy="277622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4" name="Rectangle 133"/>
          <p:cNvSpPr>
            <a:spLocks/>
          </p:cNvSpPr>
          <p:nvPr/>
        </p:nvSpPr>
        <p:spPr>
          <a:xfrm>
            <a:off x="4731826" y="4808220"/>
            <a:ext cx="1176020" cy="123444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5" name="Rounded Rectangle 134"/>
          <p:cNvSpPr>
            <a:spLocks/>
          </p:cNvSpPr>
          <p:nvPr/>
        </p:nvSpPr>
        <p:spPr>
          <a:xfrm>
            <a:off x="6247130" y="1642745"/>
            <a:ext cx="1088390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</a:t>
            </a:r>
            <a:endParaRPr 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6" name="텍스트 상자 135"/>
          <p:cNvSpPr txBox="1">
            <a:spLocks/>
          </p:cNvSpPr>
          <p:nvPr/>
        </p:nvSpPr>
        <p:spPr>
          <a:xfrm>
            <a:off x="5229225" y="989964"/>
            <a:ext cx="177736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7" name="Rounded Rectangle 136"/>
          <p:cNvSpPr>
            <a:spLocks/>
          </p:cNvSpPr>
          <p:nvPr/>
        </p:nvSpPr>
        <p:spPr>
          <a:xfrm>
            <a:off x="1905000" y="1548130"/>
            <a:ext cx="1062355" cy="541655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8" name="Rounded Rectangle 137"/>
          <p:cNvSpPr>
            <a:spLocks/>
          </p:cNvSpPr>
          <p:nvPr/>
        </p:nvSpPr>
        <p:spPr>
          <a:xfrm>
            <a:off x="842645" y="2559050"/>
            <a:ext cx="1062355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즐겨찾기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9" name="Rounded Rectangle 138"/>
          <p:cNvSpPr>
            <a:spLocks/>
          </p:cNvSpPr>
          <p:nvPr/>
        </p:nvSpPr>
        <p:spPr>
          <a:xfrm>
            <a:off x="2933065" y="2564130"/>
            <a:ext cx="1062355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가게선택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0" name="Rounded Rectangle 139"/>
          <p:cNvSpPr>
            <a:spLocks/>
          </p:cNvSpPr>
          <p:nvPr/>
        </p:nvSpPr>
        <p:spPr>
          <a:xfrm>
            <a:off x="1894840" y="4314190"/>
            <a:ext cx="1062355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장바구니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1" name="Rounded Rectangle 140"/>
          <p:cNvSpPr>
            <a:spLocks/>
          </p:cNvSpPr>
          <p:nvPr/>
        </p:nvSpPr>
        <p:spPr>
          <a:xfrm>
            <a:off x="2501265" y="5373370"/>
            <a:ext cx="1232535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NFC로</a:t>
            </a:r>
            <a:endParaRPr lang="en-US" altLang="ko-Kore-KR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2" name="Rounded Rectangle 141"/>
          <p:cNvSpPr>
            <a:spLocks/>
          </p:cNvSpPr>
          <p:nvPr/>
        </p:nvSpPr>
        <p:spPr>
          <a:xfrm>
            <a:off x="1899920" y="3472815"/>
            <a:ext cx="106426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43" name="Double Arrow 142"/>
          <p:cNvCxnSpPr/>
          <p:nvPr/>
        </p:nvCxnSpPr>
        <p:spPr>
          <a:xfrm flipH="1">
            <a:off x="1412875" y="2117090"/>
            <a:ext cx="1023620" cy="375920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Double Arrow 143"/>
          <p:cNvCxnSpPr/>
          <p:nvPr/>
        </p:nvCxnSpPr>
        <p:spPr>
          <a:xfrm>
            <a:off x="2435860" y="2117090"/>
            <a:ext cx="1029970" cy="38544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Double Arrow 144"/>
          <p:cNvCxnSpPr/>
          <p:nvPr/>
        </p:nvCxnSpPr>
        <p:spPr>
          <a:xfrm>
            <a:off x="1355725" y="3126105"/>
            <a:ext cx="1002030" cy="31432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Double Arrow 145"/>
          <p:cNvCxnSpPr/>
          <p:nvPr/>
        </p:nvCxnSpPr>
        <p:spPr>
          <a:xfrm flipH="1">
            <a:off x="2476500" y="3126105"/>
            <a:ext cx="1036320" cy="30924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Double Arrow 146"/>
          <p:cNvCxnSpPr>
            <a:stCxn id="142" idx="2"/>
          </p:cNvCxnSpPr>
          <p:nvPr/>
        </p:nvCxnSpPr>
        <p:spPr>
          <a:xfrm flipH="1">
            <a:off x="2428875" y="4011930"/>
            <a:ext cx="3810" cy="254000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Double Arrow 147"/>
          <p:cNvCxnSpPr/>
          <p:nvPr/>
        </p:nvCxnSpPr>
        <p:spPr>
          <a:xfrm flipH="1">
            <a:off x="1854835" y="4880610"/>
            <a:ext cx="577215" cy="40830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ounded Rectangle 148"/>
          <p:cNvSpPr>
            <a:spLocks/>
          </p:cNvSpPr>
          <p:nvPr/>
        </p:nvSpPr>
        <p:spPr>
          <a:xfrm>
            <a:off x="1233805" y="5375275"/>
            <a:ext cx="1141095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50" name="Double Arrow 149"/>
          <p:cNvCxnSpPr/>
          <p:nvPr/>
        </p:nvCxnSpPr>
        <p:spPr>
          <a:xfrm>
            <a:off x="2425700" y="4881245"/>
            <a:ext cx="627380" cy="412750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50"/>
          <p:cNvSpPr>
            <a:spLocks/>
          </p:cNvSpPr>
          <p:nvPr/>
        </p:nvSpPr>
        <p:spPr>
          <a:xfrm>
            <a:off x="645795" y="1391285"/>
            <a:ext cx="3588385" cy="4651375"/>
          </a:xfrm>
          <a:prstGeom prst="rect">
            <a:avLst/>
          </a:prstGeom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2" name="텍스트 상자 151"/>
          <p:cNvSpPr txBox="1">
            <a:spLocks/>
          </p:cNvSpPr>
          <p:nvPr/>
        </p:nvSpPr>
        <p:spPr>
          <a:xfrm>
            <a:off x="1546225" y="989965"/>
            <a:ext cx="177736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APP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3" name="Rectangle 152"/>
          <p:cNvSpPr>
            <a:spLocks/>
          </p:cNvSpPr>
          <p:nvPr/>
        </p:nvSpPr>
        <p:spPr>
          <a:xfrm>
            <a:off x="7986395" y="1403350"/>
            <a:ext cx="3386455" cy="464185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4" name="Rounded Rectangle 153"/>
          <p:cNvSpPr>
            <a:spLocks/>
          </p:cNvSpPr>
          <p:nvPr/>
        </p:nvSpPr>
        <p:spPr>
          <a:xfrm>
            <a:off x="8293100" y="3369945"/>
            <a:ext cx="865505" cy="648335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접수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확인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쓰레드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5" name="Rounded Rectangle 154"/>
          <p:cNvSpPr>
            <a:spLocks/>
          </p:cNvSpPr>
          <p:nvPr/>
        </p:nvSpPr>
        <p:spPr>
          <a:xfrm>
            <a:off x="9789160" y="2471420"/>
            <a:ext cx="1082675" cy="56769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POS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단말기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6" name="Rounded Rectangle 155"/>
          <p:cNvSpPr>
            <a:spLocks/>
          </p:cNvSpPr>
          <p:nvPr/>
        </p:nvSpPr>
        <p:spPr>
          <a:xfrm>
            <a:off x="9793605" y="3419475"/>
            <a:ext cx="1082675" cy="56769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결제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7" name="Rounded Rectangle 156"/>
          <p:cNvSpPr>
            <a:spLocks/>
          </p:cNvSpPr>
          <p:nvPr/>
        </p:nvSpPr>
        <p:spPr>
          <a:xfrm>
            <a:off x="9813290" y="4382135"/>
            <a:ext cx="1082675" cy="56769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영수증</a:t>
            </a:r>
            <a:r>
              <a:rPr 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100" dirty="0" err="1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인쇄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8" name="Rounded Rectangle 157"/>
          <p:cNvSpPr>
            <a:spLocks/>
          </p:cNvSpPr>
          <p:nvPr/>
        </p:nvSpPr>
        <p:spPr>
          <a:xfrm>
            <a:off x="9818370" y="5300345"/>
            <a:ext cx="1082675" cy="56769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주문완료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9" name="텍스트 상자 158"/>
          <p:cNvSpPr txBox="1">
            <a:spLocks/>
          </p:cNvSpPr>
          <p:nvPr/>
        </p:nvSpPr>
        <p:spPr>
          <a:xfrm>
            <a:off x="4775517" y="4433887"/>
            <a:ext cx="102679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iBeacon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0" name="텍스트 상자 159"/>
          <p:cNvSpPr txBox="1">
            <a:spLocks/>
          </p:cNvSpPr>
          <p:nvPr/>
        </p:nvSpPr>
        <p:spPr>
          <a:xfrm>
            <a:off x="8807450" y="999490"/>
            <a:ext cx="177736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POS </a:t>
            </a:r>
            <a:r>
              <a:rPr sz="18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단말기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61" name="Double Arrow 160"/>
          <p:cNvCxnSpPr/>
          <p:nvPr/>
        </p:nvCxnSpPr>
        <p:spPr>
          <a:xfrm>
            <a:off x="10321290" y="3039745"/>
            <a:ext cx="635" cy="33718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Double Arrow 161"/>
          <p:cNvCxnSpPr/>
          <p:nvPr/>
        </p:nvCxnSpPr>
        <p:spPr>
          <a:xfrm>
            <a:off x="10330815" y="3975735"/>
            <a:ext cx="635" cy="39433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Double Arrow 162"/>
          <p:cNvCxnSpPr/>
          <p:nvPr/>
        </p:nvCxnSpPr>
        <p:spPr>
          <a:xfrm>
            <a:off x="10340975" y="4950460"/>
            <a:ext cx="635" cy="312420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ounded Rectangle 163"/>
          <p:cNvSpPr>
            <a:spLocks/>
          </p:cNvSpPr>
          <p:nvPr/>
        </p:nvSpPr>
        <p:spPr>
          <a:xfrm>
            <a:off x="4823654" y="5141595"/>
            <a:ext cx="1013460" cy="56769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10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Beacon</a:t>
            </a:r>
            <a:endParaRPr lang="en-US" altLang="ko-KR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감지</a:t>
            </a:r>
          </a:p>
        </p:txBody>
      </p:sp>
      <p:cxnSp>
        <p:nvCxnSpPr>
          <p:cNvPr id="165" name="Double Arrow 164"/>
          <p:cNvCxnSpPr/>
          <p:nvPr/>
        </p:nvCxnSpPr>
        <p:spPr>
          <a:xfrm>
            <a:off x="4236720" y="2783840"/>
            <a:ext cx="630555" cy="635"/>
          </a:xfrm>
          <a:prstGeom prst="straightConnector1">
            <a:avLst/>
          </a:prstGeom>
          <a:ln w="28575" cap="flat" cmpd="sng">
            <a:solidFill>
              <a:srgbClr val="FF0000">
                <a:alpha val="100000"/>
              </a:srgb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Line 165"/>
          <p:cNvCxnSpPr/>
          <p:nvPr/>
        </p:nvCxnSpPr>
        <p:spPr>
          <a:xfrm>
            <a:off x="609600" y="6397625"/>
            <a:ext cx="462280" cy="635"/>
          </a:xfrm>
          <a:prstGeom prst="line">
            <a:avLst/>
          </a:prstGeom>
          <a:ln w="38100" cap="flat" cmpd="sng">
            <a:solidFill>
              <a:srgbClr val="FF0000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텍스트 상자 166"/>
          <p:cNvSpPr txBox="1">
            <a:spLocks/>
          </p:cNvSpPr>
          <p:nvPr/>
        </p:nvSpPr>
        <p:spPr>
          <a:xfrm>
            <a:off x="1060450" y="6245225"/>
            <a:ext cx="1326515" cy="30861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HTTP </a:t>
            </a:r>
            <a:r>
              <a:rPr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통신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68" name="Double Arrow 167"/>
          <p:cNvCxnSpPr>
            <a:cxnSpLocks/>
            <a:stCxn id="130" idx="3"/>
            <a:endCxn id="135" idx="1"/>
          </p:cNvCxnSpPr>
          <p:nvPr/>
        </p:nvCxnSpPr>
        <p:spPr>
          <a:xfrm flipV="1">
            <a:off x="5907846" y="2089785"/>
            <a:ext cx="339284" cy="689610"/>
          </a:xfrm>
          <a:prstGeom prst="straightConnector1">
            <a:avLst/>
          </a:prstGeom>
          <a:ln w="28575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Line 168"/>
          <p:cNvCxnSpPr/>
          <p:nvPr/>
        </p:nvCxnSpPr>
        <p:spPr>
          <a:xfrm>
            <a:off x="6312535" y="6410325"/>
            <a:ext cx="462280" cy="635"/>
          </a:xfrm>
          <a:prstGeom prst="line">
            <a:avLst/>
          </a:prstGeom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텍스트 상자 169"/>
          <p:cNvSpPr txBox="1">
            <a:spLocks/>
          </p:cNvSpPr>
          <p:nvPr/>
        </p:nvSpPr>
        <p:spPr>
          <a:xfrm>
            <a:off x="6821170" y="6150610"/>
            <a:ext cx="1383665" cy="524503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Google Cloud </a:t>
            </a:r>
            <a:r>
              <a:rPr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API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71" name="Double Arrow 170"/>
          <p:cNvCxnSpPr>
            <a:stCxn id="130" idx="3"/>
            <a:endCxn id="131" idx="1"/>
          </p:cNvCxnSpPr>
          <p:nvPr/>
        </p:nvCxnSpPr>
        <p:spPr>
          <a:xfrm>
            <a:off x="5907846" y="2779395"/>
            <a:ext cx="329759" cy="695960"/>
          </a:xfrm>
          <a:prstGeom prst="straightConnector1">
            <a:avLst/>
          </a:prstGeom>
          <a:ln w="28575" cap="flat" cmpd="sng">
            <a:solidFill>
              <a:schemeClr val="accent5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Line 171"/>
          <p:cNvCxnSpPr/>
          <p:nvPr/>
        </p:nvCxnSpPr>
        <p:spPr>
          <a:xfrm>
            <a:off x="2265045" y="6390005"/>
            <a:ext cx="462280" cy="635"/>
          </a:xfrm>
          <a:prstGeom prst="line">
            <a:avLst/>
          </a:prstGeom>
          <a:ln w="38100" cap="flat" cmpd="sng">
            <a:solidFill>
              <a:schemeClr val="accent5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텍스트 상자 172"/>
          <p:cNvSpPr txBox="1">
            <a:spLocks/>
          </p:cNvSpPr>
          <p:nvPr/>
        </p:nvSpPr>
        <p:spPr>
          <a:xfrm>
            <a:off x="2705100" y="6255385"/>
            <a:ext cx="1504315" cy="309059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PHP </a:t>
            </a:r>
            <a:r>
              <a:rPr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Mysqli</a:t>
            </a:r>
            <a:r>
              <a:rPr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API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78" name="Line 177"/>
          <p:cNvCxnSpPr/>
          <p:nvPr/>
        </p:nvCxnSpPr>
        <p:spPr>
          <a:xfrm>
            <a:off x="4411980" y="6406515"/>
            <a:ext cx="462280" cy="635"/>
          </a:xfrm>
          <a:prstGeom prst="line">
            <a:avLst/>
          </a:prstGeom>
          <a:ln w="38100" cap="flat" cmpd="sng">
            <a:solidFill>
              <a:srgbClr val="80007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텍스트 상자 178"/>
          <p:cNvSpPr txBox="1">
            <a:spLocks/>
          </p:cNvSpPr>
          <p:nvPr/>
        </p:nvSpPr>
        <p:spPr>
          <a:xfrm>
            <a:off x="4880610" y="6262370"/>
            <a:ext cx="1383665" cy="30861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C# </a:t>
            </a:r>
            <a:r>
              <a:rPr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Mysql</a:t>
            </a:r>
            <a:r>
              <a:rPr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API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80" name="Double Arrow 179"/>
          <p:cNvCxnSpPr>
            <a:cxnSpLocks/>
            <a:endCxn id="154" idx="1"/>
          </p:cNvCxnSpPr>
          <p:nvPr/>
        </p:nvCxnSpPr>
        <p:spPr>
          <a:xfrm>
            <a:off x="7282815" y="3475355"/>
            <a:ext cx="1010285" cy="218758"/>
          </a:xfrm>
          <a:prstGeom prst="straightConnector1">
            <a:avLst/>
          </a:prstGeom>
          <a:ln w="31750" cap="flat" cmpd="sng">
            <a:solidFill>
              <a:srgbClr val="80007F">
                <a:alpha val="100000"/>
              </a:srgb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Arrow 180"/>
          <p:cNvCxnSpPr>
            <a:cxnSpLocks/>
            <a:stCxn id="154" idx="3"/>
            <a:endCxn id="156" idx="1"/>
          </p:cNvCxnSpPr>
          <p:nvPr/>
        </p:nvCxnSpPr>
        <p:spPr>
          <a:xfrm>
            <a:off x="9158605" y="3694113"/>
            <a:ext cx="635000" cy="9207"/>
          </a:xfrm>
          <a:prstGeom prst="straightConnector1">
            <a:avLst/>
          </a:prstGeom>
          <a:ln w="31750" cap="flat" cmpd="sng">
            <a:solidFill>
              <a:schemeClr val="tx1">
                <a:lumMod val="50000"/>
                <a:lumOff val="50000"/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Line 181"/>
          <p:cNvCxnSpPr/>
          <p:nvPr/>
        </p:nvCxnSpPr>
        <p:spPr>
          <a:xfrm>
            <a:off x="9914255" y="6396990"/>
            <a:ext cx="462280" cy="635"/>
          </a:xfrm>
          <a:prstGeom prst="line">
            <a:avLst/>
          </a:prstGeom>
          <a:ln w="38100" cap="flat" cmpd="sng">
            <a:solidFill>
              <a:schemeClr val="bg1">
                <a:lumMod val="50000"/>
                <a:lumOff val="0"/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텍스트 상자 182"/>
          <p:cNvSpPr txBox="1">
            <a:spLocks/>
          </p:cNvSpPr>
          <p:nvPr/>
        </p:nvSpPr>
        <p:spPr>
          <a:xfrm>
            <a:off x="10354945" y="6244590"/>
            <a:ext cx="1383665" cy="30861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 </a:t>
            </a:r>
            <a:r>
              <a:rPr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흐름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84" name="Arrow 183"/>
          <p:cNvCxnSpPr>
            <a:stCxn id="158" idx="1"/>
          </p:cNvCxnSpPr>
          <p:nvPr/>
        </p:nvCxnSpPr>
        <p:spPr>
          <a:xfrm flipH="1" flipV="1">
            <a:off x="7292341" y="3506471"/>
            <a:ext cx="2526029" cy="2077719"/>
          </a:xfrm>
          <a:prstGeom prst="straightConnector1">
            <a:avLst/>
          </a:prstGeom>
          <a:ln w="31750" cap="flat" cmpd="sng">
            <a:solidFill>
              <a:srgbClr val="80007F">
                <a:alpha val="100000"/>
              </a:srgb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Rounded Rectangle 184"/>
          <p:cNvSpPr>
            <a:spLocks/>
          </p:cNvSpPr>
          <p:nvPr/>
        </p:nvSpPr>
        <p:spPr>
          <a:xfrm>
            <a:off x="9782810" y="1541780"/>
            <a:ext cx="1062355" cy="541655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86" name="Double Arrow 185"/>
          <p:cNvCxnSpPr/>
          <p:nvPr/>
        </p:nvCxnSpPr>
        <p:spPr>
          <a:xfrm>
            <a:off x="10308590" y="2094865"/>
            <a:ext cx="635" cy="30670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71" name="TextBox 70"/>
          <p:cNvSpPr txBox="1">
            <a:spLocks/>
          </p:cNvSpPr>
          <p:nvPr/>
        </p:nvSpPr>
        <p:spPr>
          <a:xfrm>
            <a:off x="9293313" y="460622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72" name="TextBox 71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73" name="TextBox 72"/>
          <p:cNvSpPr txBox="1">
            <a:spLocks/>
          </p:cNvSpPr>
          <p:nvPr/>
        </p:nvSpPr>
        <p:spPr>
          <a:xfrm>
            <a:off x="1678372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수행 시나리오</a:t>
            </a:r>
          </a:p>
        </p:txBody>
      </p:sp>
      <p:sp>
        <p:nvSpPr>
          <p:cNvPr id="74" name="TextBox 73"/>
          <p:cNvSpPr txBox="1">
            <a:spLocks/>
          </p:cNvSpPr>
          <p:nvPr/>
        </p:nvSpPr>
        <p:spPr>
          <a:xfrm>
            <a:off x="3291867" y="417777"/>
            <a:ext cx="2159000" cy="36933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시스템 구성도</a:t>
            </a:r>
          </a:p>
        </p:txBody>
      </p:sp>
      <p:sp>
        <p:nvSpPr>
          <p:cNvPr id="75" name="TextBox 74"/>
          <p:cNvSpPr txBox="1">
            <a:spLocks/>
          </p:cNvSpPr>
          <p:nvPr/>
        </p:nvSpPr>
        <p:spPr>
          <a:xfrm>
            <a:off x="4738999" y="461632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모듈 상세 설계</a:t>
            </a:r>
          </a:p>
        </p:txBody>
      </p:sp>
      <p:sp>
        <p:nvSpPr>
          <p:cNvPr id="76" name="TextBox 75"/>
          <p:cNvSpPr txBox="1">
            <a:spLocks/>
          </p:cNvSpPr>
          <p:nvPr/>
        </p:nvSpPr>
        <p:spPr>
          <a:xfrm>
            <a:off x="6430181" y="461632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환경 및 방법</a:t>
            </a:r>
          </a:p>
        </p:txBody>
      </p:sp>
      <p:sp>
        <p:nvSpPr>
          <p:cNvPr id="77" name="TextBox 76"/>
          <p:cNvSpPr txBox="1">
            <a:spLocks/>
          </p:cNvSpPr>
          <p:nvPr/>
        </p:nvSpPr>
        <p:spPr>
          <a:xfrm>
            <a:off x="8160005" y="456811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분담</a:t>
            </a:r>
          </a:p>
        </p:txBody>
      </p:sp>
      <p:sp>
        <p:nvSpPr>
          <p:cNvPr id="78" name="TextBox 77"/>
          <p:cNvSpPr txBox="1">
            <a:spLocks/>
          </p:cNvSpPr>
          <p:nvPr/>
        </p:nvSpPr>
        <p:spPr>
          <a:xfrm>
            <a:off x="10407378" y="461632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참고 문헌</a:t>
            </a:r>
          </a:p>
        </p:txBody>
      </p:sp>
      <p:cxnSp>
        <p:nvCxnSpPr>
          <p:cNvPr id="79" name="Double Arrow 167">
            <a:extLst>
              <a:ext uri="{FF2B5EF4-FFF2-40B4-BE49-F238E27FC236}">
                <a16:creationId xmlns:a16="http://schemas.microsoft.com/office/drawing/2014/main" id="{749D7E06-0EDB-5C42-A123-6B2E1567D3C0}"/>
              </a:ext>
            </a:extLst>
          </p:cNvPr>
          <p:cNvCxnSpPr>
            <a:cxnSpLocks/>
            <a:stCxn id="141" idx="3"/>
            <a:endCxn id="164" idx="1"/>
          </p:cNvCxnSpPr>
          <p:nvPr/>
        </p:nvCxnSpPr>
        <p:spPr>
          <a:xfrm flipV="1">
            <a:off x="3733800" y="5425440"/>
            <a:ext cx="1089854" cy="217805"/>
          </a:xfrm>
          <a:prstGeom prst="straightConnector1">
            <a:avLst/>
          </a:prstGeom>
          <a:ln w="28575" cap="flat" cmpd="sng">
            <a:solidFill>
              <a:schemeClr val="accent3">
                <a:lumMod val="7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Line 181">
            <a:extLst>
              <a:ext uri="{FF2B5EF4-FFF2-40B4-BE49-F238E27FC236}">
                <a16:creationId xmlns:a16="http://schemas.microsoft.com/office/drawing/2014/main" id="{1D737A6B-7932-804E-A312-8D9BFA03725C}"/>
              </a:ext>
            </a:extLst>
          </p:cNvPr>
          <p:cNvCxnSpPr/>
          <p:nvPr/>
        </p:nvCxnSpPr>
        <p:spPr>
          <a:xfrm>
            <a:off x="8400415" y="6396368"/>
            <a:ext cx="462280" cy="635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텍스트 상자 182">
            <a:extLst>
              <a:ext uri="{FF2B5EF4-FFF2-40B4-BE49-F238E27FC236}">
                <a16:creationId xmlns:a16="http://schemas.microsoft.com/office/drawing/2014/main" id="{37A6F250-8C64-F840-B79F-E5DEA796D542}"/>
              </a:ext>
            </a:extLst>
          </p:cNvPr>
          <p:cNvSpPr txBox="1">
            <a:spLocks/>
          </p:cNvSpPr>
          <p:nvPr/>
        </p:nvSpPr>
        <p:spPr>
          <a:xfrm>
            <a:off x="8564562" y="6177286"/>
            <a:ext cx="1383665" cy="524503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APNS</a:t>
            </a: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푸시 알림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69" name="Rectangle 133"/>
          <p:cNvSpPr>
            <a:spLocks/>
          </p:cNvSpPr>
          <p:nvPr/>
        </p:nvSpPr>
        <p:spPr>
          <a:xfrm>
            <a:off x="6356544" y="4810760"/>
            <a:ext cx="1176020" cy="123444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3" name="텍스트 상자 158"/>
          <p:cNvSpPr txBox="1">
            <a:spLocks/>
          </p:cNvSpPr>
          <p:nvPr/>
        </p:nvSpPr>
        <p:spPr>
          <a:xfrm>
            <a:off x="6400235" y="4436427"/>
            <a:ext cx="1026795" cy="370614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APNS</a:t>
            </a:r>
          </a:p>
        </p:txBody>
      </p:sp>
      <p:sp>
        <p:nvSpPr>
          <p:cNvPr id="84" name="Rounded Rectangle 163"/>
          <p:cNvSpPr>
            <a:spLocks/>
          </p:cNvSpPr>
          <p:nvPr/>
        </p:nvSpPr>
        <p:spPr>
          <a:xfrm>
            <a:off x="6448372" y="5144135"/>
            <a:ext cx="1013460" cy="56769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10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Push Notification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5" name="Arrow 183"/>
          <p:cNvCxnSpPr/>
          <p:nvPr/>
        </p:nvCxnSpPr>
        <p:spPr>
          <a:xfrm flipH="1" flipV="1">
            <a:off x="5396989" y="3243106"/>
            <a:ext cx="12902" cy="1049689"/>
          </a:xfrm>
          <a:prstGeom prst="straightConnector1">
            <a:avLst/>
          </a:prstGeom>
          <a:ln w="317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Arrow 183"/>
          <p:cNvCxnSpPr>
            <a:stCxn id="130" idx="2"/>
            <a:endCxn id="83" idx="0"/>
          </p:cNvCxnSpPr>
          <p:nvPr/>
        </p:nvCxnSpPr>
        <p:spPr>
          <a:xfrm>
            <a:off x="5396989" y="3226435"/>
            <a:ext cx="1516644" cy="1209992"/>
          </a:xfrm>
          <a:prstGeom prst="straightConnector1">
            <a:avLst/>
          </a:prstGeom>
          <a:ln w="317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Line 181">
            <a:extLst>
              <a:ext uri="{FF2B5EF4-FFF2-40B4-BE49-F238E27FC236}">
                <a16:creationId xmlns:a16="http://schemas.microsoft.com/office/drawing/2014/main" id="{1D737A6B-7932-804E-A312-8D9BFA03725C}"/>
              </a:ext>
            </a:extLst>
          </p:cNvPr>
          <p:cNvCxnSpPr/>
          <p:nvPr/>
        </p:nvCxnSpPr>
        <p:spPr>
          <a:xfrm>
            <a:off x="7778626" y="5582084"/>
            <a:ext cx="2030413" cy="20961"/>
          </a:xfrm>
          <a:prstGeom prst="line">
            <a:avLst/>
          </a:prstGeom>
          <a:ln w="317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Line 181">
            <a:extLst>
              <a:ext uri="{FF2B5EF4-FFF2-40B4-BE49-F238E27FC236}">
                <a16:creationId xmlns:a16="http://schemas.microsoft.com/office/drawing/2014/main" id="{1D737A6B-7932-804E-A312-8D9BFA03725C}"/>
              </a:ext>
            </a:extLst>
          </p:cNvPr>
          <p:cNvCxnSpPr/>
          <p:nvPr/>
        </p:nvCxnSpPr>
        <p:spPr>
          <a:xfrm flipV="1">
            <a:off x="7778626" y="4283270"/>
            <a:ext cx="1" cy="1315012"/>
          </a:xfrm>
          <a:prstGeom prst="line">
            <a:avLst/>
          </a:prstGeom>
          <a:ln w="317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Line 181">
            <a:extLst>
              <a:ext uri="{FF2B5EF4-FFF2-40B4-BE49-F238E27FC236}">
                <a16:creationId xmlns:a16="http://schemas.microsoft.com/office/drawing/2014/main" id="{1D737A6B-7932-804E-A312-8D9BFA03725C}"/>
              </a:ext>
            </a:extLst>
          </p:cNvPr>
          <p:cNvCxnSpPr/>
          <p:nvPr/>
        </p:nvCxnSpPr>
        <p:spPr>
          <a:xfrm>
            <a:off x="5411007" y="4278506"/>
            <a:ext cx="2376950" cy="19613"/>
          </a:xfrm>
          <a:prstGeom prst="line">
            <a:avLst/>
          </a:prstGeom>
          <a:ln w="317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Line 181">
            <a:extLst>
              <a:ext uri="{FF2B5EF4-FFF2-40B4-BE49-F238E27FC236}">
                <a16:creationId xmlns:a16="http://schemas.microsoft.com/office/drawing/2014/main" id="{1D737A6B-7932-804E-A312-8D9BFA03725C}"/>
              </a:ext>
            </a:extLst>
          </p:cNvPr>
          <p:cNvCxnSpPr/>
          <p:nvPr/>
        </p:nvCxnSpPr>
        <p:spPr>
          <a:xfrm>
            <a:off x="6214746" y="5438298"/>
            <a:ext cx="233881" cy="0"/>
          </a:xfrm>
          <a:prstGeom prst="line">
            <a:avLst/>
          </a:prstGeom>
          <a:ln w="317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Line 181">
            <a:extLst>
              <a:ext uri="{FF2B5EF4-FFF2-40B4-BE49-F238E27FC236}">
                <a16:creationId xmlns:a16="http://schemas.microsoft.com/office/drawing/2014/main" id="{1D737A6B-7932-804E-A312-8D9BFA03725C}"/>
              </a:ext>
            </a:extLst>
          </p:cNvPr>
          <p:cNvCxnSpPr/>
          <p:nvPr/>
        </p:nvCxnSpPr>
        <p:spPr>
          <a:xfrm flipV="1">
            <a:off x="6230488" y="4382135"/>
            <a:ext cx="0" cy="1070928"/>
          </a:xfrm>
          <a:prstGeom prst="line">
            <a:avLst/>
          </a:prstGeom>
          <a:ln w="317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Line 181">
            <a:extLst>
              <a:ext uri="{FF2B5EF4-FFF2-40B4-BE49-F238E27FC236}">
                <a16:creationId xmlns:a16="http://schemas.microsoft.com/office/drawing/2014/main" id="{1D737A6B-7932-804E-A312-8D9BFA03725C}"/>
              </a:ext>
            </a:extLst>
          </p:cNvPr>
          <p:cNvCxnSpPr/>
          <p:nvPr/>
        </p:nvCxnSpPr>
        <p:spPr>
          <a:xfrm>
            <a:off x="4650422" y="4376142"/>
            <a:ext cx="1597255" cy="13179"/>
          </a:xfrm>
          <a:prstGeom prst="line">
            <a:avLst/>
          </a:prstGeom>
          <a:ln w="317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Line 181">
            <a:extLst>
              <a:ext uri="{FF2B5EF4-FFF2-40B4-BE49-F238E27FC236}">
                <a16:creationId xmlns:a16="http://schemas.microsoft.com/office/drawing/2014/main" id="{1D737A6B-7932-804E-A312-8D9BFA03725C}"/>
              </a:ext>
            </a:extLst>
          </p:cNvPr>
          <p:cNvCxnSpPr/>
          <p:nvPr/>
        </p:nvCxnSpPr>
        <p:spPr>
          <a:xfrm flipH="1" flipV="1">
            <a:off x="4507866" y="2907876"/>
            <a:ext cx="142556" cy="1481445"/>
          </a:xfrm>
          <a:prstGeom prst="line">
            <a:avLst/>
          </a:prstGeom>
          <a:ln w="317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Arrow 183"/>
          <p:cNvCxnSpPr/>
          <p:nvPr/>
        </p:nvCxnSpPr>
        <p:spPr>
          <a:xfrm flipH="1">
            <a:off x="4236720" y="2921318"/>
            <a:ext cx="289279" cy="0"/>
          </a:xfrm>
          <a:prstGeom prst="straightConnector1">
            <a:avLst/>
          </a:prstGeom>
          <a:ln w="317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타원 188">
            <a:extLst>
              <a:ext uri="{FF2B5EF4-FFF2-40B4-BE49-F238E27FC236}">
                <a16:creationId xmlns:a16="http://schemas.microsoft.com/office/drawing/2014/main" id="{F0FEC134-2322-0E43-81A6-D2C21989758B}"/>
              </a:ext>
            </a:extLst>
          </p:cNvPr>
          <p:cNvSpPr/>
          <p:nvPr/>
        </p:nvSpPr>
        <p:spPr>
          <a:xfrm>
            <a:off x="8793832" y="5375910"/>
            <a:ext cx="198052" cy="19805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600" dirty="0">
                <a:solidFill>
                  <a:schemeClr val="accent2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kumimoji="1" lang="ko-Kore-KR" altLang="en-US" sz="1600" dirty="0">
              <a:solidFill>
                <a:schemeClr val="accent2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F0FEC134-2322-0E43-81A6-D2C21989758B}"/>
              </a:ext>
            </a:extLst>
          </p:cNvPr>
          <p:cNvSpPr/>
          <p:nvPr/>
        </p:nvSpPr>
        <p:spPr>
          <a:xfrm>
            <a:off x="5728817" y="3643664"/>
            <a:ext cx="198052" cy="19805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600" dirty="0" smtClean="0">
                <a:solidFill>
                  <a:schemeClr val="accent2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kumimoji="1" lang="ko-Kore-KR" altLang="en-US" sz="1600" dirty="0">
              <a:solidFill>
                <a:schemeClr val="accent2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F0FEC134-2322-0E43-81A6-D2C21989758B}"/>
              </a:ext>
            </a:extLst>
          </p:cNvPr>
          <p:cNvSpPr/>
          <p:nvPr/>
        </p:nvSpPr>
        <p:spPr>
          <a:xfrm>
            <a:off x="4366998" y="3807279"/>
            <a:ext cx="198052" cy="19805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600" dirty="0" smtClean="0">
                <a:solidFill>
                  <a:schemeClr val="accent2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kumimoji="1" lang="ko-Kore-KR" altLang="en-US" sz="1600" dirty="0">
              <a:solidFill>
                <a:schemeClr val="accent2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180" cy="6520180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070" cy="470535"/>
          </a:xfrm>
          <a:prstGeom prst="rect">
            <a:avLst/>
          </a:prstGeom>
          <a:noFill/>
        </p:spPr>
      </p:pic>
      <p:sp>
        <p:nvSpPr>
          <p:cNvPr id="155" name="텍스트 상자 154"/>
          <p:cNvSpPr txBox="1">
            <a:spLocks/>
          </p:cNvSpPr>
          <p:nvPr/>
        </p:nvSpPr>
        <p:spPr>
          <a:xfrm>
            <a:off x="5953760" y="1089660"/>
            <a:ext cx="1732915" cy="144716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Server</a:t>
            </a: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6" name="텍스트 상자 155"/>
          <p:cNvSpPr txBox="1">
            <a:spLocks/>
          </p:cNvSpPr>
          <p:nvPr/>
        </p:nvSpPr>
        <p:spPr>
          <a:xfrm>
            <a:off x="5955664" y="1677970"/>
            <a:ext cx="5664835" cy="445974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b="1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Web Server</a:t>
            </a:r>
            <a:endParaRPr lang="ko-KR" altLang="en-US" sz="1600" b="1" dirty="0">
              <a:solidFill>
                <a:schemeClr val="tx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AWS EC2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서버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Apache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기반의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Web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서버로서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PHP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언어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Mysqli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API를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사용하여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b="1" dirty="0" err="1">
                <a:solidFill>
                  <a:schemeClr val="accent2">
                    <a:lumMod val="75000"/>
                    <a:lumOff val="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DB서버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연결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Google Cloud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PHP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API를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사용하여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b="1" dirty="0">
                <a:solidFill>
                  <a:srgbClr val="C55A1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Chat </a:t>
            </a:r>
            <a:r>
              <a:rPr sz="1400" b="1" dirty="0" err="1">
                <a:solidFill>
                  <a:srgbClr val="C55A1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Bot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연결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App에서는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이 Web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Server를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b="1" dirty="0" err="1">
                <a:solidFill>
                  <a:srgbClr val="C55A1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DB서버</a:t>
            </a:r>
            <a:r>
              <a:rPr sz="1400" b="1" dirty="0">
                <a:solidFill>
                  <a:srgbClr val="C55A1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Chat </a:t>
            </a:r>
            <a:r>
              <a:rPr sz="1400" b="1" dirty="0" err="1">
                <a:solidFill>
                  <a:srgbClr val="C55A1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Bot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통신을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한다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b="1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 DB Server</a:t>
            </a:r>
            <a:endParaRPr lang="ko-KR" altLang="en-US" sz="1600" b="1" dirty="0">
              <a:solidFill>
                <a:schemeClr val="tx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AWS RDS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서버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rgbClr val="C55A1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ysq</a:t>
            </a:r>
            <a:r>
              <a:rPr sz="1400" dirty="0" err="1">
                <a:solidFill>
                  <a:srgbClr val="C55A1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기반으로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회원정보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가게정보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주문정보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유사도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계산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등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전반적인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DB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관리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b="1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Chat Bot</a:t>
            </a:r>
            <a:endParaRPr lang="ko-KR" altLang="en-US" sz="1600" b="1" dirty="0">
              <a:solidFill>
                <a:schemeClr val="tx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sz="1400" dirty="0">
                <a:solidFill>
                  <a:srgbClr val="C55A1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Google </a:t>
            </a:r>
            <a:r>
              <a:rPr sz="1400" dirty="0" err="1">
                <a:solidFill>
                  <a:srgbClr val="C55A1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400" dirty="0">
                <a:solidFill>
                  <a:srgbClr val="C55A1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V2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머신러닝을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이용한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NLU엔진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기반의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챗봇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서비스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7" name="Rounded Rectangle 156"/>
          <p:cNvSpPr>
            <a:spLocks/>
          </p:cNvSpPr>
          <p:nvPr/>
        </p:nvSpPr>
        <p:spPr>
          <a:xfrm>
            <a:off x="1150620" y="1588770"/>
            <a:ext cx="781050" cy="541655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8" name="Rounded Rectangle 157"/>
          <p:cNvSpPr>
            <a:spLocks/>
          </p:cNvSpPr>
          <p:nvPr/>
        </p:nvSpPr>
        <p:spPr>
          <a:xfrm>
            <a:off x="370840" y="2597785"/>
            <a:ext cx="83820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즐겨찾기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9" name="Rounded Rectangle 158"/>
          <p:cNvSpPr>
            <a:spLocks/>
          </p:cNvSpPr>
          <p:nvPr/>
        </p:nvSpPr>
        <p:spPr>
          <a:xfrm>
            <a:off x="1905000" y="2602865"/>
            <a:ext cx="85725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가게선택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0" name="Rounded Rectangle 159"/>
          <p:cNvSpPr>
            <a:spLocks/>
          </p:cNvSpPr>
          <p:nvPr/>
        </p:nvSpPr>
        <p:spPr>
          <a:xfrm>
            <a:off x="1104900" y="4352925"/>
            <a:ext cx="85090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장바구니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1" name="Rounded Rectangle 160"/>
          <p:cNvSpPr>
            <a:spLocks/>
          </p:cNvSpPr>
          <p:nvPr/>
        </p:nvSpPr>
        <p:spPr>
          <a:xfrm>
            <a:off x="1588135" y="5412105"/>
            <a:ext cx="90551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NFC로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2" name="Rounded Rectangle 161"/>
          <p:cNvSpPr>
            <a:spLocks/>
          </p:cNvSpPr>
          <p:nvPr/>
        </p:nvSpPr>
        <p:spPr>
          <a:xfrm>
            <a:off x="1128395" y="3511550"/>
            <a:ext cx="83820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63" name="Double Arrow 162"/>
          <p:cNvCxnSpPr/>
          <p:nvPr/>
        </p:nvCxnSpPr>
        <p:spPr>
          <a:xfrm flipH="1">
            <a:off x="789305" y="2155825"/>
            <a:ext cx="751840" cy="37592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Double Arrow 163"/>
          <p:cNvCxnSpPr/>
          <p:nvPr/>
        </p:nvCxnSpPr>
        <p:spPr>
          <a:xfrm>
            <a:off x="1541145" y="2157730"/>
            <a:ext cx="756920" cy="38544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Double Arrow 164"/>
          <p:cNvCxnSpPr/>
          <p:nvPr/>
        </p:nvCxnSpPr>
        <p:spPr>
          <a:xfrm>
            <a:off x="747395" y="3166745"/>
            <a:ext cx="736600" cy="31432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Double Arrow 165"/>
          <p:cNvCxnSpPr/>
          <p:nvPr/>
        </p:nvCxnSpPr>
        <p:spPr>
          <a:xfrm flipH="1">
            <a:off x="1570990" y="3166745"/>
            <a:ext cx="760730" cy="30924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Double Arrow 166"/>
          <p:cNvCxnSpPr/>
          <p:nvPr/>
        </p:nvCxnSpPr>
        <p:spPr>
          <a:xfrm flipH="1">
            <a:off x="1536065" y="4050665"/>
            <a:ext cx="2540" cy="25400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Double Arrow 167"/>
          <p:cNvCxnSpPr/>
          <p:nvPr/>
        </p:nvCxnSpPr>
        <p:spPr>
          <a:xfrm flipH="1">
            <a:off x="1113790" y="4921250"/>
            <a:ext cx="424180" cy="40830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ounded Rectangle 168"/>
          <p:cNvSpPr>
            <a:spLocks/>
          </p:cNvSpPr>
          <p:nvPr/>
        </p:nvSpPr>
        <p:spPr>
          <a:xfrm>
            <a:off x="657860" y="5414010"/>
            <a:ext cx="83820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</a:t>
            </a:r>
            <a:endParaRPr 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70" name="Double Arrow 169"/>
          <p:cNvCxnSpPr/>
          <p:nvPr/>
        </p:nvCxnSpPr>
        <p:spPr>
          <a:xfrm>
            <a:off x="1532890" y="4919980"/>
            <a:ext cx="461010" cy="41275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/>
          <p:cNvSpPr>
            <a:spLocks/>
          </p:cNvSpPr>
          <p:nvPr/>
        </p:nvSpPr>
        <p:spPr>
          <a:xfrm>
            <a:off x="226695" y="1431925"/>
            <a:ext cx="2635250" cy="4651375"/>
          </a:xfrm>
          <a:prstGeom prst="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3" name="Rounded Rectangle 172"/>
          <p:cNvSpPr>
            <a:spLocks/>
          </p:cNvSpPr>
          <p:nvPr/>
        </p:nvSpPr>
        <p:spPr>
          <a:xfrm>
            <a:off x="3272790" y="3453130"/>
            <a:ext cx="985520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4" name="Rounded Rectangle 173"/>
          <p:cNvSpPr>
            <a:spLocks/>
          </p:cNvSpPr>
          <p:nvPr/>
        </p:nvSpPr>
        <p:spPr>
          <a:xfrm>
            <a:off x="4592955" y="3942715"/>
            <a:ext cx="1049654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5" name="Rectangle 174"/>
          <p:cNvSpPr>
            <a:spLocks/>
          </p:cNvSpPr>
          <p:nvPr/>
        </p:nvSpPr>
        <p:spPr>
          <a:xfrm>
            <a:off x="3108325" y="2792730"/>
            <a:ext cx="2625117" cy="195326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6" name="Rounded Rectangle 175"/>
          <p:cNvSpPr>
            <a:spLocks/>
          </p:cNvSpPr>
          <p:nvPr/>
        </p:nvSpPr>
        <p:spPr>
          <a:xfrm>
            <a:off x="4571364" y="2967990"/>
            <a:ext cx="1071245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</a:t>
            </a:r>
            <a:endParaRPr 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77" name="Double Arrow 176"/>
          <p:cNvCxnSpPr>
            <a:stCxn id="173" idx="3"/>
          </p:cNvCxnSpPr>
          <p:nvPr/>
        </p:nvCxnSpPr>
        <p:spPr>
          <a:xfrm flipV="1">
            <a:off x="4258310" y="3281680"/>
            <a:ext cx="313690" cy="485775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Double Arrow 177"/>
          <p:cNvCxnSpPr>
            <a:stCxn id="173" idx="3"/>
          </p:cNvCxnSpPr>
          <p:nvPr/>
        </p:nvCxnSpPr>
        <p:spPr>
          <a:xfrm>
            <a:off x="4258310" y="3767455"/>
            <a:ext cx="335280" cy="489585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39" name="TextBox 38"/>
          <p:cNvSpPr txBox="1">
            <a:spLocks/>
          </p:cNvSpPr>
          <p:nvPr/>
        </p:nvSpPr>
        <p:spPr>
          <a:xfrm>
            <a:off x="9293313" y="460622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40" name="TextBox 39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41" name="TextBox 40"/>
          <p:cNvSpPr txBox="1">
            <a:spLocks/>
          </p:cNvSpPr>
          <p:nvPr/>
        </p:nvSpPr>
        <p:spPr>
          <a:xfrm>
            <a:off x="1678372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수행 시나리오</a:t>
            </a: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3291867" y="455101"/>
            <a:ext cx="2159000" cy="30777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6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구성도</a:t>
            </a: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4738999" y="424308"/>
            <a:ext cx="2159000" cy="36933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 상세 설계</a:t>
            </a:r>
          </a:p>
        </p:txBody>
      </p:sp>
      <p:sp>
        <p:nvSpPr>
          <p:cNvPr id="44" name="TextBox 43"/>
          <p:cNvSpPr txBox="1">
            <a:spLocks/>
          </p:cNvSpPr>
          <p:nvPr/>
        </p:nvSpPr>
        <p:spPr>
          <a:xfrm>
            <a:off x="6430181" y="461632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환경 및 방법</a:t>
            </a:r>
          </a:p>
        </p:txBody>
      </p:sp>
      <p:sp>
        <p:nvSpPr>
          <p:cNvPr id="45" name="TextBox 44"/>
          <p:cNvSpPr txBox="1">
            <a:spLocks/>
          </p:cNvSpPr>
          <p:nvPr/>
        </p:nvSpPr>
        <p:spPr>
          <a:xfrm>
            <a:off x="8160005" y="456811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업무 분담</a:t>
            </a:r>
          </a:p>
        </p:txBody>
      </p:sp>
      <p:sp>
        <p:nvSpPr>
          <p:cNvPr id="46" name="TextBox 45"/>
          <p:cNvSpPr txBox="1">
            <a:spLocks/>
          </p:cNvSpPr>
          <p:nvPr/>
        </p:nvSpPr>
        <p:spPr>
          <a:xfrm>
            <a:off x="10407378" y="461632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참고 문헌</a:t>
            </a:r>
          </a:p>
        </p:txBody>
      </p:sp>
      <p:cxnSp>
        <p:nvCxnSpPr>
          <p:cNvPr id="172" name="Double Arrow 171"/>
          <p:cNvCxnSpPr>
            <a:stCxn id="171" idx="3"/>
          </p:cNvCxnSpPr>
          <p:nvPr/>
        </p:nvCxnSpPr>
        <p:spPr>
          <a:xfrm>
            <a:off x="2861945" y="3757613"/>
            <a:ext cx="411480" cy="9842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텍스트 상자 151"/>
          <p:cNvSpPr txBox="1">
            <a:spLocks/>
          </p:cNvSpPr>
          <p:nvPr/>
        </p:nvSpPr>
        <p:spPr>
          <a:xfrm>
            <a:off x="-447545" y="1157605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APP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0" name="텍스트 상자 151"/>
          <p:cNvSpPr txBox="1">
            <a:spLocks/>
          </p:cNvSpPr>
          <p:nvPr/>
        </p:nvSpPr>
        <p:spPr>
          <a:xfrm>
            <a:off x="2594002" y="2513797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180" cy="6520180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070" cy="470535"/>
          </a:xfrm>
          <a:prstGeom prst="rect">
            <a:avLst/>
          </a:prstGeom>
          <a:noFill/>
        </p:spPr>
      </p:pic>
      <p:sp>
        <p:nvSpPr>
          <p:cNvPr id="134" name="Rounded Rectangle 133"/>
          <p:cNvSpPr>
            <a:spLocks/>
          </p:cNvSpPr>
          <p:nvPr/>
        </p:nvSpPr>
        <p:spPr>
          <a:xfrm>
            <a:off x="1150620" y="1588770"/>
            <a:ext cx="781050" cy="541655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5" name="Rounded Rectangle 134"/>
          <p:cNvSpPr>
            <a:spLocks/>
          </p:cNvSpPr>
          <p:nvPr/>
        </p:nvSpPr>
        <p:spPr>
          <a:xfrm>
            <a:off x="351789" y="2597785"/>
            <a:ext cx="838199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즐겨찾기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6" name="Rounded Rectangle 135"/>
          <p:cNvSpPr>
            <a:spLocks/>
          </p:cNvSpPr>
          <p:nvPr/>
        </p:nvSpPr>
        <p:spPr>
          <a:xfrm>
            <a:off x="1905001" y="2602865"/>
            <a:ext cx="838199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가게선택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7" name="Rounded Rectangle 136"/>
          <p:cNvSpPr>
            <a:spLocks/>
          </p:cNvSpPr>
          <p:nvPr/>
        </p:nvSpPr>
        <p:spPr>
          <a:xfrm>
            <a:off x="1114425" y="4352925"/>
            <a:ext cx="85090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장바구니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8" name="Rounded Rectangle 137"/>
          <p:cNvSpPr>
            <a:spLocks/>
          </p:cNvSpPr>
          <p:nvPr/>
        </p:nvSpPr>
        <p:spPr>
          <a:xfrm>
            <a:off x="1588135" y="5412105"/>
            <a:ext cx="90551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NFC로</a:t>
            </a:r>
            <a:endParaRPr 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9" name="Rounded Rectangle 138"/>
          <p:cNvSpPr>
            <a:spLocks/>
          </p:cNvSpPr>
          <p:nvPr/>
        </p:nvSpPr>
        <p:spPr>
          <a:xfrm>
            <a:off x="1118870" y="3511550"/>
            <a:ext cx="85090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40" name="Double Arrow 139"/>
          <p:cNvCxnSpPr/>
          <p:nvPr/>
        </p:nvCxnSpPr>
        <p:spPr>
          <a:xfrm flipH="1">
            <a:off x="789305" y="2155825"/>
            <a:ext cx="751840" cy="37592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Double Arrow 140"/>
          <p:cNvCxnSpPr/>
          <p:nvPr/>
        </p:nvCxnSpPr>
        <p:spPr>
          <a:xfrm>
            <a:off x="1541145" y="2157730"/>
            <a:ext cx="756920" cy="38544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Double Arrow 141"/>
          <p:cNvCxnSpPr/>
          <p:nvPr/>
        </p:nvCxnSpPr>
        <p:spPr>
          <a:xfrm>
            <a:off x="747395" y="3166745"/>
            <a:ext cx="736600" cy="31432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Double Arrow 142"/>
          <p:cNvCxnSpPr/>
          <p:nvPr/>
        </p:nvCxnSpPr>
        <p:spPr>
          <a:xfrm flipH="1">
            <a:off x="1570990" y="3166745"/>
            <a:ext cx="760730" cy="30924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Double Arrow 143"/>
          <p:cNvCxnSpPr/>
          <p:nvPr/>
        </p:nvCxnSpPr>
        <p:spPr>
          <a:xfrm flipH="1">
            <a:off x="1536065" y="4050665"/>
            <a:ext cx="2540" cy="25400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Double Arrow 144"/>
          <p:cNvCxnSpPr/>
          <p:nvPr/>
        </p:nvCxnSpPr>
        <p:spPr>
          <a:xfrm flipH="1">
            <a:off x="1113790" y="4921250"/>
            <a:ext cx="424180" cy="40830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>
            <a:spLocks/>
          </p:cNvSpPr>
          <p:nvPr/>
        </p:nvSpPr>
        <p:spPr>
          <a:xfrm>
            <a:off x="657860" y="5414010"/>
            <a:ext cx="83820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</a:t>
            </a:r>
            <a:endParaRPr 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47" name="Double Arrow 146"/>
          <p:cNvCxnSpPr/>
          <p:nvPr/>
        </p:nvCxnSpPr>
        <p:spPr>
          <a:xfrm>
            <a:off x="1532890" y="4919980"/>
            <a:ext cx="461010" cy="41275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>
            <a:spLocks/>
          </p:cNvSpPr>
          <p:nvPr/>
        </p:nvSpPr>
        <p:spPr>
          <a:xfrm>
            <a:off x="226695" y="1431925"/>
            <a:ext cx="2635250" cy="4651375"/>
          </a:xfrm>
          <a:prstGeom prst="rect">
            <a:avLst/>
          </a:prstGeom>
          <a:noFill/>
          <a:ln w="12700" cap="flat" cmpd="sng">
            <a:solidFill>
              <a:schemeClr val="bg1">
                <a:lumMod val="8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0" name="Rounded Rectangle 129"/>
          <p:cNvSpPr>
            <a:spLocks/>
          </p:cNvSpPr>
          <p:nvPr/>
        </p:nvSpPr>
        <p:spPr>
          <a:xfrm>
            <a:off x="3272790" y="3453130"/>
            <a:ext cx="985520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1" name="Rounded Rectangle 130"/>
          <p:cNvSpPr>
            <a:spLocks/>
          </p:cNvSpPr>
          <p:nvPr/>
        </p:nvSpPr>
        <p:spPr>
          <a:xfrm>
            <a:off x="4592955" y="3942715"/>
            <a:ext cx="1036320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2" name="Rectangle 131"/>
          <p:cNvSpPr>
            <a:spLocks/>
          </p:cNvSpPr>
          <p:nvPr/>
        </p:nvSpPr>
        <p:spPr>
          <a:xfrm>
            <a:off x="3108325" y="2792730"/>
            <a:ext cx="2625117" cy="195326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3" name="Rounded Rectangle 132"/>
          <p:cNvSpPr>
            <a:spLocks/>
          </p:cNvSpPr>
          <p:nvPr/>
        </p:nvSpPr>
        <p:spPr>
          <a:xfrm>
            <a:off x="4571364" y="2977515"/>
            <a:ext cx="1057911" cy="6286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 </a:t>
            </a:r>
            <a:endParaRPr 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50" name="Double Arrow 149"/>
          <p:cNvCxnSpPr>
            <a:stCxn id="130" idx="3"/>
          </p:cNvCxnSpPr>
          <p:nvPr/>
        </p:nvCxnSpPr>
        <p:spPr>
          <a:xfrm flipV="1">
            <a:off x="4258310" y="3281680"/>
            <a:ext cx="313690" cy="485775"/>
          </a:xfrm>
          <a:prstGeom prst="straightConnector1">
            <a:avLst/>
          </a:prstGeom>
          <a:ln w="28575" cap="flat" cmpd="sng">
            <a:solidFill>
              <a:schemeClr val="bg1">
                <a:lumMod val="85000"/>
                <a:lumOff val="0"/>
                <a:alpha val="100000"/>
              </a:schemeClr>
            </a:solidFill>
            <a:prstDash val="sysDot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Double Arrow 150"/>
          <p:cNvCxnSpPr>
            <a:stCxn id="130" idx="3"/>
          </p:cNvCxnSpPr>
          <p:nvPr/>
        </p:nvCxnSpPr>
        <p:spPr>
          <a:xfrm>
            <a:off x="4258310" y="3767455"/>
            <a:ext cx="335280" cy="489585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텍스트 상자 152"/>
          <p:cNvSpPr txBox="1">
            <a:spLocks/>
          </p:cNvSpPr>
          <p:nvPr/>
        </p:nvSpPr>
        <p:spPr>
          <a:xfrm>
            <a:off x="5953760" y="1739900"/>
            <a:ext cx="1732915" cy="144716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로그인</a:t>
            </a: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4" name="텍스트 상자 153"/>
          <p:cNvSpPr txBox="1">
            <a:spLocks/>
          </p:cNvSpPr>
          <p:nvPr/>
        </p:nvSpPr>
        <p:spPr>
          <a:xfrm>
            <a:off x="5955665" y="2383155"/>
            <a:ext cx="5866130" cy="329173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Swift 의 HTTP request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메소드를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사용하여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Web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Server와</a:t>
            </a:r>
            <a:endParaRPr lang="en-US" altLang="ko-Kore-KR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HTTP POST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통신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ore-KR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Body에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ID,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PWD를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담아서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전송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server는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DB서버와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통신하여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App에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Query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결과를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전달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회원가입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insert query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select query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3.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자동로그인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성공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시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App이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삭제되기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전까지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Data를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저장해놓는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UserDefaults에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ID를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저장한다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5" name="직사각형 154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56" name="TextBox 155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57" name="그룹 156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158" name="TextBox 157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59" name="TextBox 158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160" name="TextBox 159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161" name="TextBox 160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162" name="TextBox 161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163" name="TextBox 162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4" name="TextBox 163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cxnSp>
        <p:nvCxnSpPr>
          <p:cNvPr id="149" name="Double Arrow 148"/>
          <p:cNvCxnSpPr>
            <a:endCxn id="130" idx="1"/>
          </p:cNvCxnSpPr>
          <p:nvPr/>
        </p:nvCxnSpPr>
        <p:spPr>
          <a:xfrm>
            <a:off x="1925320" y="1820545"/>
            <a:ext cx="1347470" cy="1946910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텍스트 상자 151"/>
          <p:cNvSpPr txBox="1">
            <a:spLocks/>
          </p:cNvSpPr>
          <p:nvPr/>
        </p:nvSpPr>
        <p:spPr>
          <a:xfrm>
            <a:off x="-447545" y="1157605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APP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2" name="텍스트 상자 151"/>
          <p:cNvSpPr txBox="1">
            <a:spLocks/>
          </p:cNvSpPr>
          <p:nvPr/>
        </p:nvSpPr>
        <p:spPr>
          <a:xfrm>
            <a:off x="2594002" y="2513797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180" cy="6520180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070" cy="470535"/>
          </a:xfrm>
          <a:prstGeom prst="rect">
            <a:avLst/>
          </a:prstGeom>
          <a:noFill/>
        </p:spPr>
      </p:pic>
      <p:sp>
        <p:nvSpPr>
          <p:cNvPr id="130" name="Rounded Rectangle 129"/>
          <p:cNvSpPr>
            <a:spLocks/>
          </p:cNvSpPr>
          <p:nvPr/>
        </p:nvSpPr>
        <p:spPr>
          <a:xfrm>
            <a:off x="1150620" y="1588770"/>
            <a:ext cx="781050" cy="541655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1" name="Rounded Rectangle 130"/>
          <p:cNvSpPr>
            <a:spLocks/>
          </p:cNvSpPr>
          <p:nvPr/>
        </p:nvSpPr>
        <p:spPr>
          <a:xfrm>
            <a:off x="342265" y="2597785"/>
            <a:ext cx="848360" cy="5397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즐겨찾기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2" name="Rounded Rectangle 131"/>
          <p:cNvSpPr>
            <a:spLocks/>
          </p:cNvSpPr>
          <p:nvPr/>
        </p:nvSpPr>
        <p:spPr>
          <a:xfrm>
            <a:off x="1902965" y="2602865"/>
            <a:ext cx="849760" cy="5397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가게선택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3" name="Rounded Rectangle 132"/>
          <p:cNvSpPr>
            <a:spLocks/>
          </p:cNvSpPr>
          <p:nvPr/>
        </p:nvSpPr>
        <p:spPr>
          <a:xfrm>
            <a:off x="1114424" y="4352925"/>
            <a:ext cx="846455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장바구니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4" name="Rounded Rectangle 133"/>
          <p:cNvSpPr>
            <a:spLocks/>
          </p:cNvSpPr>
          <p:nvPr/>
        </p:nvSpPr>
        <p:spPr>
          <a:xfrm>
            <a:off x="1588135" y="5412105"/>
            <a:ext cx="90551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NFC로</a:t>
            </a:r>
            <a:endParaRPr 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5" name="Rounded Rectangle 134"/>
          <p:cNvSpPr>
            <a:spLocks/>
          </p:cNvSpPr>
          <p:nvPr/>
        </p:nvSpPr>
        <p:spPr>
          <a:xfrm>
            <a:off x="1118869" y="3511550"/>
            <a:ext cx="846455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36" name="Double Arrow 135"/>
          <p:cNvCxnSpPr/>
          <p:nvPr/>
        </p:nvCxnSpPr>
        <p:spPr>
          <a:xfrm flipH="1">
            <a:off x="789305" y="2155825"/>
            <a:ext cx="751840" cy="37592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Double Arrow 136"/>
          <p:cNvCxnSpPr/>
          <p:nvPr/>
        </p:nvCxnSpPr>
        <p:spPr>
          <a:xfrm>
            <a:off x="1541145" y="2157730"/>
            <a:ext cx="756920" cy="38544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Double Arrow 137"/>
          <p:cNvCxnSpPr/>
          <p:nvPr/>
        </p:nvCxnSpPr>
        <p:spPr>
          <a:xfrm>
            <a:off x="747395" y="3166745"/>
            <a:ext cx="736600" cy="31432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Double Arrow 138"/>
          <p:cNvCxnSpPr/>
          <p:nvPr/>
        </p:nvCxnSpPr>
        <p:spPr>
          <a:xfrm flipH="1">
            <a:off x="1570990" y="3166745"/>
            <a:ext cx="760730" cy="30924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Double Arrow 139"/>
          <p:cNvCxnSpPr/>
          <p:nvPr/>
        </p:nvCxnSpPr>
        <p:spPr>
          <a:xfrm flipH="1">
            <a:off x="1536065" y="4050665"/>
            <a:ext cx="2540" cy="25400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Double Arrow 140"/>
          <p:cNvCxnSpPr/>
          <p:nvPr/>
        </p:nvCxnSpPr>
        <p:spPr>
          <a:xfrm flipH="1">
            <a:off x="1113790" y="4921250"/>
            <a:ext cx="424180" cy="40830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/>
          <p:cNvSpPr>
            <a:spLocks/>
          </p:cNvSpPr>
          <p:nvPr/>
        </p:nvSpPr>
        <p:spPr>
          <a:xfrm>
            <a:off x="657860" y="5414010"/>
            <a:ext cx="83820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</a:t>
            </a:r>
            <a:endParaRPr 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43" name="Double Arrow 142"/>
          <p:cNvCxnSpPr/>
          <p:nvPr/>
        </p:nvCxnSpPr>
        <p:spPr>
          <a:xfrm>
            <a:off x="1532890" y="4919980"/>
            <a:ext cx="461010" cy="41275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>
            <a:spLocks/>
          </p:cNvSpPr>
          <p:nvPr/>
        </p:nvSpPr>
        <p:spPr>
          <a:xfrm>
            <a:off x="3272789" y="3453130"/>
            <a:ext cx="985519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7" name="Rounded Rectangle 146"/>
          <p:cNvSpPr>
            <a:spLocks/>
          </p:cNvSpPr>
          <p:nvPr/>
        </p:nvSpPr>
        <p:spPr>
          <a:xfrm>
            <a:off x="4592954" y="3933384"/>
            <a:ext cx="1049655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8" name="Rectangle 147"/>
          <p:cNvSpPr>
            <a:spLocks/>
          </p:cNvSpPr>
          <p:nvPr/>
        </p:nvSpPr>
        <p:spPr>
          <a:xfrm>
            <a:off x="3108325" y="2792730"/>
            <a:ext cx="2625117" cy="195326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50" name="Double Arrow 149"/>
          <p:cNvCxnSpPr>
            <a:stCxn id="146" idx="3"/>
          </p:cNvCxnSpPr>
          <p:nvPr/>
        </p:nvCxnSpPr>
        <p:spPr>
          <a:xfrm flipV="1">
            <a:off x="4258308" y="3281680"/>
            <a:ext cx="313692" cy="485775"/>
          </a:xfrm>
          <a:prstGeom prst="straightConnector1">
            <a:avLst/>
          </a:prstGeom>
          <a:ln w="28575" cap="flat" cmpd="sng">
            <a:solidFill>
              <a:schemeClr val="bg1">
                <a:lumMod val="85000"/>
                <a:lumOff val="0"/>
                <a:alpha val="100000"/>
              </a:schemeClr>
            </a:solidFill>
            <a:prstDash val="sysDot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Double Arrow 150"/>
          <p:cNvCxnSpPr>
            <a:stCxn id="146" idx="3"/>
          </p:cNvCxnSpPr>
          <p:nvPr/>
        </p:nvCxnSpPr>
        <p:spPr>
          <a:xfrm>
            <a:off x="4258308" y="3767455"/>
            <a:ext cx="335282" cy="489585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텍스트 상자 152"/>
          <p:cNvSpPr txBox="1">
            <a:spLocks/>
          </p:cNvSpPr>
          <p:nvPr/>
        </p:nvSpPr>
        <p:spPr>
          <a:xfrm>
            <a:off x="5913755" y="1544955"/>
            <a:ext cx="3404235" cy="144716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가게선택</a:t>
            </a:r>
            <a:r>
              <a:rPr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&amp; </a:t>
            </a: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즐겨찾기</a:t>
            </a: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4" name="텍스트 상자 153"/>
          <p:cNvSpPr txBox="1">
            <a:spLocks/>
          </p:cNvSpPr>
          <p:nvPr/>
        </p:nvSpPr>
        <p:spPr>
          <a:xfrm>
            <a:off x="5955665" y="2298065"/>
            <a:ext cx="5576570" cy="4530536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b="1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sz="1400" b="1" dirty="0" err="1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가게선택</a:t>
            </a:r>
            <a:endParaRPr lang="en-US" sz="1400" b="1" dirty="0">
              <a:solidFill>
                <a:schemeClr val="tx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Swift 의 HTTP request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메소드를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사용하여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Web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Server와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HTTP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POST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통신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정보는 </a:t>
            </a:r>
            <a:r>
              <a:rPr lang="en-US" altLang="ko-KR"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json</a:t>
            </a:r>
            <a:r>
              <a: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형태로 받아온다</a:t>
            </a:r>
            <a:r>
              <a:rPr lang="en-US" altLang="ko-KR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서버에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있는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목록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테이블의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Data를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받아서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ore-KR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App에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목록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출력</a:t>
            </a:r>
            <a:endParaRPr lang="en-US" altLang="ko-Kore-KR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특정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선택하면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해당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가게의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참조하여</a:t>
            </a:r>
            <a:endParaRPr lang="en-US" altLang="ko-Kore-KR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메뉴를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출력한다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b="1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 </a:t>
            </a:r>
            <a:r>
              <a:rPr sz="1400" b="1" dirty="0" err="1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즐겨찾기</a:t>
            </a:r>
            <a:endParaRPr lang="en-US" sz="1400" b="1" dirty="0">
              <a:solidFill>
                <a:schemeClr val="tx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특정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가게의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메뉴를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UserDefault에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저장하여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즐겨찾기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메뉴에서</a:t>
            </a:r>
            <a:endParaRPr lang="en-US" altLang="ko-Kore-KR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볼 수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있다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가게까지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들어가지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않고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해당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메뉴를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</a:t>
            </a:r>
            <a:endParaRPr lang="en-US" altLang="ko-Kore-KR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음성주문하여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편리하게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사용할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수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있다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5" name="직사각형 154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56" name="TextBox 155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57" name="그룹 156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158" name="TextBox 157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59" name="TextBox 158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160" name="TextBox 159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161" name="TextBox 160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162" name="TextBox 161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163" name="TextBox 162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4" name="TextBox 163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8" name="Rounded Rectangle 132"/>
          <p:cNvSpPr>
            <a:spLocks/>
          </p:cNvSpPr>
          <p:nvPr/>
        </p:nvSpPr>
        <p:spPr>
          <a:xfrm>
            <a:off x="4571364" y="2987507"/>
            <a:ext cx="1071246" cy="6286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 </a:t>
            </a:r>
            <a:endParaRPr 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4" name="텍스트 상자 151"/>
          <p:cNvSpPr txBox="1">
            <a:spLocks/>
          </p:cNvSpPr>
          <p:nvPr/>
        </p:nvSpPr>
        <p:spPr>
          <a:xfrm>
            <a:off x="-447545" y="1157605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APP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텍스트 상자 151"/>
          <p:cNvSpPr txBox="1">
            <a:spLocks/>
          </p:cNvSpPr>
          <p:nvPr/>
        </p:nvSpPr>
        <p:spPr>
          <a:xfrm>
            <a:off x="2594002" y="2513797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Rectangle 147"/>
          <p:cNvSpPr>
            <a:spLocks/>
          </p:cNvSpPr>
          <p:nvPr/>
        </p:nvSpPr>
        <p:spPr>
          <a:xfrm>
            <a:off x="226695" y="1431925"/>
            <a:ext cx="2635250" cy="4651375"/>
          </a:xfrm>
          <a:prstGeom prst="rect">
            <a:avLst/>
          </a:prstGeom>
          <a:noFill/>
          <a:ln w="12700" cap="flat" cmpd="sng">
            <a:solidFill>
              <a:schemeClr val="bg1">
                <a:lumMod val="8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45" name="Double Arrow 144"/>
          <p:cNvCxnSpPr>
            <a:endCxn id="146" idx="1"/>
          </p:cNvCxnSpPr>
          <p:nvPr/>
        </p:nvCxnSpPr>
        <p:spPr>
          <a:xfrm>
            <a:off x="2693670" y="3147060"/>
            <a:ext cx="579119" cy="620395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180" cy="6520180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070" cy="470535"/>
          </a:xfrm>
          <a:prstGeom prst="rect">
            <a:avLst/>
          </a:prstGeom>
          <a:noFill/>
        </p:spPr>
      </p:pic>
      <p:sp>
        <p:nvSpPr>
          <p:cNvPr id="130" name="Rounded Rectangle 129"/>
          <p:cNvSpPr>
            <a:spLocks/>
          </p:cNvSpPr>
          <p:nvPr/>
        </p:nvSpPr>
        <p:spPr>
          <a:xfrm>
            <a:off x="1150620" y="1588770"/>
            <a:ext cx="781050" cy="541655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1" name="Rounded Rectangle 130"/>
          <p:cNvSpPr>
            <a:spLocks/>
          </p:cNvSpPr>
          <p:nvPr/>
        </p:nvSpPr>
        <p:spPr>
          <a:xfrm>
            <a:off x="370839" y="2597785"/>
            <a:ext cx="796925" cy="5397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즐겨찾기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2" name="Rounded Rectangle 131"/>
          <p:cNvSpPr>
            <a:spLocks/>
          </p:cNvSpPr>
          <p:nvPr/>
        </p:nvSpPr>
        <p:spPr>
          <a:xfrm>
            <a:off x="1889125" y="2602865"/>
            <a:ext cx="796925" cy="5397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가게선택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3" name="Rounded Rectangle 132"/>
          <p:cNvSpPr>
            <a:spLocks/>
          </p:cNvSpPr>
          <p:nvPr/>
        </p:nvSpPr>
        <p:spPr>
          <a:xfrm>
            <a:off x="1128395" y="4352925"/>
            <a:ext cx="814705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장바구니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4" name="Rounded Rectangle 133"/>
          <p:cNvSpPr>
            <a:spLocks/>
          </p:cNvSpPr>
          <p:nvPr/>
        </p:nvSpPr>
        <p:spPr>
          <a:xfrm>
            <a:off x="1588135" y="5412105"/>
            <a:ext cx="90551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NFC로</a:t>
            </a:r>
            <a:endParaRPr 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5" name="Rounded Rectangle 134"/>
          <p:cNvSpPr>
            <a:spLocks/>
          </p:cNvSpPr>
          <p:nvPr/>
        </p:nvSpPr>
        <p:spPr>
          <a:xfrm>
            <a:off x="1132840" y="3511550"/>
            <a:ext cx="814705" cy="5397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36" name="Double Arrow 135"/>
          <p:cNvCxnSpPr/>
          <p:nvPr/>
        </p:nvCxnSpPr>
        <p:spPr>
          <a:xfrm flipH="1">
            <a:off x="789305" y="2155825"/>
            <a:ext cx="751840" cy="37592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Double Arrow 136"/>
          <p:cNvCxnSpPr/>
          <p:nvPr/>
        </p:nvCxnSpPr>
        <p:spPr>
          <a:xfrm>
            <a:off x="1541145" y="2157730"/>
            <a:ext cx="756920" cy="38544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Double Arrow 137"/>
          <p:cNvCxnSpPr/>
          <p:nvPr/>
        </p:nvCxnSpPr>
        <p:spPr>
          <a:xfrm>
            <a:off x="747395" y="3166745"/>
            <a:ext cx="736600" cy="31432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Double Arrow 138"/>
          <p:cNvCxnSpPr/>
          <p:nvPr/>
        </p:nvCxnSpPr>
        <p:spPr>
          <a:xfrm flipH="1">
            <a:off x="1570990" y="3166745"/>
            <a:ext cx="760730" cy="30924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Double Arrow 139"/>
          <p:cNvCxnSpPr/>
          <p:nvPr/>
        </p:nvCxnSpPr>
        <p:spPr>
          <a:xfrm flipH="1">
            <a:off x="1536065" y="4050665"/>
            <a:ext cx="2540" cy="25400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Double Arrow 140"/>
          <p:cNvCxnSpPr/>
          <p:nvPr/>
        </p:nvCxnSpPr>
        <p:spPr>
          <a:xfrm flipH="1">
            <a:off x="1113790" y="4921250"/>
            <a:ext cx="424180" cy="40830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/>
          <p:cNvSpPr>
            <a:spLocks/>
          </p:cNvSpPr>
          <p:nvPr/>
        </p:nvSpPr>
        <p:spPr>
          <a:xfrm>
            <a:off x="657860" y="5414010"/>
            <a:ext cx="83820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</a:t>
            </a:r>
            <a:endParaRPr 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43" name="Double Arrow 142"/>
          <p:cNvCxnSpPr/>
          <p:nvPr/>
        </p:nvCxnSpPr>
        <p:spPr>
          <a:xfrm>
            <a:off x="1532890" y="4919980"/>
            <a:ext cx="461010" cy="41275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>
            <a:spLocks/>
          </p:cNvSpPr>
          <p:nvPr/>
        </p:nvSpPr>
        <p:spPr>
          <a:xfrm>
            <a:off x="3237865" y="2088086"/>
            <a:ext cx="1031240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7" name="Rounded Rectangle 146"/>
          <p:cNvSpPr>
            <a:spLocks/>
          </p:cNvSpPr>
          <p:nvPr/>
        </p:nvSpPr>
        <p:spPr>
          <a:xfrm>
            <a:off x="4558029" y="2577671"/>
            <a:ext cx="1031876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8" name="Rectangle 147"/>
          <p:cNvSpPr>
            <a:spLocks/>
          </p:cNvSpPr>
          <p:nvPr/>
        </p:nvSpPr>
        <p:spPr>
          <a:xfrm>
            <a:off x="3073400" y="1427686"/>
            <a:ext cx="2635250" cy="195326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50" name="Double Arrow 149"/>
          <p:cNvCxnSpPr>
            <a:cxnSpLocks/>
            <a:stCxn id="146" idx="3"/>
            <a:endCxn id="58" idx="1"/>
          </p:cNvCxnSpPr>
          <p:nvPr/>
        </p:nvCxnSpPr>
        <p:spPr>
          <a:xfrm flipV="1">
            <a:off x="4269105" y="1949268"/>
            <a:ext cx="288924" cy="453143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Double Arrow 150"/>
          <p:cNvCxnSpPr>
            <a:stCxn id="146" idx="3"/>
          </p:cNvCxnSpPr>
          <p:nvPr/>
        </p:nvCxnSpPr>
        <p:spPr>
          <a:xfrm>
            <a:off x="4269105" y="2402411"/>
            <a:ext cx="289560" cy="489585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텍스트 상자 152"/>
          <p:cNvSpPr txBox="1">
            <a:spLocks/>
          </p:cNvSpPr>
          <p:nvPr/>
        </p:nvSpPr>
        <p:spPr>
          <a:xfrm>
            <a:off x="6457315" y="2000250"/>
            <a:ext cx="3404235" cy="144716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음성주문</a:t>
            </a:r>
            <a:r>
              <a:rPr lang="en-US"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en-US"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기본 동작 흐름</a:t>
            </a:r>
            <a:r>
              <a:rPr lang="en-US" altLang="ko-KR"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4" name="텍스트 상자 153"/>
          <p:cNvSpPr txBox="1">
            <a:spLocks/>
          </p:cNvSpPr>
          <p:nvPr/>
        </p:nvSpPr>
        <p:spPr>
          <a:xfrm>
            <a:off x="6445885" y="2553970"/>
            <a:ext cx="5576570" cy="4778296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Swift 의 HTTP request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메소드를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사용하여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Web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Server와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ore-KR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HTTP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POST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통신</a:t>
            </a:r>
            <a:r>
              <a: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하여 </a:t>
            </a:r>
            <a:r>
              <a:rPr lang="en-US" altLang="ko-KR"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ChatBot</a:t>
            </a:r>
            <a:r>
              <a:rPr lang="en-US" altLang="ko-KR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및 </a:t>
            </a:r>
            <a:r>
              <a:rPr lang="en-US" altLang="ko-KR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r>
              <a: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주고 받는다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>
              <a:lnSpc>
                <a:spcPct val="114999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모든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Data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는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json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형태로 받아온다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기존의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Siri나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Bixby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같은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음성비서들과</a:t>
            </a:r>
            <a:endParaRPr lang="en-US" altLang="ko-Kore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chemeClr val="accent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유사한</a:t>
            </a:r>
            <a:r>
              <a:rPr sz="1400" b="1" dirty="0">
                <a:solidFill>
                  <a:schemeClr val="accent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1400" b="1" dirty="0" err="1">
                <a:solidFill>
                  <a:schemeClr val="accent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사용경험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1400" b="1" dirty="0">
                <a:solidFill>
                  <a:schemeClr val="accent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(UX)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을</a:t>
            </a:r>
            <a:r>
              <a: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누릴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수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있어야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한다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따라서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ChatBot의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응답을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TTS로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읽어주고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TTS가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정확히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끝나는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시점부터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STT를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시작한다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그리고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사용자가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발화를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시작한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시점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이후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1.5~2초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동안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아무런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소리가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인식되지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않으면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STT를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중단한다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작업을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완료될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때까지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계속해서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반복한다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63" name="Line 162"/>
          <p:cNvCxnSpPr/>
          <p:nvPr/>
        </p:nvCxnSpPr>
        <p:spPr>
          <a:xfrm>
            <a:off x="1939290" y="3557270"/>
            <a:ext cx="1139825" cy="317500"/>
          </a:xfrm>
          <a:prstGeom prst="line">
            <a:avLst/>
          </a:prstGeom>
          <a:ln w="19050" cap="flat" cmpd="sng">
            <a:solidFill>
              <a:schemeClr val="bg1">
                <a:lumMod val="75000"/>
                <a:lumOff val="0"/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Line 163"/>
          <p:cNvCxnSpPr/>
          <p:nvPr/>
        </p:nvCxnSpPr>
        <p:spPr>
          <a:xfrm>
            <a:off x="1918335" y="4015740"/>
            <a:ext cx="1151890" cy="2306955"/>
          </a:xfrm>
          <a:prstGeom prst="line">
            <a:avLst/>
          </a:prstGeom>
          <a:ln w="19050" cap="flat" cmpd="sng">
            <a:solidFill>
              <a:schemeClr val="bg1">
                <a:lumMod val="75000"/>
                <a:lumOff val="0"/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56"/>
          <p:cNvSpPr>
            <a:spLocks/>
          </p:cNvSpPr>
          <p:nvPr/>
        </p:nvSpPr>
        <p:spPr>
          <a:xfrm>
            <a:off x="3079115" y="3870960"/>
            <a:ext cx="3129280" cy="2471420"/>
          </a:xfrm>
          <a:prstGeom prst="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6" name="Rounded Rectangle 155"/>
          <p:cNvSpPr>
            <a:spLocks/>
          </p:cNvSpPr>
          <p:nvPr/>
        </p:nvSpPr>
        <p:spPr>
          <a:xfrm>
            <a:off x="5241290" y="5120005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8" name="Rounded Rectangle 157"/>
          <p:cNvSpPr>
            <a:spLocks/>
          </p:cNvSpPr>
          <p:nvPr/>
        </p:nvSpPr>
        <p:spPr>
          <a:xfrm>
            <a:off x="4331970" y="5120005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TTS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9" name="Rounded Rectangle 158"/>
          <p:cNvSpPr>
            <a:spLocks/>
          </p:cNvSpPr>
          <p:nvPr/>
        </p:nvSpPr>
        <p:spPr>
          <a:xfrm>
            <a:off x="4269105" y="4211955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유사도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측정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0" name="Rounded Rectangle 159"/>
          <p:cNvSpPr>
            <a:spLocks/>
          </p:cNvSpPr>
          <p:nvPr/>
        </p:nvSpPr>
        <p:spPr>
          <a:xfrm>
            <a:off x="3429000" y="5118735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</a:t>
            </a:r>
            <a:endParaRPr 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1" name="Rounded Rectangle 160"/>
          <p:cNvSpPr>
            <a:spLocks/>
          </p:cNvSpPr>
          <p:nvPr/>
        </p:nvSpPr>
        <p:spPr>
          <a:xfrm>
            <a:off x="3366135" y="4210685"/>
            <a:ext cx="784225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HTTP 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통신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2" name="Rectangle 161"/>
          <p:cNvSpPr>
            <a:spLocks/>
          </p:cNvSpPr>
          <p:nvPr/>
        </p:nvSpPr>
        <p:spPr>
          <a:xfrm>
            <a:off x="3281045" y="4946650"/>
            <a:ext cx="2781935" cy="909955"/>
          </a:xfrm>
          <a:prstGeom prst="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65" name="Arrow 164"/>
          <p:cNvCxnSpPr/>
          <p:nvPr/>
        </p:nvCxnSpPr>
        <p:spPr>
          <a:xfrm>
            <a:off x="4086225" y="5349240"/>
            <a:ext cx="238760" cy="63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Arrow 165"/>
          <p:cNvCxnSpPr/>
          <p:nvPr/>
        </p:nvCxnSpPr>
        <p:spPr>
          <a:xfrm>
            <a:off x="4996180" y="5351780"/>
            <a:ext cx="238760" cy="63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Line 166"/>
          <p:cNvCxnSpPr/>
          <p:nvPr/>
        </p:nvCxnSpPr>
        <p:spPr>
          <a:xfrm>
            <a:off x="5572125" y="5591810"/>
            <a:ext cx="635" cy="118110"/>
          </a:xfrm>
          <a:prstGeom prst="line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Elbow Arrow Connector 167"/>
          <p:cNvSpPr>
            <a:spLocks/>
          </p:cNvSpPr>
          <p:nvPr/>
        </p:nvSpPr>
        <p:spPr>
          <a:xfrm rot="10800000">
            <a:off x="3749040" y="5581650"/>
            <a:ext cx="1823085" cy="132080"/>
          </a:xfrm>
          <a:prstGeom prst="bentConnector2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9" name="텍스트 상자 168"/>
          <p:cNvSpPr txBox="1">
            <a:spLocks/>
          </p:cNvSpPr>
          <p:nvPr/>
        </p:nvSpPr>
        <p:spPr>
          <a:xfrm>
            <a:off x="3004185" y="3558858"/>
            <a:ext cx="3404235" cy="33972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70" name="Double Arrow 169"/>
          <p:cNvCxnSpPr/>
          <p:nvPr/>
        </p:nvCxnSpPr>
        <p:spPr>
          <a:xfrm>
            <a:off x="3776980" y="4665345"/>
            <a:ext cx="635" cy="293370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Double Arrow 170"/>
          <p:cNvCxnSpPr/>
          <p:nvPr/>
        </p:nvCxnSpPr>
        <p:spPr>
          <a:xfrm>
            <a:off x="4597400" y="4662805"/>
            <a:ext cx="635" cy="293370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직사각형 171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73" name="TextBox 172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175" name="TextBox 174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76" name="TextBox 175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177" name="TextBox 176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178" name="TextBox 177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179" name="TextBox 178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180" name="TextBox 179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1" name="TextBox 180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8" name="Rounded Rectangle 132"/>
          <p:cNvSpPr>
            <a:spLocks/>
          </p:cNvSpPr>
          <p:nvPr/>
        </p:nvSpPr>
        <p:spPr>
          <a:xfrm>
            <a:off x="4558029" y="1634943"/>
            <a:ext cx="1049656" cy="62865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 </a:t>
            </a:r>
            <a:endParaRPr 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0" name="텍스트 상자 151"/>
          <p:cNvSpPr txBox="1">
            <a:spLocks/>
          </p:cNvSpPr>
          <p:nvPr/>
        </p:nvSpPr>
        <p:spPr>
          <a:xfrm>
            <a:off x="-447545" y="1148080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APP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1" name="텍스트 상자 151"/>
          <p:cNvSpPr txBox="1">
            <a:spLocks/>
          </p:cNvSpPr>
          <p:nvPr/>
        </p:nvSpPr>
        <p:spPr>
          <a:xfrm>
            <a:off x="2583180" y="1142365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3" name="Rectangle 147"/>
          <p:cNvSpPr>
            <a:spLocks/>
          </p:cNvSpPr>
          <p:nvPr/>
        </p:nvSpPr>
        <p:spPr>
          <a:xfrm>
            <a:off x="226695" y="1431925"/>
            <a:ext cx="2635250" cy="4651375"/>
          </a:xfrm>
          <a:prstGeom prst="rect">
            <a:avLst/>
          </a:prstGeom>
          <a:noFill/>
          <a:ln w="12700" cap="flat" cmpd="sng">
            <a:solidFill>
              <a:schemeClr val="bg1">
                <a:lumMod val="8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45" name="Double Arrow 144"/>
          <p:cNvCxnSpPr>
            <a:cxnSpLocks/>
            <a:stCxn id="135" idx="3"/>
            <a:endCxn id="146" idx="1"/>
          </p:cNvCxnSpPr>
          <p:nvPr/>
        </p:nvCxnSpPr>
        <p:spPr>
          <a:xfrm flipV="1">
            <a:off x="1947545" y="2402411"/>
            <a:ext cx="1290320" cy="1379014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180" cy="6520180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070" cy="470535"/>
          </a:xfrm>
          <a:prstGeom prst="rect">
            <a:avLst/>
          </a:prstGeom>
          <a:noFill/>
        </p:spPr>
      </p:pic>
      <p:sp>
        <p:nvSpPr>
          <p:cNvPr id="153" name="텍스트 상자 152"/>
          <p:cNvSpPr txBox="1">
            <a:spLocks/>
          </p:cNvSpPr>
          <p:nvPr/>
        </p:nvSpPr>
        <p:spPr>
          <a:xfrm>
            <a:off x="6276340" y="1003728"/>
            <a:ext cx="4624672" cy="1447832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음성주문</a:t>
            </a:r>
            <a:r>
              <a:rPr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en-US"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기본 동작 흐름 </a:t>
            </a:r>
            <a:r>
              <a:rPr lang="en-US" altLang="ko-KR"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</a:t>
            </a: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코드</a:t>
            </a:r>
            <a:r>
              <a:rPr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4" name="텍스트 상자 153"/>
          <p:cNvSpPr txBox="1">
            <a:spLocks/>
          </p:cNvSpPr>
          <p:nvPr/>
        </p:nvSpPr>
        <p:spPr>
          <a:xfrm>
            <a:off x="6356350" y="2979871"/>
            <a:ext cx="5577205" cy="4491871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TTS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&amp; 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STT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타이밍을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조절하기</a:t>
            </a:r>
            <a:r>
              <a:rPr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위해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3가지를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감시하는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b="1" dirty="0" err="1">
                <a:solidFill>
                  <a:schemeClr val="accent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쓰레드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사용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된다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ore-KR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첫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번째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App이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Web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Server를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ChatBot의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응답을</a:t>
            </a:r>
            <a:endParaRPr lang="en-US" altLang="ko-Kore-KR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받을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때까지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STT가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대기하게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한다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endParaRPr 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두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번째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TTS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진행되는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동안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STT가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대기하게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한다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세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번째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App이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Web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Server를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DB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Server로부터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유사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단어를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전달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받을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때까지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STT가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대기하게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한다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STT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진행중인 동안에는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쓰레드가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감시를 할 필요가 없기 때문에 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Semaphore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이용하여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STT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끝날 때까지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쓰레드를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대기시켜서 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쓸모 없는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CPU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사용을 줄인다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72" name="그림 171" descr="/Users/a1111/Library/Group Containers/L48J367XN4.com.infraware.PolarisOffice/EngineTemp/29484/fImage1540497872510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105" b="18010"/>
          <a:stretch/>
        </p:blipFill>
        <p:spPr>
          <a:xfrm>
            <a:off x="6370955" y="1428638"/>
            <a:ext cx="5517515" cy="1428750"/>
          </a:xfrm>
          <a:prstGeom prst="rect">
            <a:avLst/>
          </a:prstGeom>
          <a:noFill/>
        </p:spPr>
      </p:pic>
      <p:sp>
        <p:nvSpPr>
          <p:cNvPr id="173" name="직사각형 172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74" name="TextBox 173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75" name="그룹 174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176" name="TextBox 175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77" name="TextBox 176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178" name="TextBox 177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179" name="TextBox 178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180" name="TextBox 179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181" name="TextBox 180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2" name="TextBox 181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69" name="Rounded Rectangle 129"/>
          <p:cNvSpPr>
            <a:spLocks/>
          </p:cNvSpPr>
          <p:nvPr/>
        </p:nvSpPr>
        <p:spPr>
          <a:xfrm>
            <a:off x="1150620" y="1588770"/>
            <a:ext cx="781050" cy="541655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0" name="Rounded Rectangle 130"/>
          <p:cNvSpPr>
            <a:spLocks/>
          </p:cNvSpPr>
          <p:nvPr/>
        </p:nvSpPr>
        <p:spPr>
          <a:xfrm>
            <a:off x="370840" y="2597785"/>
            <a:ext cx="838200" cy="5397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즐겨찾기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1" name="Rounded Rectangle 131"/>
          <p:cNvSpPr>
            <a:spLocks/>
          </p:cNvSpPr>
          <p:nvPr/>
        </p:nvSpPr>
        <p:spPr>
          <a:xfrm>
            <a:off x="1847850" y="2602865"/>
            <a:ext cx="838200" cy="5397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가게선택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2" name="Rounded Rectangle 132"/>
          <p:cNvSpPr>
            <a:spLocks/>
          </p:cNvSpPr>
          <p:nvPr/>
        </p:nvSpPr>
        <p:spPr>
          <a:xfrm>
            <a:off x="1118870" y="4352925"/>
            <a:ext cx="84328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장바구니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3" name="Rounded Rectangle 133"/>
          <p:cNvSpPr>
            <a:spLocks/>
          </p:cNvSpPr>
          <p:nvPr/>
        </p:nvSpPr>
        <p:spPr>
          <a:xfrm>
            <a:off x="1588135" y="5412105"/>
            <a:ext cx="90551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NFC로</a:t>
            </a:r>
            <a:endParaRPr 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4" name="Rounded Rectangle 134"/>
          <p:cNvSpPr>
            <a:spLocks/>
          </p:cNvSpPr>
          <p:nvPr/>
        </p:nvSpPr>
        <p:spPr>
          <a:xfrm>
            <a:off x="1132840" y="3511550"/>
            <a:ext cx="814705" cy="5397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75" name="Double Arrow 135"/>
          <p:cNvCxnSpPr/>
          <p:nvPr/>
        </p:nvCxnSpPr>
        <p:spPr>
          <a:xfrm flipH="1">
            <a:off x="789305" y="2155825"/>
            <a:ext cx="751840" cy="37592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Double Arrow 136"/>
          <p:cNvCxnSpPr/>
          <p:nvPr/>
        </p:nvCxnSpPr>
        <p:spPr>
          <a:xfrm>
            <a:off x="1541145" y="2157730"/>
            <a:ext cx="756920" cy="38544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Double Arrow 137"/>
          <p:cNvCxnSpPr/>
          <p:nvPr/>
        </p:nvCxnSpPr>
        <p:spPr>
          <a:xfrm>
            <a:off x="747395" y="3166745"/>
            <a:ext cx="736600" cy="31432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Double Arrow 138"/>
          <p:cNvCxnSpPr/>
          <p:nvPr/>
        </p:nvCxnSpPr>
        <p:spPr>
          <a:xfrm flipH="1">
            <a:off x="1570990" y="3166745"/>
            <a:ext cx="760730" cy="30924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Double Arrow 139"/>
          <p:cNvCxnSpPr/>
          <p:nvPr/>
        </p:nvCxnSpPr>
        <p:spPr>
          <a:xfrm flipH="1">
            <a:off x="1536065" y="4050665"/>
            <a:ext cx="2540" cy="25400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Double Arrow 140"/>
          <p:cNvCxnSpPr/>
          <p:nvPr/>
        </p:nvCxnSpPr>
        <p:spPr>
          <a:xfrm flipH="1">
            <a:off x="1113790" y="4921250"/>
            <a:ext cx="424180" cy="40830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141"/>
          <p:cNvSpPr>
            <a:spLocks/>
          </p:cNvSpPr>
          <p:nvPr/>
        </p:nvSpPr>
        <p:spPr>
          <a:xfrm>
            <a:off x="657860" y="5414010"/>
            <a:ext cx="838200" cy="53975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</a:t>
            </a:r>
            <a:endParaRPr 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2" name="Double Arrow 142"/>
          <p:cNvCxnSpPr/>
          <p:nvPr/>
        </p:nvCxnSpPr>
        <p:spPr>
          <a:xfrm>
            <a:off x="1532890" y="4919980"/>
            <a:ext cx="461010" cy="41275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145"/>
          <p:cNvSpPr>
            <a:spLocks/>
          </p:cNvSpPr>
          <p:nvPr/>
        </p:nvSpPr>
        <p:spPr>
          <a:xfrm>
            <a:off x="3237865" y="2088086"/>
            <a:ext cx="1031240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5" name="Rounded Rectangle 146"/>
          <p:cNvSpPr>
            <a:spLocks/>
          </p:cNvSpPr>
          <p:nvPr/>
        </p:nvSpPr>
        <p:spPr>
          <a:xfrm>
            <a:off x="4558029" y="2577671"/>
            <a:ext cx="1049656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6" name="Rectangle 147"/>
          <p:cNvSpPr>
            <a:spLocks/>
          </p:cNvSpPr>
          <p:nvPr/>
        </p:nvSpPr>
        <p:spPr>
          <a:xfrm>
            <a:off x="3073400" y="1427686"/>
            <a:ext cx="2635250" cy="195326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7" name="Double Arrow 149"/>
          <p:cNvCxnSpPr>
            <a:cxnSpLocks/>
            <a:stCxn id="84" idx="3"/>
            <a:endCxn id="106" idx="1"/>
          </p:cNvCxnSpPr>
          <p:nvPr/>
        </p:nvCxnSpPr>
        <p:spPr>
          <a:xfrm flipV="1">
            <a:off x="4269105" y="1949268"/>
            <a:ext cx="288924" cy="453143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Double Arrow 150"/>
          <p:cNvCxnSpPr>
            <a:stCxn id="84" idx="3"/>
          </p:cNvCxnSpPr>
          <p:nvPr/>
        </p:nvCxnSpPr>
        <p:spPr>
          <a:xfrm>
            <a:off x="4269105" y="2402411"/>
            <a:ext cx="289560" cy="489585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Line 162"/>
          <p:cNvCxnSpPr/>
          <p:nvPr/>
        </p:nvCxnSpPr>
        <p:spPr>
          <a:xfrm>
            <a:off x="1939290" y="3557270"/>
            <a:ext cx="1139825" cy="317500"/>
          </a:xfrm>
          <a:prstGeom prst="line">
            <a:avLst/>
          </a:prstGeom>
          <a:ln w="19050" cap="flat" cmpd="sng">
            <a:solidFill>
              <a:schemeClr val="bg1">
                <a:lumMod val="75000"/>
                <a:lumOff val="0"/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Line 163"/>
          <p:cNvCxnSpPr/>
          <p:nvPr/>
        </p:nvCxnSpPr>
        <p:spPr>
          <a:xfrm>
            <a:off x="1918335" y="4015740"/>
            <a:ext cx="1151890" cy="2306955"/>
          </a:xfrm>
          <a:prstGeom prst="line">
            <a:avLst/>
          </a:prstGeom>
          <a:ln w="19050" cap="flat" cmpd="sng">
            <a:solidFill>
              <a:schemeClr val="bg1">
                <a:lumMod val="75000"/>
                <a:lumOff val="0"/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156"/>
          <p:cNvSpPr>
            <a:spLocks/>
          </p:cNvSpPr>
          <p:nvPr/>
        </p:nvSpPr>
        <p:spPr>
          <a:xfrm>
            <a:off x="3079115" y="3870960"/>
            <a:ext cx="3129280" cy="2471420"/>
          </a:xfrm>
          <a:prstGeom prst="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2" name="Rounded Rectangle 155"/>
          <p:cNvSpPr>
            <a:spLocks/>
          </p:cNvSpPr>
          <p:nvPr/>
        </p:nvSpPr>
        <p:spPr>
          <a:xfrm>
            <a:off x="5241290" y="5120005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3" name="Rounded Rectangle 157"/>
          <p:cNvSpPr>
            <a:spLocks/>
          </p:cNvSpPr>
          <p:nvPr/>
        </p:nvSpPr>
        <p:spPr>
          <a:xfrm>
            <a:off x="4331970" y="5120005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TTS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4" name="Rounded Rectangle 158"/>
          <p:cNvSpPr>
            <a:spLocks/>
          </p:cNvSpPr>
          <p:nvPr/>
        </p:nvSpPr>
        <p:spPr>
          <a:xfrm>
            <a:off x="4269105" y="4211955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유사도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측정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5" name="Rounded Rectangle 159"/>
          <p:cNvSpPr>
            <a:spLocks/>
          </p:cNvSpPr>
          <p:nvPr/>
        </p:nvSpPr>
        <p:spPr>
          <a:xfrm>
            <a:off x="3429000" y="5118735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</a:t>
            </a:r>
            <a:endParaRPr 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6" name="Rounded Rectangle 160"/>
          <p:cNvSpPr>
            <a:spLocks/>
          </p:cNvSpPr>
          <p:nvPr/>
        </p:nvSpPr>
        <p:spPr>
          <a:xfrm>
            <a:off x="3366135" y="4210685"/>
            <a:ext cx="784225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HTTP 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통신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7" name="Rectangle 161"/>
          <p:cNvSpPr>
            <a:spLocks/>
          </p:cNvSpPr>
          <p:nvPr/>
        </p:nvSpPr>
        <p:spPr>
          <a:xfrm>
            <a:off x="3281045" y="4946650"/>
            <a:ext cx="2781935" cy="909955"/>
          </a:xfrm>
          <a:prstGeom prst="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98" name="Arrow 164"/>
          <p:cNvCxnSpPr/>
          <p:nvPr/>
        </p:nvCxnSpPr>
        <p:spPr>
          <a:xfrm>
            <a:off x="4086225" y="5349240"/>
            <a:ext cx="238760" cy="63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Arrow 165"/>
          <p:cNvCxnSpPr/>
          <p:nvPr/>
        </p:nvCxnSpPr>
        <p:spPr>
          <a:xfrm>
            <a:off x="4996180" y="5351780"/>
            <a:ext cx="238760" cy="63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Line 166"/>
          <p:cNvCxnSpPr/>
          <p:nvPr/>
        </p:nvCxnSpPr>
        <p:spPr>
          <a:xfrm>
            <a:off x="5572125" y="5591810"/>
            <a:ext cx="635" cy="118110"/>
          </a:xfrm>
          <a:prstGeom prst="line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lbow Arrow Connector 167"/>
          <p:cNvSpPr>
            <a:spLocks/>
          </p:cNvSpPr>
          <p:nvPr/>
        </p:nvSpPr>
        <p:spPr>
          <a:xfrm rot="10800000">
            <a:off x="3749040" y="5581650"/>
            <a:ext cx="1823085" cy="132080"/>
          </a:xfrm>
          <a:prstGeom prst="bentConnector2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2" name="텍스트 상자 168"/>
          <p:cNvSpPr txBox="1">
            <a:spLocks/>
          </p:cNvSpPr>
          <p:nvPr/>
        </p:nvSpPr>
        <p:spPr>
          <a:xfrm>
            <a:off x="3004185" y="3558858"/>
            <a:ext cx="3404235" cy="33972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03" name="Double Arrow 169"/>
          <p:cNvCxnSpPr/>
          <p:nvPr/>
        </p:nvCxnSpPr>
        <p:spPr>
          <a:xfrm>
            <a:off x="3776980" y="4665345"/>
            <a:ext cx="635" cy="293370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Double Arrow 170"/>
          <p:cNvCxnSpPr/>
          <p:nvPr/>
        </p:nvCxnSpPr>
        <p:spPr>
          <a:xfrm>
            <a:off x="4597400" y="4662805"/>
            <a:ext cx="635" cy="293370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32"/>
          <p:cNvSpPr>
            <a:spLocks/>
          </p:cNvSpPr>
          <p:nvPr/>
        </p:nvSpPr>
        <p:spPr>
          <a:xfrm>
            <a:off x="4558029" y="1634943"/>
            <a:ext cx="1049656" cy="62865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 </a:t>
            </a:r>
            <a:endParaRPr 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7" name="텍스트 상자 151"/>
          <p:cNvSpPr txBox="1">
            <a:spLocks/>
          </p:cNvSpPr>
          <p:nvPr/>
        </p:nvSpPr>
        <p:spPr>
          <a:xfrm>
            <a:off x="2583180" y="1142365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8" name="텍스트 상자 151"/>
          <p:cNvSpPr txBox="1">
            <a:spLocks/>
          </p:cNvSpPr>
          <p:nvPr/>
        </p:nvSpPr>
        <p:spPr>
          <a:xfrm>
            <a:off x="-447545" y="1148080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APP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0" name="Rectangle 147"/>
          <p:cNvSpPr>
            <a:spLocks/>
          </p:cNvSpPr>
          <p:nvPr/>
        </p:nvSpPr>
        <p:spPr>
          <a:xfrm>
            <a:off x="226695" y="1431925"/>
            <a:ext cx="2635250" cy="4651375"/>
          </a:xfrm>
          <a:prstGeom prst="rect">
            <a:avLst/>
          </a:prstGeom>
          <a:noFill/>
          <a:ln w="12700" cap="flat" cmpd="sng">
            <a:solidFill>
              <a:schemeClr val="bg1">
                <a:lumMod val="8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05" name="Double Arrow 144"/>
          <p:cNvCxnSpPr>
            <a:cxnSpLocks/>
            <a:stCxn id="74" idx="3"/>
            <a:endCxn id="84" idx="1"/>
          </p:cNvCxnSpPr>
          <p:nvPr/>
        </p:nvCxnSpPr>
        <p:spPr>
          <a:xfrm flipV="1">
            <a:off x="1947545" y="2402411"/>
            <a:ext cx="1290320" cy="1379014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815" cy="6520815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 descr="/Users/a1111/Library/Group Containers/L48J367XN4.com.infraware.PolarisOffice/EngineTemp/29484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705" cy="471169"/>
          </a:xfrm>
          <a:prstGeom prst="rect">
            <a:avLst/>
          </a:prstGeom>
          <a:noFill/>
        </p:spPr>
      </p:pic>
      <p:sp>
        <p:nvSpPr>
          <p:cNvPr id="153" name="텍스트 상자 152"/>
          <p:cNvSpPr txBox="1">
            <a:spLocks/>
          </p:cNvSpPr>
          <p:nvPr/>
        </p:nvSpPr>
        <p:spPr>
          <a:xfrm>
            <a:off x="3663311" y="1443244"/>
            <a:ext cx="3404870" cy="43217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음성주문</a:t>
            </a:r>
            <a:r>
              <a:rPr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유사도</a:t>
            </a:r>
            <a:r>
              <a:rPr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측정</a:t>
            </a:r>
            <a:r>
              <a:rPr sz="2200" b="1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4" name="텍스트 상자 153"/>
          <p:cNvSpPr txBox="1">
            <a:spLocks/>
          </p:cNvSpPr>
          <p:nvPr/>
        </p:nvSpPr>
        <p:spPr>
          <a:xfrm>
            <a:off x="3629023" y="2053376"/>
            <a:ext cx="8184517" cy="5059142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STT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엔진의 인식률이 높은 편이기는 하나 사용자의 발음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주위 소음에 따라 다르게 인식되는 경우가 많음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하지만 다르게 인식되는 경우에도 의도한 단어와 상당히 유사한 발음의 단어로 표기되는 경우가 많다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Ex)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모카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오카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미디엄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미디언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따라서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STT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엔진이 변환한 단어를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ChatBot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이해하지 못하는 경우 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단어를 음소 단위로 나누어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N-gram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알고리즘을 이용하여 </a:t>
            </a:r>
            <a:r>
              <a:rPr lang="ko-KR" altLang="en-US" sz="1400" b="1" dirty="0" err="1">
                <a:solidFill>
                  <a:schemeClr val="accent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유사도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분석하고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ChatBot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이해할 수 있는 최적의 단어를 추천한다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 = 1 :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단어를 구성하는 각 음소들의 순서를 고려하지 않아 다른 단어를 잘 못 추천해줄 확률 높음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 = 3 :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상대적으로 순서에 집중해서 다른 단어를 잘 못 추천해줄 확률 높음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N = 2 :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각각의 음소와 그 순서까지 적당하게 고려해줄 수 있는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 = 2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선택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(Bi-gram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>
              <a:lnSpc>
                <a:spcPct val="125000"/>
              </a:lnSpc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●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전처리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ChatBot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Entity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등록된 모든 단어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(=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가게 메뉴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음소 단위로 분해하여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테이블에 적재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Ex)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스무디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^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ㅅ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ㅅㅡ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ㅡㅁ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ㅁㅜ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ㅜㄷ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ㄷㅣ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ㅣ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$</a:t>
            </a:r>
          </a:p>
          <a:p>
            <a:pPr>
              <a:lnSpc>
                <a:spcPct val="125000"/>
              </a:lnSpc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5000"/>
              </a:lnSpc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2" name="직사각형 171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73" name="TextBox 172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175" name="TextBox 174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및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76" name="TextBox 175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177" name="TextBox 176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178" name="TextBox 177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179" name="TextBox 178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180" name="TextBox 179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1" name="TextBox 180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6" name="Rounded Rectangle 145"/>
          <p:cNvSpPr>
            <a:spLocks/>
          </p:cNvSpPr>
          <p:nvPr/>
        </p:nvSpPr>
        <p:spPr>
          <a:xfrm>
            <a:off x="540066" y="2064592"/>
            <a:ext cx="1031240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7" name="Rounded Rectangle 146"/>
          <p:cNvSpPr>
            <a:spLocks/>
          </p:cNvSpPr>
          <p:nvPr/>
        </p:nvSpPr>
        <p:spPr>
          <a:xfrm>
            <a:off x="1860230" y="2554177"/>
            <a:ext cx="954405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8" name="Rectangle 147"/>
          <p:cNvSpPr>
            <a:spLocks/>
          </p:cNvSpPr>
          <p:nvPr/>
        </p:nvSpPr>
        <p:spPr>
          <a:xfrm>
            <a:off x="375601" y="1404192"/>
            <a:ext cx="2534285" cy="195326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79" name="Double Arrow 149"/>
          <p:cNvCxnSpPr>
            <a:stCxn id="76" idx="3"/>
            <a:endCxn id="98" idx="1"/>
          </p:cNvCxnSpPr>
          <p:nvPr/>
        </p:nvCxnSpPr>
        <p:spPr>
          <a:xfrm flipV="1">
            <a:off x="1571306" y="1925774"/>
            <a:ext cx="288924" cy="453143"/>
          </a:xfrm>
          <a:prstGeom prst="straightConnector1">
            <a:avLst/>
          </a:prstGeom>
          <a:ln w="28575" cap="flat" cmpd="sng">
            <a:solidFill>
              <a:schemeClr val="bg1">
                <a:lumMod val="85000"/>
              </a:schemeClr>
            </a:solidFill>
            <a:prstDash val="sysDot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Double Arrow 150"/>
          <p:cNvCxnSpPr>
            <a:stCxn id="76" idx="3"/>
          </p:cNvCxnSpPr>
          <p:nvPr/>
        </p:nvCxnSpPr>
        <p:spPr>
          <a:xfrm>
            <a:off x="1571306" y="2378917"/>
            <a:ext cx="289560" cy="489585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156"/>
          <p:cNvSpPr>
            <a:spLocks/>
          </p:cNvSpPr>
          <p:nvPr/>
        </p:nvSpPr>
        <p:spPr>
          <a:xfrm>
            <a:off x="376235" y="3740991"/>
            <a:ext cx="3129280" cy="2471420"/>
          </a:xfrm>
          <a:prstGeom prst="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4" name="Rounded Rectangle 155"/>
          <p:cNvSpPr>
            <a:spLocks/>
          </p:cNvSpPr>
          <p:nvPr/>
        </p:nvSpPr>
        <p:spPr>
          <a:xfrm>
            <a:off x="2538410" y="4990036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5" name="Rounded Rectangle 157"/>
          <p:cNvSpPr>
            <a:spLocks/>
          </p:cNvSpPr>
          <p:nvPr/>
        </p:nvSpPr>
        <p:spPr>
          <a:xfrm>
            <a:off x="1629090" y="4990036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TTS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6" name="Rounded Rectangle 158"/>
          <p:cNvSpPr>
            <a:spLocks/>
          </p:cNvSpPr>
          <p:nvPr/>
        </p:nvSpPr>
        <p:spPr>
          <a:xfrm>
            <a:off x="1566225" y="4081986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b="1" dirty="0" err="1">
                <a:solidFill>
                  <a:schemeClr val="accent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유사도</a:t>
            </a:r>
            <a:endParaRPr lang="ko-KR" altLang="en-US" sz="1100" b="1" dirty="0">
              <a:solidFill>
                <a:schemeClr val="accent2">
                  <a:lumMod val="7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b="1" dirty="0" err="1">
                <a:solidFill>
                  <a:schemeClr val="accent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측정</a:t>
            </a:r>
            <a:endParaRPr lang="ko-KR" altLang="en-US" sz="1100" b="1" dirty="0">
              <a:solidFill>
                <a:schemeClr val="accent2">
                  <a:lumMod val="7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7" name="Rounded Rectangle 159"/>
          <p:cNvSpPr>
            <a:spLocks/>
          </p:cNvSpPr>
          <p:nvPr/>
        </p:nvSpPr>
        <p:spPr>
          <a:xfrm>
            <a:off x="726120" y="4988766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Bot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8" name="Rounded Rectangle 160"/>
          <p:cNvSpPr>
            <a:spLocks/>
          </p:cNvSpPr>
          <p:nvPr/>
        </p:nvSpPr>
        <p:spPr>
          <a:xfrm>
            <a:off x="663255" y="4080716"/>
            <a:ext cx="784225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HTTP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통신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9" name="Rectangle 161"/>
          <p:cNvSpPr>
            <a:spLocks/>
          </p:cNvSpPr>
          <p:nvPr/>
        </p:nvSpPr>
        <p:spPr>
          <a:xfrm>
            <a:off x="578165" y="4816681"/>
            <a:ext cx="2781935" cy="909955"/>
          </a:xfrm>
          <a:prstGeom prst="rect">
            <a:avLst/>
          </a:prstGeom>
          <a:noFill/>
          <a:ln w="12700" cap="flat" cmpd="sng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90" name="Arrow 164"/>
          <p:cNvCxnSpPr/>
          <p:nvPr/>
        </p:nvCxnSpPr>
        <p:spPr>
          <a:xfrm>
            <a:off x="1383345" y="5219271"/>
            <a:ext cx="238760" cy="635"/>
          </a:xfrm>
          <a:prstGeom prst="straightConnector1">
            <a:avLst/>
          </a:prstGeom>
          <a:ln w="6350" cap="flat" cmpd="sng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Arrow 165"/>
          <p:cNvCxnSpPr/>
          <p:nvPr/>
        </p:nvCxnSpPr>
        <p:spPr>
          <a:xfrm>
            <a:off x="2293300" y="5221811"/>
            <a:ext cx="238760" cy="635"/>
          </a:xfrm>
          <a:prstGeom prst="straightConnector1">
            <a:avLst/>
          </a:prstGeom>
          <a:ln w="6350" cap="flat" cmpd="sng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Line 166"/>
          <p:cNvCxnSpPr/>
          <p:nvPr/>
        </p:nvCxnSpPr>
        <p:spPr>
          <a:xfrm>
            <a:off x="2869245" y="5461841"/>
            <a:ext cx="635" cy="118110"/>
          </a:xfrm>
          <a:prstGeom prst="line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Elbow Arrow Connector 167"/>
          <p:cNvSpPr>
            <a:spLocks/>
          </p:cNvSpPr>
          <p:nvPr/>
        </p:nvSpPr>
        <p:spPr>
          <a:xfrm rot="10800000">
            <a:off x="1046160" y="5451681"/>
            <a:ext cx="1823085" cy="132080"/>
          </a:xfrm>
          <a:prstGeom prst="bentConnector2">
            <a:avLst/>
          </a:prstGeom>
          <a:ln w="6350" cap="flat" cmpd="sng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4" name="텍스트 상자 168"/>
          <p:cNvSpPr txBox="1">
            <a:spLocks/>
          </p:cNvSpPr>
          <p:nvPr/>
        </p:nvSpPr>
        <p:spPr>
          <a:xfrm>
            <a:off x="301305" y="3428889"/>
            <a:ext cx="3404235" cy="33972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95" name="Double Arrow 169"/>
          <p:cNvCxnSpPr/>
          <p:nvPr/>
        </p:nvCxnSpPr>
        <p:spPr>
          <a:xfrm>
            <a:off x="1074100" y="4535376"/>
            <a:ext cx="635" cy="293370"/>
          </a:xfrm>
          <a:prstGeom prst="straightConnector1">
            <a:avLst/>
          </a:prstGeom>
          <a:ln w="6350" cap="flat" cmpd="sng"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Double Arrow 170"/>
          <p:cNvCxnSpPr/>
          <p:nvPr/>
        </p:nvCxnSpPr>
        <p:spPr>
          <a:xfrm>
            <a:off x="1894520" y="4532836"/>
            <a:ext cx="635" cy="293370"/>
          </a:xfrm>
          <a:prstGeom prst="straightConnector1">
            <a:avLst/>
          </a:prstGeom>
          <a:ln w="6350" cap="flat" cmpd="sng"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132"/>
          <p:cNvSpPr>
            <a:spLocks/>
          </p:cNvSpPr>
          <p:nvPr/>
        </p:nvSpPr>
        <p:spPr>
          <a:xfrm>
            <a:off x="1860230" y="1611449"/>
            <a:ext cx="986155" cy="6286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 </a:t>
            </a:r>
            <a:endParaRPr 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9" name="텍스트 상자 151"/>
          <p:cNvSpPr txBox="1">
            <a:spLocks/>
          </p:cNvSpPr>
          <p:nvPr/>
        </p:nvSpPr>
        <p:spPr>
          <a:xfrm>
            <a:off x="-105094" y="1118871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08" name="Double Arrow 150"/>
          <p:cNvCxnSpPr>
            <a:stCxn id="76" idx="2"/>
            <a:endCxn id="86" idx="0"/>
          </p:cNvCxnSpPr>
          <p:nvPr/>
        </p:nvCxnSpPr>
        <p:spPr>
          <a:xfrm>
            <a:off x="1055686" y="2693242"/>
            <a:ext cx="841374" cy="1388744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815" cy="6520815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 descr="/Users/a1111/Library/Group Containers/L48J367XN4.com.infraware.PolarisOffice/EngineTemp/29484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705" cy="471169"/>
          </a:xfrm>
          <a:prstGeom prst="rect">
            <a:avLst/>
          </a:prstGeom>
          <a:noFill/>
        </p:spPr>
      </p:pic>
      <p:sp>
        <p:nvSpPr>
          <p:cNvPr id="153" name="텍스트 상자 152"/>
          <p:cNvSpPr txBox="1">
            <a:spLocks/>
          </p:cNvSpPr>
          <p:nvPr/>
        </p:nvSpPr>
        <p:spPr>
          <a:xfrm>
            <a:off x="3636009" y="1035892"/>
            <a:ext cx="3916681" cy="1447832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음성주문</a:t>
            </a:r>
            <a:r>
              <a:rPr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유사도</a:t>
            </a:r>
            <a:r>
              <a:rPr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측정</a:t>
            </a:r>
            <a:r>
              <a:rPr lang="en-US"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– </a:t>
            </a:r>
            <a:r>
              <a:rPr lang="ko-KR" altLang="en-US"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코드</a:t>
            </a:r>
            <a:r>
              <a:rPr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4" name="텍스트 상자 153"/>
          <p:cNvSpPr txBox="1">
            <a:spLocks/>
          </p:cNvSpPr>
          <p:nvPr/>
        </p:nvSpPr>
        <p:spPr>
          <a:xfrm>
            <a:off x="3747131" y="4463949"/>
            <a:ext cx="8184517" cy="2248051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●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동작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ChatBot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전송 받은 단어를 이해하지 못하는 경우 작동한다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>
              <a:lnSpc>
                <a:spcPct val="125000"/>
              </a:lnSpc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단어를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음소 단위로 분해하고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DB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적재돼 있는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음소 단위로 분해된 단어들과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유사도를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비교하여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가장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유사도가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높은 단어를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추천하도록 한다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>
              <a:lnSpc>
                <a:spcPct val="125000"/>
              </a:lnSpc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유사도 계산법은 교집합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합집합 구조의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자카드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유사도 사용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2" name="직사각형 171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73" name="TextBox 172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175" name="TextBox 174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76" name="TextBox 175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177" name="TextBox 176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178" name="TextBox 177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179" name="TextBox 178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180" name="TextBox 179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1" name="TextBox 180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10135556" y="5039695"/>
            <a:ext cx="1747518" cy="858810"/>
            <a:chOff x="8963027" y="5129566"/>
            <a:chExt cx="1747518" cy="858810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62720" y="5369251"/>
              <a:ext cx="1647825" cy="619125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17" name="TextBox 16"/>
            <p:cNvSpPr txBox="1"/>
            <p:nvPr/>
          </p:nvSpPr>
          <p:spPr>
            <a:xfrm>
              <a:off x="8963027" y="5129566"/>
              <a:ext cx="12096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err="1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자카드</a:t>
              </a:r>
              <a:r>
                <a:rPr lang="ko-KR" altLang="en-US" sz="1200" b="1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유사도</a:t>
              </a: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1742" y="1552309"/>
            <a:ext cx="7054848" cy="2840029"/>
          </a:xfrm>
          <a:prstGeom prst="rect">
            <a:avLst/>
          </a:prstGeom>
        </p:spPr>
      </p:pic>
      <p:sp>
        <p:nvSpPr>
          <p:cNvPr id="45" name="Rounded Rectangle 145"/>
          <p:cNvSpPr>
            <a:spLocks/>
          </p:cNvSpPr>
          <p:nvPr/>
        </p:nvSpPr>
        <p:spPr>
          <a:xfrm>
            <a:off x="540066" y="2064592"/>
            <a:ext cx="1031240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6" name="Rounded Rectangle 146"/>
          <p:cNvSpPr>
            <a:spLocks/>
          </p:cNvSpPr>
          <p:nvPr/>
        </p:nvSpPr>
        <p:spPr>
          <a:xfrm>
            <a:off x="1860230" y="2554177"/>
            <a:ext cx="954405" cy="628650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Rectangle 147"/>
          <p:cNvSpPr>
            <a:spLocks/>
          </p:cNvSpPr>
          <p:nvPr/>
        </p:nvSpPr>
        <p:spPr>
          <a:xfrm>
            <a:off x="375601" y="1404192"/>
            <a:ext cx="2534285" cy="195326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8" name="Double Arrow 149"/>
          <p:cNvCxnSpPr>
            <a:stCxn id="45" idx="3"/>
            <a:endCxn id="64" idx="1"/>
          </p:cNvCxnSpPr>
          <p:nvPr/>
        </p:nvCxnSpPr>
        <p:spPr>
          <a:xfrm flipV="1">
            <a:off x="1571306" y="1925774"/>
            <a:ext cx="288924" cy="453143"/>
          </a:xfrm>
          <a:prstGeom prst="straightConnector1">
            <a:avLst/>
          </a:prstGeom>
          <a:ln w="28575" cap="flat" cmpd="sng">
            <a:solidFill>
              <a:schemeClr val="bg1">
                <a:lumMod val="85000"/>
              </a:schemeClr>
            </a:solidFill>
            <a:prstDash val="sysDot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Double Arrow 150"/>
          <p:cNvCxnSpPr>
            <a:stCxn id="45" idx="3"/>
          </p:cNvCxnSpPr>
          <p:nvPr/>
        </p:nvCxnSpPr>
        <p:spPr>
          <a:xfrm>
            <a:off x="1571306" y="2378917"/>
            <a:ext cx="289560" cy="489585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156"/>
          <p:cNvSpPr>
            <a:spLocks/>
          </p:cNvSpPr>
          <p:nvPr/>
        </p:nvSpPr>
        <p:spPr>
          <a:xfrm>
            <a:off x="376235" y="3740991"/>
            <a:ext cx="3129280" cy="2471420"/>
          </a:xfrm>
          <a:prstGeom prst="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Rounded Rectangle 155"/>
          <p:cNvSpPr>
            <a:spLocks/>
          </p:cNvSpPr>
          <p:nvPr/>
        </p:nvSpPr>
        <p:spPr>
          <a:xfrm>
            <a:off x="2538410" y="4990036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Rounded Rectangle 157"/>
          <p:cNvSpPr>
            <a:spLocks/>
          </p:cNvSpPr>
          <p:nvPr/>
        </p:nvSpPr>
        <p:spPr>
          <a:xfrm>
            <a:off x="1629090" y="4990036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TTS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3" name="Rounded Rectangle 158"/>
          <p:cNvSpPr>
            <a:spLocks/>
          </p:cNvSpPr>
          <p:nvPr/>
        </p:nvSpPr>
        <p:spPr>
          <a:xfrm>
            <a:off x="1566225" y="4081986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b="1" dirty="0" err="1">
                <a:solidFill>
                  <a:schemeClr val="accent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유사도</a:t>
            </a:r>
            <a:endParaRPr lang="ko-KR" altLang="en-US" sz="1100" b="1" dirty="0">
              <a:solidFill>
                <a:schemeClr val="accent2">
                  <a:lumMod val="7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b="1" dirty="0" err="1">
                <a:solidFill>
                  <a:schemeClr val="accent2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측정</a:t>
            </a:r>
            <a:endParaRPr lang="ko-KR" altLang="en-US" sz="1100" b="1" dirty="0">
              <a:solidFill>
                <a:schemeClr val="accent2">
                  <a:lumMod val="7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4" name="Rounded Rectangle 159"/>
          <p:cNvSpPr>
            <a:spLocks/>
          </p:cNvSpPr>
          <p:nvPr/>
        </p:nvSpPr>
        <p:spPr>
          <a:xfrm>
            <a:off x="726120" y="4988766"/>
            <a:ext cx="661670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Bot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5" name="Rounded Rectangle 160"/>
          <p:cNvSpPr>
            <a:spLocks/>
          </p:cNvSpPr>
          <p:nvPr/>
        </p:nvSpPr>
        <p:spPr>
          <a:xfrm>
            <a:off x="663255" y="4080716"/>
            <a:ext cx="784225" cy="4635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HTTP 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통신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6" name="Rectangle 161"/>
          <p:cNvSpPr>
            <a:spLocks/>
          </p:cNvSpPr>
          <p:nvPr/>
        </p:nvSpPr>
        <p:spPr>
          <a:xfrm>
            <a:off x="578165" y="4816681"/>
            <a:ext cx="2781935" cy="909955"/>
          </a:xfrm>
          <a:prstGeom prst="rect">
            <a:avLst/>
          </a:prstGeom>
          <a:noFill/>
          <a:ln w="12700" cap="flat" cmpd="sng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57" name="Arrow 164"/>
          <p:cNvCxnSpPr/>
          <p:nvPr/>
        </p:nvCxnSpPr>
        <p:spPr>
          <a:xfrm>
            <a:off x="1383345" y="5219271"/>
            <a:ext cx="238760" cy="635"/>
          </a:xfrm>
          <a:prstGeom prst="straightConnector1">
            <a:avLst/>
          </a:prstGeom>
          <a:ln w="6350" cap="flat" cmpd="sng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Arrow 165"/>
          <p:cNvCxnSpPr/>
          <p:nvPr/>
        </p:nvCxnSpPr>
        <p:spPr>
          <a:xfrm>
            <a:off x="2293300" y="5221811"/>
            <a:ext cx="238760" cy="635"/>
          </a:xfrm>
          <a:prstGeom prst="straightConnector1">
            <a:avLst/>
          </a:prstGeom>
          <a:ln w="6350" cap="flat" cmpd="sng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Line 166"/>
          <p:cNvCxnSpPr/>
          <p:nvPr/>
        </p:nvCxnSpPr>
        <p:spPr>
          <a:xfrm>
            <a:off x="2869245" y="5461841"/>
            <a:ext cx="635" cy="118110"/>
          </a:xfrm>
          <a:prstGeom prst="line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bow Arrow Connector 167"/>
          <p:cNvSpPr>
            <a:spLocks/>
          </p:cNvSpPr>
          <p:nvPr/>
        </p:nvSpPr>
        <p:spPr>
          <a:xfrm rot="10800000">
            <a:off x="1046160" y="5451681"/>
            <a:ext cx="1823085" cy="132080"/>
          </a:xfrm>
          <a:prstGeom prst="bentConnector2">
            <a:avLst/>
          </a:prstGeom>
          <a:ln w="6350" cap="flat" cmpd="sng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1" name="텍스트 상자 168"/>
          <p:cNvSpPr txBox="1">
            <a:spLocks/>
          </p:cNvSpPr>
          <p:nvPr/>
        </p:nvSpPr>
        <p:spPr>
          <a:xfrm>
            <a:off x="301305" y="3428889"/>
            <a:ext cx="3404235" cy="33972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62" name="Double Arrow 169"/>
          <p:cNvCxnSpPr/>
          <p:nvPr/>
        </p:nvCxnSpPr>
        <p:spPr>
          <a:xfrm>
            <a:off x="1074100" y="4535376"/>
            <a:ext cx="635" cy="293370"/>
          </a:xfrm>
          <a:prstGeom prst="straightConnector1">
            <a:avLst/>
          </a:prstGeom>
          <a:ln w="6350" cap="flat" cmpd="sng"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ouble Arrow 170"/>
          <p:cNvCxnSpPr/>
          <p:nvPr/>
        </p:nvCxnSpPr>
        <p:spPr>
          <a:xfrm>
            <a:off x="1894520" y="4532836"/>
            <a:ext cx="635" cy="293370"/>
          </a:xfrm>
          <a:prstGeom prst="straightConnector1">
            <a:avLst/>
          </a:prstGeom>
          <a:ln w="6350" cap="flat" cmpd="sng">
            <a:solidFill>
              <a:schemeClr val="bg1">
                <a:lumMod val="50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132"/>
          <p:cNvSpPr>
            <a:spLocks/>
          </p:cNvSpPr>
          <p:nvPr/>
        </p:nvSpPr>
        <p:spPr>
          <a:xfrm>
            <a:off x="1860230" y="1611449"/>
            <a:ext cx="986155" cy="62865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 </a:t>
            </a:r>
            <a:endParaRPr 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5" name="텍스트 상자 151"/>
          <p:cNvSpPr txBox="1">
            <a:spLocks/>
          </p:cNvSpPr>
          <p:nvPr/>
        </p:nvSpPr>
        <p:spPr>
          <a:xfrm>
            <a:off x="-105094" y="1118871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66" name="Double Arrow 150"/>
          <p:cNvCxnSpPr>
            <a:stCxn id="45" idx="2"/>
            <a:endCxn id="53" idx="0"/>
          </p:cNvCxnSpPr>
          <p:nvPr/>
        </p:nvCxnSpPr>
        <p:spPr>
          <a:xfrm>
            <a:off x="1055686" y="2693242"/>
            <a:ext cx="841374" cy="1388744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803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815" cy="6520815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 descr="/Users/a1111/Library/Group Containers/L48J367XN4.com.infraware.PolarisOffice/EngineTemp/29484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705" cy="471169"/>
          </a:xfrm>
          <a:prstGeom prst="rect">
            <a:avLst/>
          </a:prstGeom>
          <a:noFill/>
        </p:spPr>
      </p:pic>
      <p:sp>
        <p:nvSpPr>
          <p:cNvPr id="134" name="Rounded Rectangle 133"/>
          <p:cNvSpPr>
            <a:spLocks/>
          </p:cNvSpPr>
          <p:nvPr/>
        </p:nvSpPr>
        <p:spPr>
          <a:xfrm>
            <a:off x="1150620" y="1588770"/>
            <a:ext cx="781685" cy="54229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5" name="Rounded Rectangle 134"/>
          <p:cNvSpPr>
            <a:spLocks/>
          </p:cNvSpPr>
          <p:nvPr/>
        </p:nvSpPr>
        <p:spPr>
          <a:xfrm>
            <a:off x="370840" y="2597785"/>
            <a:ext cx="781685" cy="540385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즐겨찾기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6" name="Rounded Rectangle 135"/>
          <p:cNvSpPr>
            <a:spLocks/>
          </p:cNvSpPr>
          <p:nvPr/>
        </p:nvSpPr>
        <p:spPr>
          <a:xfrm>
            <a:off x="1905000" y="2602865"/>
            <a:ext cx="781685" cy="540385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가게선택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7" name="Rounded Rectangle 136"/>
          <p:cNvSpPr>
            <a:spLocks/>
          </p:cNvSpPr>
          <p:nvPr/>
        </p:nvSpPr>
        <p:spPr>
          <a:xfrm>
            <a:off x="1143000" y="4352925"/>
            <a:ext cx="781685" cy="540385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장바구니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8" name="Rounded Rectangle 137"/>
          <p:cNvSpPr>
            <a:spLocks/>
          </p:cNvSpPr>
          <p:nvPr/>
        </p:nvSpPr>
        <p:spPr>
          <a:xfrm>
            <a:off x="1588135" y="5412105"/>
            <a:ext cx="906145" cy="540385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NFC로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9" name="Rounded Rectangle 138"/>
          <p:cNvSpPr>
            <a:spLocks/>
          </p:cNvSpPr>
          <p:nvPr/>
        </p:nvSpPr>
        <p:spPr>
          <a:xfrm>
            <a:off x="1147445" y="3511550"/>
            <a:ext cx="781685" cy="540385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40" name="Double Arrow 139"/>
          <p:cNvCxnSpPr/>
          <p:nvPr/>
        </p:nvCxnSpPr>
        <p:spPr>
          <a:xfrm flipH="1">
            <a:off x="789305" y="2155825"/>
            <a:ext cx="752475" cy="37655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Double Arrow 140"/>
          <p:cNvCxnSpPr/>
          <p:nvPr/>
        </p:nvCxnSpPr>
        <p:spPr>
          <a:xfrm>
            <a:off x="1541145" y="2157730"/>
            <a:ext cx="757555" cy="38608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Double Arrow 141"/>
          <p:cNvCxnSpPr/>
          <p:nvPr/>
        </p:nvCxnSpPr>
        <p:spPr>
          <a:xfrm>
            <a:off x="747395" y="3166745"/>
            <a:ext cx="737235" cy="31496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Double Arrow 142"/>
          <p:cNvCxnSpPr/>
          <p:nvPr/>
        </p:nvCxnSpPr>
        <p:spPr>
          <a:xfrm flipH="1">
            <a:off x="1570990" y="3166745"/>
            <a:ext cx="761365" cy="30988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Double Arrow 143"/>
          <p:cNvCxnSpPr/>
          <p:nvPr/>
        </p:nvCxnSpPr>
        <p:spPr>
          <a:xfrm flipH="1">
            <a:off x="1536065" y="4050665"/>
            <a:ext cx="3175" cy="25463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>
            <a:spLocks/>
          </p:cNvSpPr>
          <p:nvPr/>
        </p:nvSpPr>
        <p:spPr>
          <a:xfrm>
            <a:off x="657860" y="5414010"/>
            <a:ext cx="838835" cy="540385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</a:t>
            </a:r>
            <a:endParaRPr 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47" name="Double Arrow 146"/>
          <p:cNvCxnSpPr>
            <a:stCxn id="137" idx="2"/>
            <a:endCxn id="138" idx="0"/>
          </p:cNvCxnSpPr>
          <p:nvPr/>
        </p:nvCxnSpPr>
        <p:spPr>
          <a:xfrm>
            <a:off x="1533843" y="4893310"/>
            <a:ext cx="507365" cy="51879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>
            <a:spLocks/>
          </p:cNvSpPr>
          <p:nvPr/>
        </p:nvSpPr>
        <p:spPr>
          <a:xfrm>
            <a:off x="3272790" y="3453130"/>
            <a:ext cx="988060" cy="629285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1" name="Rounded Rectangle 130"/>
          <p:cNvSpPr>
            <a:spLocks/>
          </p:cNvSpPr>
          <p:nvPr/>
        </p:nvSpPr>
        <p:spPr>
          <a:xfrm>
            <a:off x="4592955" y="3942715"/>
            <a:ext cx="963295" cy="629285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2" name="Rectangle 131"/>
          <p:cNvSpPr>
            <a:spLocks/>
          </p:cNvSpPr>
          <p:nvPr/>
        </p:nvSpPr>
        <p:spPr>
          <a:xfrm>
            <a:off x="3108325" y="2792730"/>
            <a:ext cx="2534920" cy="1953895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3" name="Rounded Rectangle 132"/>
          <p:cNvSpPr>
            <a:spLocks/>
          </p:cNvSpPr>
          <p:nvPr/>
        </p:nvSpPr>
        <p:spPr>
          <a:xfrm>
            <a:off x="4571365" y="2967990"/>
            <a:ext cx="984885" cy="629285"/>
          </a:xfrm>
          <a:prstGeom prst="roundRect">
            <a:avLst/>
          </a:prstGeom>
          <a:solidFill>
            <a:schemeClr val="bg1"/>
          </a:solidFill>
          <a:ln w="28575" cap="flat" cmpd="sng">
            <a:solidFill>
              <a:schemeClr val="bg1">
                <a:lumMod val="85000"/>
                <a:lumOff val="0"/>
                <a:alpha val="100000"/>
              </a:schemeClr>
            </a:solidFill>
            <a:prstDash val="sysDot"/>
            <a:miter lim="800000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</a:t>
            </a:r>
            <a:endParaRPr 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50" name="Double Arrow 149"/>
          <p:cNvCxnSpPr>
            <a:stCxn id="130" idx="3"/>
          </p:cNvCxnSpPr>
          <p:nvPr/>
        </p:nvCxnSpPr>
        <p:spPr>
          <a:xfrm flipV="1">
            <a:off x="4260850" y="3281681"/>
            <a:ext cx="311785" cy="486092"/>
          </a:xfrm>
          <a:prstGeom prst="straightConnector1">
            <a:avLst/>
          </a:prstGeom>
          <a:ln w="28575" cap="flat" cmpd="sng">
            <a:solidFill>
              <a:schemeClr val="bg1">
                <a:lumMod val="85000"/>
                <a:lumOff val="0"/>
                <a:alpha val="100000"/>
              </a:schemeClr>
            </a:solidFill>
            <a:prstDash val="sysDot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Double Arrow 150"/>
          <p:cNvCxnSpPr>
            <a:stCxn id="130" idx="3"/>
          </p:cNvCxnSpPr>
          <p:nvPr/>
        </p:nvCxnSpPr>
        <p:spPr>
          <a:xfrm>
            <a:off x="4260850" y="3767773"/>
            <a:ext cx="333375" cy="489902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텍스트 상자 152"/>
          <p:cNvSpPr txBox="1">
            <a:spLocks/>
          </p:cNvSpPr>
          <p:nvPr/>
        </p:nvSpPr>
        <p:spPr>
          <a:xfrm>
            <a:off x="5891053" y="2244407"/>
            <a:ext cx="3677631" cy="144716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장바구니</a:t>
            </a:r>
            <a:r>
              <a:rPr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200" dirty="0">
                <a:latin typeface="나눔스퀘어" panose="020B0600000101010101" pitchFamily="50" charset="-127"/>
                <a:ea typeface="나눔스퀘어 ExtraBold" panose="020B0600000101010101" pitchFamily="50" charset="-127"/>
              </a:rPr>
              <a:t>→ </a:t>
            </a:r>
            <a:r>
              <a:rPr sz="2200" dirty="0" err="1">
                <a:latin typeface="나눔스퀘어" panose="020B0600000101010101" pitchFamily="50" charset="-127"/>
                <a:ea typeface="나눔스퀘어 ExtraBold" panose="020B0600000101010101" pitchFamily="50" charset="-127"/>
              </a:rPr>
              <a:t>바로</a:t>
            </a:r>
            <a:r>
              <a:rPr sz="2200" dirty="0">
                <a:latin typeface="나눔스퀘어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200" dirty="0" err="1">
                <a:latin typeface="나눔스퀘어" panose="020B0600000101010101" pitchFamily="50" charset="-127"/>
                <a:ea typeface="나눔스퀘어 ExtraBold" panose="020B0600000101010101" pitchFamily="50" charset="-127"/>
              </a:rPr>
              <a:t>주문하기</a:t>
            </a:r>
            <a:r>
              <a:rPr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4" name="텍스트 상자 153"/>
          <p:cNvSpPr txBox="1">
            <a:spLocks/>
          </p:cNvSpPr>
          <p:nvPr/>
        </p:nvSpPr>
        <p:spPr>
          <a:xfrm>
            <a:off x="5903754" y="2908617"/>
            <a:ext cx="5866765" cy="254845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음성주문에서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최종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선택한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메뉴들을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임시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저장소인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AppDelegate를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이용하여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장바구니에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출력한다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사용자는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장바구니에서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정보를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확인하고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수량을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조절하거나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삭제를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할 수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있다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또한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온라인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상으로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할 수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있다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Swift 의 HTTP request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메소드를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사용하여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Web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Server와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HTTP</a:t>
            </a:r>
            <a:endParaRPr lang="en-US" altLang="ko-Kore-KR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POST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통신을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이루어지고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정보는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HTTP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Body에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적재되어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전송되고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최종적으로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DB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Server로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전송된다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55" name="Double Arrow 154"/>
          <p:cNvCxnSpPr>
            <a:stCxn id="137" idx="2"/>
            <a:endCxn id="146" idx="0"/>
          </p:cNvCxnSpPr>
          <p:nvPr/>
        </p:nvCxnSpPr>
        <p:spPr>
          <a:xfrm flipH="1">
            <a:off x="1077278" y="4893310"/>
            <a:ext cx="456565" cy="520700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직사각형 156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58" name="TextBox 157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59" name="그룹 158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160" name="TextBox 159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61" name="TextBox 160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162" name="TextBox 161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163" name="TextBox 162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164" name="TextBox 163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165" name="TextBox 164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6" name="TextBox 165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5" name="텍스트 상자 151"/>
          <p:cNvSpPr txBox="1">
            <a:spLocks/>
          </p:cNvSpPr>
          <p:nvPr/>
        </p:nvSpPr>
        <p:spPr>
          <a:xfrm>
            <a:off x="-447545" y="1148080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APP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6" name="Rectangle 147"/>
          <p:cNvSpPr>
            <a:spLocks/>
          </p:cNvSpPr>
          <p:nvPr/>
        </p:nvSpPr>
        <p:spPr>
          <a:xfrm>
            <a:off x="226695" y="1431925"/>
            <a:ext cx="2635250" cy="4651375"/>
          </a:xfrm>
          <a:prstGeom prst="rect">
            <a:avLst/>
          </a:prstGeom>
          <a:noFill/>
          <a:ln w="12700" cap="flat" cmpd="sng">
            <a:solidFill>
              <a:schemeClr val="bg1">
                <a:lumMod val="8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56" name="Double Arrow 155"/>
          <p:cNvCxnSpPr>
            <a:endCxn id="130" idx="1"/>
          </p:cNvCxnSpPr>
          <p:nvPr/>
        </p:nvCxnSpPr>
        <p:spPr>
          <a:xfrm flipV="1">
            <a:off x="1515745" y="3767773"/>
            <a:ext cx="1757045" cy="1916748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텍스트 상자 151"/>
          <p:cNvSpPr txBox="1">
            <a:spLocks/>
          </p:cNvSpPr>
          <p:nvPr/>
        </p:nvSpPr>
        <p:spPr>
          <a:xfrm>
            <a:off x="2623315" y="2504385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815" cy="6520815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 descr="/Users/a1111/Library/Group Containers/L48J367XN4.com.infraware.PolarisOffice/EngineTemp/29484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705" cy="471169"/>
          </a:xfrm>
          <a:prstGeom prst="rect">
            <a:avLst/>
          </a:prstGeom>
          <a:noFill/>
        </p:spPr>
      </p:pic>
      <p:sp>
        <p:nvSpPr>
          <p:cNvPr id="134" name="Rounded Rectangle 133"/>
          <p:cNvSpPr>
            <a:spLocks/>
          </p:cNvSpPr>
          <p:nvPr/>
        </p:nvSpPr>
        <p:spPr>
          <a:xfrm>
            <a:off x="1150620" y="1588770"/>
            <a:ext cx="781685" cy="54229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5" name="Rounded Rectangle 134"/>
          <p:cNvSpPr>
            <a:spLocks/>
          </p:cNvSpPr>
          <p:nvPr/>
        </p:nvSpPr>
        <p:spPr>
          <a:xfrm>
            <a:off x="370840" y="2597785"/>
            <a:ext cx="781685" cy="540385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즐겨찾기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6" name="Rounded Rectangle 135"/>
          <p:cNvSpPr>
            <a:spLocks/>
          </p:cNvSpPr>
          <p:nvPr/>
        </p:nvSpPr>
        <p:spPr>
          <a:xfrm>
            <a:off x="1905000" y="2602865"/>
            <a:ext cx="781685" cy="540385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가게선택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7" name="Rounded Rectangle 136"/>
          <p:cNvSpPr>
            <a:spLocks/>
          </p:cNvSpPr>
          <p:nvPr/>
        </p:nvSpPr>
        <p:spPr>
          <a:xfrm>
            <a:off x="1143000" y="4352925"/>
            <a:ext cx="781685" cy="540385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장바구니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8" name="Rounded Rectangle 137"/>
          <p:cNvSpPr>
            <a:spLocks/>
          </p:cNvSpPr>
          <p:nvPr/>
        </p:nvSpPr>
        <p:spPr>
          <a:xfrm>
            <a:off x="1588135" y="5412105"/>
            <a:ext cx="906145" cy="540385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NFC로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9" name="Rounded Rectangle 138"/>
          <p:cNvSpPr>
            <a:spLocks/>
          </p:cNvSpPr>
          <p:nvPr/>
        </p:nvSpPr>
        <p:spPr>
          <a:xfrm>
            <a:off x="1147445" y="3511550"/>
            <a:ext cx="781685" cy="540385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40" name="Double Arrow 139"/>
          <p:cNvCxnSpPr/>
          <p:nvPr/>
        </p:nvCxnSpPr>
        <p:spPr>
          <a:xfrm flipH="1">
            <a:off x="789305" y="2155825"/>
            <a:ext cx="752475" cy="37655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Double Arrow 140"/>
          <p:cNvCxnSpPr/>
          <p:nvPr/>
        </p:nvCxnSpPr>
        <p:spPr>
          <a:xfrm>
            <a:off x="1541145" y="2157730"/>
            <a:ext cx="757555" cy="38608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Double Arrow 141"/>
          <p:cNvCxnSpPr/>
          <p:nvPr/>
        </p:nvCxnSpPr>
        <p:spPr>
          <a:xfrm>
            <a:off x="747395" y="3166745"/>
            <a:ext cx="737235" cy="31496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Double Arrow 142"/>
          <p:cNvCxnSpPr/>
          <p:nvPr/>
        </p:nvCxnSpPr>
        <p:spPr>
          <a:xfrm flipH="1">
            <a:off x="1570990" y="3166745"/>
            <a:ext cx="761365" cy="30988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Double Arrow 143"/>
          <p:cNvCxnSpPr/>
          <p:nvPr/>
        </p:nvCxnSpPr>
        <p:spPr>
          <a:xfrm flipH="1">
            <a:off x="1536065" y="4050665"/>
            <a:ext cx="3175" cy="254635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>
            <a:spLocks/>
          </p:cNvSpPr>
          <p:nvPr/>
        </p:nvSpPr>
        <p:spPr>
          <a:xfrm>
            <a:off x="657860" y="5414010"/>
            <a:ext cx="838835" cy="540385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바로</a:t>
            </a:r>
            <a:endParaRPr 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주문하기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47" name="Double Arrow 146"/>
          <p:cNvCxnSpPr>
            <a:stCxn id="137" idx="2"/>
            <a:endCxn id="146" idx="0"/>
          </p:cNvCxnSpPr>
          <p:nvPr/>
        </p:nvCxnSpPr>
        <p:spPr>
          <a:xfrm flipH="1">
            <a:off x="1077278" y="4893310"/>
            <a:ext cx="456565" cy="520700"/>
          </a:xfrm>
          <a:prstGeom prst="line">
            <a:avLst/>
          </a:prstGeom>
          <a:ln w="12700" cap="flat" cmpd="sng">
            <a:solidFill>
              <a:schemeClr val="tx1">
                <a:alpha val="100000"/>
              </a:schemeClr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텍스트 상자 152"/>
          <p:cNvSpPr txBox="1">
            <a:spLocks/>
          </p:cNvSpPr>
          <p:nvPr/>
        </p:nvSpPr>
        <p:spPr>
          <a:xfrm>
            <a:off x="5934075" y="2414587"/>
            <a:ext cx="4591050" cy="1447832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장바구니</a:t>
            </a:r>
            <a:r>
              <a:rPr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→ </a:t>
            </a:r>
            <a:r>
              <a:rPr lang="ko-KR" altLang="en-US" sz="22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비콘</a:t>
            </a:r>
            <a:r>
              <a:rPr lang="en-US" altLang="ko-KR"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(iBeacon)</a:t>
            </a:r>
            <a:r>
              <a:rPr lang="en-US"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자동 주문</a:t>
            </a: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4" name="텍스트 상자 153"/>
          <p:cNvSpPr txBox="1">
            <a:spLocks/>
          </p:cNvSpPr>
          <p:nvPr/>
        </p:nvSpPr>
        <p:spPr>
          <a:xfrm>
            <a:off x="5946775" y="3109277"/>
            <a:ext cx="5866765" cy="255897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음성주문에서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최종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선택한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메뉴들을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임시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저장소인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AppDelegate를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이용하여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장바구니에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출력한다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사용자는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장바구니에서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정보를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확인하고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수량을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조절하거나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삭제를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할 수 </a:t>
            </a:r>
            <a:r>
              <a:rPr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있다</a:t>
            </a:r>
            <a:r>
              <a:rPr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또한 해당 주문을 한 가게에 들어가면 해당 가게의 </a:t>
            </a:r>
            <a:r>
              <a:rPr lang="ko-KR" altLang="en-US" sz="1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비콘이</a:t>
            </a:r>
            <a:r>
              <a:rPr lang="ko-KR" altLang="en-US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사용자를 인식하는 순간 바로 주문이 접수되도록 할 수 있다</a:t>
            </a:r>
            <a:r>
              <a:rPr lang="en-US" altLang="ko-KR" sz="1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7" name="Rectangle 156"/>
          <p:cNvSpPr>
            <a:spLocks/>
          </p:cNvSpPr>
          <p:nvPr/>
        </p:nvSpPr>
        <p:spPr>
          <a:xfrm>
            <a:off x="3176905" y="4859655"/>
            <a:ext cx="2482215" cy="1235075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8" name="텍스트 상자 157"/>
          <p:cNvSpPr txBox="1">
            <a:spLocks/>
          </p:cNvSpPr>
          <p:nvPr/>
        </p:nvSpPr>
        <p:spPr>
          <a:xfrm>
            <a:off x="2779078" y="4568078"/>
            <a:ext cx="1569720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iBeacon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9" name="Rounded Rectangle 158"/>
          <p:cNvSpPr>
            <a:spLocks/>
          </p:cNvSpPr>
          <p:nvPr/>
        </p:nvSpPr>
        <p:spPr>
          <a:xfrm>
            <a:off x="3991610" y="5230812"/>
            <a:ext cx="920750" cy="568325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iBeacon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감지</a:t>
            </a:r>
          </a:p>
        </p:txBody>
      </p:sp>
      <p:cxnSp>
        <p:nvCxnSpPr>
          <p:cNvPr id="163" name="Double Arrow 162"/>
          <p:cNvCxnSpPr>
            <a:stCxn id="137" idx="2"/>
            <a:endCxn id="138" idx="0"/>
          </p:cNvCxnSpPr>
          <p:nvPr/>
        </p:nvCxnSpPr>
        <p:spPr>
          <a:xfrm>
            <a:off x="1533843" y="4893310"/>
            <a:ext cx="507365" cy="51879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65" name="TextBox 164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66" name="그룹 165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167" name="TextBox 166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68" name="TextBox 167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169" name="TextBox 168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170" name="TextBox 169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171" name="TextBox 170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172" name="TextBox 171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3" name="TextBox 172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9" name="Rectangle 147"/>
          <p:cNvSpPr>
            <a:spLocks/>
          </p:cNvSpPr>
          <p:nvPr/>
        </p:nvSpPr>
        <p:spPr>
          <a:xfrm>
            <a:off x="226695" y="1431925"/>
            <a:ext cx="2635250" cy="4651375"/>
          </a:xfrm>
          <a:prstGeom prst="rect">
            <a:avLst/>
          </a:prstGeom>
          <a:noFill/>
          <a:ln w="12700" cap="flat" cmpd="sng">
            <a:solidFill>
              <a:schemeClr val="bg1">
                <a:lumMod val="8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0" name="텍스트 상자 151"/>
          <p:cNvSpPr txBox="1">
            <a:spLocks/>
          </p:cNvSpPr>
          <p:nvPr/>
        </p:nvSpPr>
        <p:spPr>
          <a:xfrm>
            <a:off x="-447545" y="1148080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APP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3" name="Double Arrow 167">
            <a:extLst>
              <a:ext uri="{FF2B5EF4-FFF2-40B4-BE49-F238E27FC236}">
                <a16:creationId xmlns:a16="http://schemas.microsoft.com/office/drawing/2014/main" id="{D0CEF50B-CB51-C94B-8F76-652E59CC54FD}"/>
              </a:ext>
            </a:extLst>
          </p:cNvPr>
          <p:cNvCxnSpPr>
            <a:cxnSpLocks/>
            <a:stCxn id="138" idx="3"/>
            <a:endCxn id="159" idx="1"/>
          </p:cNvCxnSpPr>
          <p:nvPr/>
        </p:nvCxnSpPr>
        <p:spPr>
          <a:xfrm flipV="1">
            <a:off x="2494280" y="5514975"/>
            <a:ext cx="1497330" cy="167323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129">
            <a:extLst>
              <a:ext uri="{FF2B5EF4-FFF2-40B4-BE49-F238E27FC236}">
                <a16:creationId xmlns:a16="http://schemas.microsoft.com/office/drawing/2014/main" id="{5FF23E83-C2FF-EA4B-B850-32C8DB52BBAF}"/>
              </a:ext>
            </a:extLst>
          </p:cNvPr>
          <p:cNvSpPr>
            <a:spLocks/>
          </p:cNvSpPr>
          <p:nvPr/>
        </p:nvSpPr>
        <p:spPr>
          <a:xfrm>
            <a:off x="3331845" y="3213418"/>
            <a:ext cx="988060" cy="629285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Rounded Rectangle 130">
            <a:extLst>
              <a:ext uri="{FF2B5EF4-FFF2-40B4-BE49-F238E27FC236}">
                <a16:creationId xmlns:a16="http://schemas.microsoft.com/office/drawing/2014/main" id="{170EE19C-5E20-2C47-B01D-F87861977C11}"/>
              </a:ext>
            </a:extLst>
          </p:cNvPr>
          <p:cNvSpPr>
            <a:spLocks/>
          </p:cNvSpPr>
          <p:nvPr/>
        </p:nvSpPr>
        <p:spPr>
          <a:xfrm>
            <a:off x="4652010" y="3703003"/>
            <a:ext cx="963295" cy="629285"/>
          </a:xfrm>
          <a:prstGeom prst="roundRect">
            <a:avLst/>
          </a:prstGeom>
          <a:solidFill>
            <a:schemeClr val="bg1">
              <a:lumMod val="85000"/>
              <a:lumOff val="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8" name="Rectangle 131">
            <a:extLst>
              <a:ext uri="{FF2B5EF4-FFF2-40B4-BE49-F238E27FC236}">
                <a16:creationId xmlns:a16="http://schemas.microsoft.com/office/drawing/2014/main" id="{BD8A22D9-9E70-2D40-96EA-4610CCFEBB95}"/>
              </a:ext>
            </a:extLst>
          </p:cNvPr>
          <p:cNvSpPr>
            <a:spLocks/>
          </p:cNvSpPr>
          <p:nvPr/>
        </p:nvSpPr>
        <p:spPr>
          <a:xfrm>
            <a:off x="3167380" y="2553018"/>
            <a:ext cx="2534920" cy="1953895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9" name="Rounded Rectangle 132">
            <a:extLst>
              <a:ext uri="{FF2B5EF4-FFF2-40B4-BE49-F238E27FC236}">
                <a16:creationId xmlns:a16="http://schemas.microsoft.com/office/drawing/2014/main" id="{E9916103-FA4A-6346-BE7B-FD6C8652C915}"/>
              </a:ext>
            </a:extLst>
          </p:cNvPr>
          <p:cNvSpPr>
            <a:spLocks/>
          </p:cNvSpPr>
          <p:nvPr/>
        </p:nvSpPr>
        <p:spPr>
          <a:xfrm>
            <a:off x="4630420" y="2728278"/>
            <a:ext cx="984885" cy="629285"/>
          </a:xfrm>
          <a:prstGeom prst="roundRect">
            <a:avLst/>
          </a:prstGeom>
          <a:solidFill>
            <a:schemeClr val="bg1"/>
          </a:solidFill>
          <a:ln w="28575" cap="flat" cmpd="sng">
            <a:solidFill>
              <a:schemeClr val="bg1">
                <a:lumMod val="85000"/>
                <a:lumOff val="0"/>
                <a:alpha val="100000"/>
              </a:schemeClr>
            </a:solidFill>
            <a:prstDash val="sysDot"/>
            <a:miter lim="800000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</a:t>
            </a:r>
            <a:endParaRPr 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50" name="Double Arrow 149">
            <a:extLst>
              <a:ext uri="{FF2B5EF4-FFF2-40B4-BE49-F238E27FC236}">
                <a16:creationId xmlns:a16="http://schemas.microsoft.com/office/drawing/2014/main" id="{2A762BB9-F5D4-524C-9DC0-6B7923C301D7}"/>
              </a:ext>
            </a:extLst>
          </p:cNvPr>
          <p:cNvCxnSpPr>
            <a:stCxn id="46" idx="3"/>
          </p:cNvCxnSpPr>
          <p:nvPr/>
        </p:nvCxnSpPr>
        <p:spPr>
          <a:xfrm flipV="1">
            <a:off x="4319905" y="3041969"/>
            <a:ext cx="311785" cy="486092"/>
          </a:xfrm>
          <a:prstGeom prst="straightConnector1">
            <a:avLst/>
          </a:prstGeom>
          <a:ln w="28575" cap="flat" cmpd="sng">
            <a:solidFill>
              <a:schemeClr val="bg1">
                <a:lumMod val="85000"/>
                <a:lumOff val="0"/>
                <a:alpha val="100000"/>
              </a:schemeClr>
            </a:solidFill>
            <a:prstDash val="sysDot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Double Arrow 150">
            <a:extLst>
              <a:ext uri="{FF2B5EF4-FFF2-40B4-BE49-F238E27FC236}">
                <a16:creationId xmlns:a16="http://schemas.microsoft.com/office/drawing/2014/main" id="{52076614-A646-AC4D-978B-694C5B85A192}"/>
              </a:ext>
            </a:extLst>
          </p:cNvPr>
          <p:cNvCxnSpPr>
            <a:stCxn id="46" idx="3"/>
          </p:cNvCxnSpPr>
          <p:nvPr/>
        </p:nvCxnSpPr>
        <p:spPr>
          <a:xfrm>
            <a:off x="4319905" y="3528061"/>
            <a:ext cx="333375" cy="489902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Double Arrow 155">
            <a:extLst>
              <a:ext uri="{FF2B5EF4-FFF2-40B4-BE49-F238E27FC236}">
                <a16:creationId xmlns:a16="http://schemas.microsoft.com/office/drawing/2014/main" id="{FB6BB62B-6C6E-CA41-B929-700744F06459}"/>
              </a:ext>
            </a:extLst>
          </p:cNvPr>
          <p:cNvCxnSpPr>
            <a:cxnSpLocks/>
            <a:stCxn id="138" idx="3"/>
            <a:endCxn id="46" idx="1"/>
          </p:cNvCxnSpPr>
          <p:nvPr/>
        </p:nvCxnSpPr>
        <p:spPr>
          <a:xfrm flipV="1">
            <a:off x="2494280" y="3528061"/>
            <a:ext cx="837565" cy="2154237"/>
          </a:xfrm>
          <a:prstGeom prst="straightConnector1">
            <a:avLst/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F0FEC134-2322-0E43-81A6-D2C21989758B}"/>
              </a:ext>
            </a:extLst>
          </p:cNvPr>
          <p:cNvSpPr/>
          <p:nvPr/>
        </p:nvSpPr>
        <p:spPr>
          <a:xfrm>
            <a:off x="3087894" y="5269810"/>
            <a:ext cx="256651" cy="2566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kumimoji="1" lang="ko-Kore-KR" altLang="en-US" sz="1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6FC4BBB1-CC10-0B44-95B5-916BAB6CC435}"/>
              </a:ext>
            </a:extLst>
          </p:cNvPr>
          <p:cNvSpPr/>
          <p:nvPr/>
        </p:nvSpPr>
        <p:spPr>
          <a:xfrm>
            <a:off x="2662071" y="4297671"/>
            <a:ext cx="256651" cy="2566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kumimoji="1" lang="ko-Kore-KR" altLang="en-US" sz="1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3" name="텍스트 상자 151"/>
          <p:cNvSpPr txBox="1">
            <a:spLocks/>
          </p:cNvSpPr>
          <p:nvPr/>
        </p:nvSpPr>
        <p:spPr>
          <a:xfrm>
            <a:off x="2662071" y="2247368"/>
            <a:ext cx="177736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180" cy="6520180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 descr="/Users/a1111/Library/Group Containers/L48J367XN4.com.infraware.PolarisOffice/EngineTemp/26111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070" cy="470534"/>
          </a:xfrm>
          <a:prstGeom prst="rect">
            <a:avLst/>
          </a:prstGeom>
          <a:noFill/>
        </p:spPr>
      </p:pic>
      <p:sp>
        <p:nvSpPr>
          <p:cNvPr id="12" name="Rounded Rectangle 129">
            <a:extLst>
              <a:ext uri="{FF2B5EF4-FFF2-40B4-BE49-F238E27FC236}">
                <a16:creationId xmlns:a16="http://schemas.microsoft.com/office/drawing/2014/main" id="{48270AF0-C3AD-4F6C-856A-40896617FD0C}"/>
              </a:ext>
            </a:extLst>
          </p:cNvPr>
          <p:cNvSpPr>
            <a:spLocks/>
          </p:cNvSpPr>
          <p:nvPr/>
        </p:nvSpPr>
        <p:spPr>
          <a:xfrm>
            <a:off x="434419" y="2332355"/>
            <a:ext cx="1021714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Rounded Rectangle 130">
            <a:extLst>
              <a:ext uri="{FF2B5EF4-FFF2-40B4-BE49-F238E27FC236}">
                <a16:creationId xmlns:a16="http://schemas.microsoft.com/office/drawing/2014/main" id="{6E297ECA-8408-428E-8457-B84CD588BC9C}"/>
              </a:ext>
            </a:extLst>
          </p:cNvPr>
          <p:cNvSpPr>
            <a:spLocks/>
          </p:cNvSpPr>
          <p:nvPr/>
        </p:nvSpPr>
        <p:spPr>
          <a:xfrm>
            <a:off x="1795224" y="3028315"/>
            <a:ext cx="1035685" cy="8940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Rectangle 131">
            <a:extLst>
              <a:ext uri="{FF2B5EF4-FFF2-40B4-BE49-F238E27FC236}">
                <a16:creationId xmlns:a16="http://schemas.microsoft.com/office/drawing/2014/main" id="{A2A6EFA8-C5D9-48DD-9D18-FF344F03D16C}"/>
              </a:ext>
            </a:extLst>
          </p:cNvPr>
          <p:cNvSpPr>
            <a:spLocks/>
          </p:cNvSpPr>
          <p:nvPr/>
        </p:nvSpPr>
        <p:spPr>
          <a:xfrm>
            <a:off x="265509" y="1383462"/>
            <a:ext cx="2837180" cy="277622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Rounded Rectangle 134">
            <a:extLst>
              <a:ext uri="{FF2B5EF4-FFF2-40B4-BE49-F238E27FC236}">
                <a16:creationId xmlns:a16="http://schemas.microsoft.com/office/drawing/2014/main" id="{C7E8968F-9936-47A2-AB3E-F35E591D0909}"/>
              </a:ext>
            </a:extLst>
          </p:cNvPr>
          <p:cNvSpPr>
            <a:spLocks/>
          </p:cNvSpPr>
          <p:nvPr/>
        </p:nvSpPr>
        <p:spPr>
          <a:xfrm>
            <a:off x="1804749" y="1642745"/>
            <a:ext cx="1041400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 </a:t>
            </a: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" name="텍스트 상자 135">
            <a:extLst>
              <a:ext uri="{FF2B5EF4-FFF2-40B4-BE49-F238E27FC236}">
                <a16:creationId xmlns:a16="http://schemas.microsoft.com/office/drawing/2014/main" id="{9490ABEA-2353-41F4-9C2D-47C4CFB2CD03}"/>
              </a:ext>
            </a:extLst>
          </p:cNvPr>
          <p:cNvSpPr txBox="1">
            <a:spLocks/>
          </p:cNvSpPr>
          <p:nvPr/>
        </p:nvSpPr>
        <p:spPr>
          <a:xfrm>
            <a:off x="-225664" y="1053046"/>
            <a:ext cx="177736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" name="Rectangle 152">
            <a:extLst>
              <a:ext uri="{FF2B5EF4-FFF2-40B4-BE49-F238E27FC236}">
                <a16:creationId xmlns:a16="http://schemas.microsoft.com/office/drawing/2014/main" id="{50672924-9FDB-4528-83FC-2BD3AD639109}"/>
              </a:ext>
            </a:extLst>
          </p:cNvPr>
          <p:cNvSpPr>
            <a:spLocks/>
          </p:cNvSpPr>
          <p:nvPr/>
        </p:nvSpPr>
        <p:spPr>
          <a:xfrm>
            <a:off x="3280582" y="1384449"/>
            <a:ext cx="3386455" cy="464185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" name="Rounded Rectangle 153">
            <a:extLst>
              <a:ext uri="{FF2B5EF4-FFF2-40B4-BE49-F238E27FC236}">
                <a16:creationId xmlns:a16="http://schemas.microsoft.com/office/drawing/2014/main" id="{7F5148D6-3048-4AB7-B163-27570DDF62E1}"/>
              </a:ext>
            </a:extLst>
          </p:cNvPr>
          <p:cNvSpPr>
            <a:spLocks/>
          </p:cNvSpPr>
          <p:nvPr/>
        </p:nvSpPr>
        <p:spPr>
          <a:xfrm>
            <a:off x="3850719" y="3331845"/>
            <a:ext cx="833755" cy="64833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접수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확인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쓰레드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Rounded Rectangle 154">
            <a:extLst>
              <a:ext uri="{FF2B5EF4-FFF2-40B4-BE49-F238E27FC236}">
                <a16:creationId xmlns:a16="http://schemas.microsoft.com/office/drawing/2014/main" id="{F71201E8-99F9-45F8-BC19-B48D9ADA82D2}"/>
              </a:ext>
            </a:extLst>
          </p:cNvPr>
          <p:cNvSpPr>
            <a:spLocks/>
          </p:cNvSpPr>
          <p:nvPr/>
        </p:nvSpPr>
        <p:spPr>
          <a:xfrm>
            <a:off x="5134371" y="2457585"/>
            <a:ext cx="1082675" cy="56769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POS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단말기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Rounded Rectangle 155">
            <a:extLst>
              <a:ext uri="{FF2B5EF4-FFF2-40B4-BE49-F238E27FC236}">
                <a16:creationId xmlns:a16="http://schemas.microsoft.com/office/drawing/2014/main" id="{08FE191C-EB8B-48EC-A077-1F53728E6DFD}"/>
              </a:ext>
            </a:extLst>
          </p:cNvPr>
          <p:cNvSpPr>
            <a:spLocks/>
          </p:cNvSpPr>
          <p:nvPr/>
        </p:nvSpPr>
        <p:spPr>
          <a:xfrm>
            <a:off x="5138816" y="3405640"/>
            <a:ext cx="1082675" cy="5676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결제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Rounded Rectangle 156">
            <a:extLst>
              <a:ext uri="{FF2B5EF4-FFF2-40B4-BE49-F238E27FC236}">
                <a16:creationId xmlns:a16="http://schemas.microsoft.com/office/drawing/2014/main" id="{8335EB3D-0D47-4189-8FCC-57DCB117584F}"/>
              </a:ext>
            </a:extLst>
          </p:cNvPr>
          <p:cNvSpPr>
            <a:spLocks/>
          </p:cNvSpPr>
          <p:nvPr/>
        </p:nvSpPr>
        <p:spPr>
          <a:xfrm>
            <a:off x="5158501" y="4368300"/>
            <a:ext cx="1082675" cy="56769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영수증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인쇄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Rounded Rectangle 157">
            <a:extLst>
              <a:ext uri="{FF2B5EF4-FFF2-40B4-BE49-F238E27FC236}">
                <a16:creationId xmlns:a16="http://schemas.microsoft.com/office/drawing/2014/main" id="{E75D3612-D9C5-4661-A46D-9CC0CAA58C4A}"/>
              </a:ext>
            </a:extLst>
          </p:cNvPr>
          <p:cNvSpPr>
            <a:spLocks/>
          </p:cNvSpPr>
          <p:nvPr/>
        </p:nvSpPr>
        <p:spPr>
          <a:xfrm>
            <a:off x="5163581" y="5286510"/>
            <a:ext cx="1082675" cy="56769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주문완료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6" name="Double Arrow 160">
            <a:extLst>
              <a:ext uri="{FF2B5EF4-FFF2-40B4-BE49-F238E27FC236}">
                <a16:creationId xmlns:a16="http://schemas.microsoft.com/office/drawing/2014/main" id="{B1FDD714-2368-4BD7-8CA3-DCE89AFCC832}"/>
              </a:ext>
            </a:extLst>
          </p:cNvPr>
          <p:cNvCxnSpPr/>
          <p:nvPr/>
        </p:nvCxnSpPr>
        <p:spPr>
          <a:xfrm>
            <a:off x="5666501" y="3025910"/>
            <a:ext cx="635" cy="33718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Double Arrow 161">
            <a:extLst>
              <a:ext uri="{FF2B5EF4-FFF2-40B4-BE49-F238E27FC236}">
                <a16:creationId xmlns:a16="http://schemas.microsoft.com/office/drawing/2014/main" id="{3B8A9DFB-838F-477E-BAAB-FCA4AC3F9C52}"/>
              </a:ext>
            </a:extLst>
          </p:cNvPr>
          <p:cNvCxnSpPr/>
          <p:nvPr/>
        </p:nvCxnSpPr>
        <p:spPr>
          <a:xfrm>
            <a:off x="5676026" y="3961900"/>
            <a:ext cx="635" cy="39433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ouble Arrow 162">
            <a:extLst>
              <a:ext uri="{FF2B5EF4-FFF2-40B4-BE49-F238E27FC236}">
                <a16:creationId xmlns:a16="http://schemas.microsoft.com/office/drawing/2014/main" id="{9B03F762-8AE3-407B-BFB7-AC67EB27D7DC}"/>
              </a:ext>
            </a:extLst>
          </p:cNvPr>
          <p:cNvCxnSpPr/>
          <p:nvPr/>
        </p:nvCxnSpPr>
        <p:spPr>
          <a:xfrm>
            <a:off x="5686186" y="4936625"/>
            <a:ext cx="635" cy="312420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ouble Arrow 167">
            <a:extLst>
              <a:ext uri="{FF2B5EF4-FFF2-40B4-BE49-F238E27FC236}">
                <a16:creationId xmlns:a16="http://schemas.microsoft.com/office/drawing/2014/main" id="{B2332D25-004D-48DD-8D76-ADDE7ECD01E1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1455499" y="2089785"/>
            <a:ext cx="349885" cy="690245"/>
          </a:xfrm>
          <a:prstGeom prst="straightConnector1">
            <a:avLst/>
          </a:prstGeom>
          <a:ln w="28575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ouble Arrow 170">
            <a:extLst>
              <a:ext uri="{FF2B5EF4-FFF2-40B4-BE49-F238E27FC236}">
                <a16:creationId xmlns:a16="http://schemas.microsoft.com/office/drawing/2014/main" id="{54BE9CF3-FEC8-426C-A172-677FADBB9FEB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1455499" y="2779395"/>
            <a:ext cx="340360" cy="696595"/>
          </a:xfrm>
          <a:prstGeom prst="straightConnector1">
            <a:avLst/>
          </a:prstGeom>
          <a:ln w="28575" cap="flat" cmpd="sng">
            <a:solidFill>
              <a:schemeClr val="accent5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ouble Arrow 179">
            <a:extLst>
              <a:ext uri="{FF2B5EF4-FFF2-40B4-BE49-F238E27FC236}">
                <a16:creationId xmlns:a16="http://schemas.microsoft.com/office/drawing/2014/main" id="{283D2660-D3F8-45EC-9EC4-997C2AAA8F2C}"/>
              </a:ext>
            </a:extLst>
          </p:cNvPr>
          <p:cNvCxnSpPr>
            <a:stCxn id="13" idx="3"/>
            <a:endCxn id="20" idx="1"/>
          </p:cNvCxnSpPr>
          <p:nvPr/>
        </p:nvCxnSpPr>
        <p:spPr>
          <a:xfrm>
            <a:off x="2830909" y="3475355"/>
            <a:ext cx="1019810" cy="180658"/>
          </a:xfrm>
          <a:prstGeom prst="straightConnector1">
            <a:avLst/>
          </a:prstGeom>
          <a:ln w="31750" cap="flat" cmpd="sng">
            <a:solidFill>
              <a:srgbClr val="80007F">
                <a:alpha val="100000"/>
              </a:srgb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Arrow 180">
            <a:extLst>
              <a:ext uri="{FF2B5EF4-FFF2-40B4-BE49-F238E27FC236}">
                <a16:creationId xmlns:a16="http://schemas.microsoft.com/office/drawing/2014/main" id="{07AD4813-23D7-4F89-B7E1-EAE21F20A0C2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>
            <a:off x="4684474" y="3656013"/>
            <a:ext cx="454342" cy="33472"/>
          </a:xfrm>
          <a:prstGeom prst="straightConnector1">
            <a:avLst/>
          </a:prstGeom>
          <a:ln w="31750" cap="flat" cmpd="sng">
            <a:solidFill>
              <a:schemeClr val="tx1">
                <a:lumMod val="50000"/>
                <a:lumOff val="50000"/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Arrow 183">
            <a:extLst>
              <a:ext uri="{FF2B5EF4-FFF2-40B4-BE49-F238E27FC236}">
                <a16:creationId xmlns:a16="http://schemas.microsoft.com/office/drawing/2014/main" id="{3AC9B086-9530-43DA-95B4-779B1A6D2231}"/>
              </a:ext>
            </a:extLst>
          </p:cNvPr>
          <p:cNvCxnSpPr>
            <a:cxnSpLocks/>
            <a:stCxn id="24" idx="1"/>
            <a:endCxn id="13" idx="3"/>
          </p:cNvCxnSpPr>
          <p:nvPr/>
        </p:nvCxnSpPr>
        <p:spPr>
          <a:xfrm flipH="1" flipV="1">
            <a:off x="2830909" y="3475355"/>
            <a:ext cx="2332672" cy="2095000"/>
          </a:xfrm>
          <a:prstGeom prst="straightConnector1">
            <a:avLst/>
          </a:prstGeom>
          <a:ln w="31750" cap="flat" cmpd="sng">
            <a:solidFill>
              <a:srgbClr val="80007F">
                <a:alpha val="100000"/>
              </a:srgb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184">
            <a:extLst>
              <a:ext uri="{FF2B5EF4-FFF2-40B4-BE49-F238E27FC236}">
                <a16:creationId xmlns:a16="http://schemas.microsoft.com/office/drawing/2014/main" id="{2469AFA8-4187-4FD3-AC24-5489F0635F19}"/>
              </a:ext>
            </a:extLst>
          </p:cNvPr>
          <p:cNvSpPr>
            <a:spLocks/>
          </p:cNvSpPr>
          <p:nvPr/>
        </p:nvSpPr>
        <p:spPr>
          <a:xfrm>
            <a:off x="5128021" y="1527945"/>
            <a:ext cx="1062355" cy="541655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0" name="Double Arrow 185">
            <a:extLst>
              <a:ext uri="{FF2B5EF4-FFF2-40B4-BE49-F238E27FC236}">
                <a16:creationId xmlns:a16="http://schemas.microsoft.com/office/drawing/2014/main" id="{AB750E91-26BA-4E24-B3BC-7A2F6FBF179D}"/>
              </a:ext>
            </a:extLst>
          </p:cNvPr>
          <p:cNvCxnSpPr/>
          <p:nvPr/>
        </p:nvCxnSpPr>
        <p:spPr>
          <a:xfrm>
            <a:off x="5653801" y="2081030"/>
            <a:ext cx="635" cy="30670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78AF49-2588-45E2-9030-4E4A09BFC5C8}"/>
              </a:ext>
            </a:extLst>
          </p:cNvPr>
          <p:cNvSpPr txBox="1"/>
          <p:nvPr/>
        </p:nvSpPr>
        <p:spPr>
          <a:xfrm>
            <a:off x="6773625" y="1446814"/>
            <a:ext cx="541964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주문 접수 확인</a:t>
            </a:r>
            <a:endParaRPr lang="en-US" altLang="ko-KR" sz="16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6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BD4CE7-3851-4424-B37F-7E9D5E59F42A}"/>
              </a:ext>
            </a:extLst>
          </p:cNvPr>
          <p:cNvSpPr txBox="1"/>
          <p:nvPr/>
        </p:nvSpPr>
        <p:spPr>
          <a:xfrm>
            <a:off x="6773625" y="1836872"/>
            <a:ext cx="505579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기능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&gt;</a:t>
            </a:r>
          </a:p>
          <a:p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IOS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앱에서 서버의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데이터를 전송 시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쓰레드에서 서버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변동사항을 발견하고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팝업창을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띄워줌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메인 폼에서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watch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쓰레드 생성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실행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mysql.data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API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사용하여 데이터 불러옴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B428B0-4A2A-49E6-BC95-6B567E8C032D}"/>
              </a:ext>
            </a:extLst>
          </p:cNvPr>
          <p:cNvSpPr txBox="1"/>
          <p:nvPr/>
        </p:nvSpPr>
        <p:spPr>
          <a:xfrm>
            <a:off x="6773625" y="3368891"/>
            <a:ext cx="5055790" cy="2215991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구성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&gt;</a:t>
            </a:r>
          </a:p>
          <a:p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-id1 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현재 테이블의 행의 최대값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-id2 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업데이트 전의 행의 최대값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-watch : DB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서버의 주문 테이블의 가장 높은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id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값을 불러오는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쿼리문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:select max(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idorderMenu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from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orderMenu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app_pos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 IOS / POS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주문을 구별하는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쿼리문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:select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confirmed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from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orderMenu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where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idorderMenu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=‘#temp’</a:t>
            </a: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rowNum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현재 테이블의 행의 개수를 구하는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쿼리문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select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idorderMenu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from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orderMenu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where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idorderMenu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=‘#temp’</a:t>
            </a:r>
          </a:p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1" name="직사각형 40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43" name="그룹 42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44" name="TextBox 43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5" name="TextBox 44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46" name="TextBox 45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49" name="TextBox 48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50" name="TextBox 49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51" name="TextBox 50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TextBox 51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3" name="텍스트 상자 151"/>
          <p:cNvSpPr txBox="1">
            <a:spLocks/>
          </p:cNvSpPr>
          <p:nvPr/>
        </p:nvSpPr>
        <p:spPr>
          <a:xfrm>
            <a:off x="2609215" y="1076905"/>
            <a:ext cx="1777365" cy="370614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POS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3576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180" cy="6520180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 descr="/Users/a1111/Library/Group Containers/L48J367XN4.com.infraware.PolarisOffice/EngineTemp/26111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070" cy="470534"/>
          </a:xfrm>
          <a:prstGeom prst="rect">
            <a:avLst/>
          </a:prstGeom>
          <a:noFill/>
        </p:spPr>
      </p:pic>
      <p:sp>
        <p:nvSpPr>
          <p:cNvPr id="12" name="Rounded Rectangle 129">
            <a:extLst>
              <a:ext uri="{FF2B5EF4-FFF2-40B4-BE49-F238E27FC236}">
                <a16:creationId xmlns:a16="http://schemas.microsoft.com/office/drawing/2014/main" id="{48270AF0-C3AD-4F6C-856A-40896617FD0C}"/>
              </a:ext>
            </a:extLst>
          </p:cNvPr>
          <p:cNvSpPr>
            <a:spLocks/>
          </p:cNvSpPr>
          <p:nvPr/>
        </p:nvSpPr>
        <p:spPr>
          <a:xfrm>
            <a:off x="434419" y="2332355"/>
            <a:ext cx="1021714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Rounded Rectangle 130">
            <a:extLst>
              <a:ext uri="{FF2B5EF4-FFF2-40B4-BE49-F238E27FC236}">
                <a16:creationId xmlns:a16="http://schemas.microsoft.com/office/drawing/2014/main" id="{6E297ECA-8408-428E-8457-B84CD588BC9C}"/>
              </a:ext>
            </a:extLst>
          </p:cNvPr>
          <p:cNvSpPr>
            <a:spLocks/>
          </p:cNvSpPr>
          <p:nvPr/>
        </p:nvSpPr>
        <p:spPr>
          <a:xfrm>
            <a:off x="1795224" y="3028315"/>
            <a:ext cx="1035685" cy="8940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Rectangle 131">
            <a:extLst>
              <a:ext uri="{FF2B5EF4-FFF2-40B4-BE49-F238E27FC236}">
                <a16:creationId xmlns:a16="http://schemas.microsoft.com/office/drawing/2014/main" id="{A2A6EFA8-C5D9-48DD-9D18-FF344F03D16C}"/>
              </a:ext>
            </a:extLst>
          </p:cNvPr>
          <p:cNvSpPr>
            <a:spLocks/>
          </p:cNvSpPr>
          <p:nvPr/>
        </p:nvSpPr>
        <p:spPr>
          <a:xfrm>
            <a:off x="265509" y="1383462"/>
            <a:ext cx="2837180" cy="277622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Rounded Rectangle 134">
            <a:extLst>
              <a:ext uri="{FF2B5EF4-FFF2-40B4-BE49-F238E27FC236}">
                <a16:creationId xmlns:a16="http://schemas.microsoft.com/office/drawing/2014/main" id="{C7E8968F-9936-47A2-AB3E-F35E591D0909}"/>
              </a:ext>
            </a:extLst>
          </p:cNvPr>
          <p:cNvSpPr>
            <a:spLocks/>
          </p:cNvSpPr>
          <p:nvPr/>
        </p:nvSpPr>
        <p:spPr>
          <a:xfrm>
            <a:off x="1804749" y="1642745"/>
            <a:ext cx="1041400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 </a:t>
            </a: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" name="텍스트 상자 135">
            <a:extLst>
              <a:ext uri="{FF2B5EF4-FFF2-40B4-BE49-F238E27FC236}">
                <a16:creationId xmlns:a16="http://schemas.microsoft.com/office/drawing/2014/main" id="{9490ABEA-2353-41F4-9C2D-47C4CFB2CD03}"/>
              </a:ext>
            </a:extLst>
          </p:cNvPr>
          <p:cNvSpPr txBox="1">
            <a:spLocks/>
          </p:cNvSpPr>
          <p:nvPr/>
        </p:nvSpPr>
        <p:spPr>
          <a:xfrm>
            <a:off x="-225664" y="1053046"/>
            <a:ext cx="177736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" name="Rectangle 152">
            <a:extLst>
              <a:ext uri="{FF2B5EF4-FFF2-40B4-BE49-F238E27FC236}">
                <a16:creationId xmlns:a16="http://schemas.microsoft.com/office/drawing/2014/main" id="{50672924-9FDB-4528-83FC-2BD3AD639109}"/>
              </a:ext>
            </a:extLst>
          </p:cNvPr>
          <p:cNvSpPr>
            <a:spLocks/>
          </p:cNvSpPr>
          <p:nvPr/>
        </p:nvSpPr>
        <p:spPr>
          <a:xfrm>
            <a:off x="3280582" y="1384449"/>
            <a:ext cx="3386455" cy="464185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" name="Rounded Rectangle 153">
            <a:extLst>
              <a:ext uri="{FF2B5EF4-FFF2-40B4-BE49-F238E27FC236}">
                <a16:creationId xmlns:a16="http://schemas.microsoft.com/office/drawing/2014/main" id="{7F5148D6-3048-4AB7-B163-27570DDF62E1}"/>
              </a:ext>
            </a:extLst>
          </p:cNvPr>
          <p:cNvSpPr>
            <a:spLocks/>
          </p:cNvSpPr>
          <p:nvPr/>
        </p:nvSpPr>
        <p:spPr>
          <a:xfrm>
            <a:off x="3850719" y="3331845"/>
            <a:ext cx="833755" cy="64833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접수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확인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쓰레드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Rounded Rectangle 154">
            <a:extLst>
              <a:ext uri="{FF2B5EF4-FFF2-40B4-BE49-F238E27FC236}">
                <a16:creationId xmlns:a16="http://schemas.microsoft.com/office/drawing/2014/main" id="{F71201E8-99F9-45F8-BC19-B48D9ADA82D2}"/>
              </a:ext>
            </a:extLst>
          </p:cNvPr>
          <p:cNvSpPr>
            <a:spLocks/>
          </p:cNvSpPr>
          <p:nvPr/>
        </p:nvSpPr>
        <p:spPr>
          <a:xfrm>
            <a:off x="5134371" y="2457585"/>
            <a:ext cx="1082675" cy="56769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POS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단말기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Rounded Rectangle 155">
            <a:extLst>
              <a:ext uri="{FF2B5EF4-FFF2-40B4-BE49-F238E27FC236}">
                <a16:creationId xmlns:a16="http://schemas.microsoft.com/office/drawing/2014/main" id="{08FE191C-EB8B-48EC-A077-1F53728E6DFD}"/>
              </a:ext>
            </a:extLst>
          </p:cNvPr>
          <p:cNvSpPr>
            <a:spLocks/>
          </p:cNvSpPr>
          <p:nvPr/>
        </p:nvSpPr>
        <p:spPr>
          <a:xfrm>
            <a:off x="5138816" y="3405640"/>
            <a:ext cx="1082675" cy="5676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결제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Rounded Rectangle 156">
            <a:extLst>
              <a:ext uri="{FF2B5EF4-FFF2-40B4-BE49-F238E27FC236}">
                <a16:creationId xmlns:a16="http://schemas.microsoft.com/office/drawing/2014/main" id="{8335EB3D-0D47-4189-8FCC-57DCB117584F}"/>
              </a:ext>
            </a:extLst>
          </p:cNvPr>
          <p:cNvSpPr>
            <a:spLocks/>
          </p:cNvSpPr>
          <p:nvPr/>
        </p:nvSpPr>
        <p:spPr>
          <a:xfrm>
            <a:off x="5158501" y="4368300"/>
            <a:ext cx="1082675" cy="567690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영수증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인쇄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Rounded Rectangle 157">
            <a:extLst>
              <a:ext uri="{FF2B5EF4-FFF2-40B4-BE49-F238E27FC236}">
                <a16:creationId xmlns:a16="http://schemas.microsoft.com/office/drawing/2014/main" id="{E75D3612-D9C5-4661-A46D-9CC0CAA58C4A}"/>
              </a:ext>
            </a:extLst>
          </p:cNvPr>
          <p:cNvSpPr>
            <a:spLocks/>
          </p:cNvSpPr>
          <p:nvPr/>
        </p:nvSpPr>
        <p:spPr>
          <a:xfrm>
            <a:off x="5163581" y="5286510"/>
            <a:ext cx="1082675" cy="56769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주문완료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6" name="Double Arrow 160">
            <a:extLst>
              <a:ext uri="{FF2B5EF4-FFF2-40B4-BE49-F238E27FC236}">
                <a16:creationId xmlns:a16="http://schemas.microsoft.com/office/drawing/2014/main" id="{B1FDD714-2368-4BD7-8CA3-DCE89AFCC832}"/>
              </a:ext>
            </a:extLst>
          </p:cNvPr>
          <p:cNvCxnSpPr/>
          <p:nvPr/>
        </p:nvCxnSpPr>
        <p:spPr>
          <a:xfrm>
            <a:off x="5666501" y="3025910"/>
            <a:ext cx="635" cy="33718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Double Arrow 161">
            <a:extLst>
              <a:ext uri="{FF2B5EF4-FFF2-40B4-BE49-F238E27FC236}">
                <a16:creationId xmlns:a16="http://schemas.microsoft.com/office/drawing/2014/main" id="{3B8A9DFB-838F-477E-BAAB-FCA4AC3F9C52}"/>
              </a:ext>
            </a:extLst>
          </p:cNvPr>
          <p:cNvCxnSpPr/>
          <p:nvPr/>
        </p:nvCxnSpPr>
        <p:spPr>
          <a:xfrm>
            <a:off x="5676026" y="3961900"/>
            <a:ext cx="635" cy="39433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ouble Arrow 162">
            <a:extLst>
              <a:ext uri="{FF2B5EF4-FFF2-40B4-BE49-F238E27FC236}">
                <a16:creationId xmlns:a16="http://schemas.microsoft.com/office/drawing/2014/main" id="{9B03F762-8AE3-407B-BFB7-AC67EB27D7DC}"/>
              </a:ext>
            </a:extLst>
          </p:cNvPr>
          <p:cNvCxnSpPr/>
          <p:nvPr/>
        </p:nvCxnSpPr>
        <p:spPr>
          <a:xfrm>
            <a:off x="5686186" y="4936625"/>
            <a:ext cx="635" cy="312420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ouble Arrow 167">
            <a:extLst>
              <a:ext uri="{FF2B5EF4-FFF2-40B4-BE49-F238E27FC236}">
                <a16:creationId xmlns:a16="http://schemas.microsoft.com/office/drawing/2014/main" id="{B2332D25-004D-48DD-8D76-ADDE7ECD01E1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1455499" y="2089785"/>
            <a:ext cx="349885" cy="690245"/>
          </a:xfrm>
          <a:prstGeom prst="straightConnector1">
            <a:avLst/>
          </a:prstGeom>
          <a:ln w="28575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ouble Arrow 170">
            <a:extLst>
              <a:ext uri="{FF2B5EF4-FFF2-40B4-BE49-F238E27FC236}">
                <a16:creationId xmlns:a16="http://schemas.microsoft.com/office/drawing/2014/main" id="{54BE9CF3-FEC8-426C-A172-677FADBB9FEB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1455499" y="2779395"/>
            <a:ext cx="340360" cy="696595"/>
          </a:xfrm>
          <a:prstGeom prst="straightConnector1">
            <a:avLst/>
          </a:prstGeom>
          <a:ln w="28575" cap="flat" cmpd="sng">
            <a:solidFill>
              <a:schemeClr val="accent5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ouble Arrow 179">
            <a:extLst>
              <a:ext uri="{FF2B5EF4-FFF2-40B4-BE49-F238E27FC236}">
                <a16:creationId xmlns:a16="http://schemas.microsoft.com/office/drawing/2014/main" id="{283D2660-D3F8-45EC-9EC4-997C2AAA8F2C}"/>
              </a:ext>
            </a:extLst>
          </p:cNvPr>
          <p:cNvCxnSpPr>
            <a:stCxn id="13" idx="3"/>
            <a:endCxn id="20" idx="1"/>
          </p:cNvCxnSpPr>
          <p:nvPr/>
        </p:nvCxnSpPr>
        <p:spPr>
          <a:xfrm>
            <a:off x="2830909" y="3475355"/>
            <a:ext cx="1019810" cy="180658"/>
          </a:xfrm>
          <a:prstGeom prst="straightConnector1">
            <a:avLst/>
          </a:prstGeom>
          <a:ln w="31750" cap="flat" cmpd="sng">
            <a:solidFill>
              <a:srgbClr val="80007F">
                <a:alpha val="100000"/>
              </a:srgb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Arrow 180">
            <a:extLst>
              <a:ext uri="{FF2B5EF4-FFF2-40B4-BE49-F238E27FC236}">
                <a16:creationId xmlns:a16="http://schemas.microsoft.com/office/drawing/2014/main" id="{07AD4813-23D7-4F89-B7E1-EAE21F20A0C2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>
            <a:off x="4684474" y="3656013"/>
            <a:ext cx="454342" cy="33472"/>
          </a:xfrm>
          <a:prstGeom prst="straightConnector1">
            <a:avLst/>
          </a:prstGeom>
          <a:ln w="31750" cap="flat" cmpd="sng">
            <a:solidFill>
              <a:schemeClr val="tx1">
                <a:lumMod val="50000"/>
                <a:lumOff val="50000"/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Arrow 183">
            <a:extLst>
              <a:ext uri="{FF2B5EF4-FFF2-40B4-BE49-F238E27FC236}">
                <a16:creationId xmlns:a16="http://schemas.microsoft.com/office/drawing/2014/main" id="{3AC9B086-9530-43DA-95B4-779B1A6D2231}"/>
              </a:ext>
            </a:extLst>
          </p:cNvPr>
          <p:cNvCxnSpPr>
            <a:cxnSpLocks/>
            <a:stCxn id="24" idx="1"/>
            <a:endCxn id="13" idx="3"/>
          </p:cNvCxnSpPr>
          <p:nvPr/>
        </p:nvCxnSpPr>
        <p:spPr>
          <a:xfrm flipH="1" flipV="1">
            <a:off x="2830909" y="3475355"/>
            <a:ext cx="2332672" cy="2095000"/>
          </a:xfrm>
          <a:prstGeom prst="straightConnector1">
            <a:avLst/>
          </a:prstGeom>
          <a:ln w="31750" cap="flat" cmpd="sng">
            <a:solidFill>
              <a:srgbClr val="80007F">
                <a:alpha val="100000"/>
              </a:srgb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184">
            <a:extLst>
              <a:ext uri="{FF2B5EF4-FFF2-40B4-BE49-F238E27FC236}">
                <a16:creationId xmlns:a16="http://schemas.microsoft.com/office/drawing/2014/main" id="{2469AFA8-4187-4FD3-AC24-5489F0635F19}"/>
              </a:ext>
            </a:extLst>
          </p:cNvPr>
          <p:cNvSpPr>
            <a:spLocks/>
          </p:cNvSpPr>
          <p:nvPr/>
        </p:nvSpPr>
        <p:spPr>
          <a:xfrm>
            <a:off x="5128021" y="1527945"/>
            <a:ext cx="1062355" cy="541655"/>
          </a:xfrm>
          <a:prstGeom prst="roundRect">
            <a:avLst/>
          </a:pr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0" name="Double Arrow 185">
            <a:extLst>
              <a:ext uri="{FF2B5EF4-FFF2-40B4-BE49-F238E27FC236}">
                <a16:creationId xmlns:a16="http://schemas.microsoft.com/office/drawing/2014/main" id="{AB750E91-26BA-4E24-B3BC-7A2F6FBF179D}"/>
              </a:ext>
            </a:extLst>
          </p:cNvPr>
          <p:cNvCxnSpPr/>
          <p:nvPr/>
        </p:nvCxnSpPr>
        <p:spPr>
          <a:xfrm>
            <a:off x="5653801" y="2081030"/>
            <a:ext cx="635" cy="30670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78AF49-2588-45E2-9030-4E4A09BFC5C8}"/>
              </a:ext>
            </a:extLst>
          </p:cNvPr>
          <p:cNvSpPr txBox="1"/>
          <p:nvPr/>
        </p:nvSpPr>
        <p:spPr>
          <a:xfrm>
            <a:off x="6842410" y="1446814"/>
            <a:ext cx="541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결제</a:t>
            </a: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(APP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주문</a:t>
            </a:r>
            <a:r>
              <a:rPr lang="en-US" altLang="ko-KR" b="1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BD4CE7-3851-4424-B37F-7E9D5E59F42A}"/>
              </a:ext>
            </a:extLst>
          </p:cNvPr>
          <p:cNvSpPr txBox="1"/>
          <p:nvPr/>
        </p:nvSpPr>
        <p:spPr>
          <a:xfrm>
            <a:off x="6849796" y="2215783"/>
            <a:ext cx="5055790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기능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&gt;</a:t>
            </a:r>
          </a:p>
          <a:p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IOS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앱에서 들어온 주문을 접수대기 상태와 준비 중 상태로 나누어 표시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서버 테이블의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confirmed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행이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‘’f‘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이면 접수대기 상태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‘ING’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면 준   비 중 상태로 간주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접수대기 상태인 주문의 주문 접수 버튼을 누르면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confirmed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‘ING’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바뀌어 주문의 상태가 준비중으로 바뀌고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PHP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서버와 연동하여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IOS APP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Push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알람을 보냄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준비 중 상태의 주문 표 인쇄 버튼을 누르면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confirmed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‘T’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바뀌어 주문이 완료되고 주문표가 인쇄되고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PHP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서버와 연동하여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IOS APP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주문하신 메뉴가 완성되었다는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Push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알람을 보냄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marL="171450" indent="-171450">
              <a:buFontTx/>
              <a:buChar char="-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1" name="직사각형 40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43" name="그룹 42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44" name="TextBox 43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5" name="TextBox 44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46" name="TextBox 45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49" name="TextBox 48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50" name="TextBox 49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51" name="TextBox 50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TextBox 51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8" name="텍스트 상자 151"/>
          <p:cNvSpPr txBox="1">
            <a:spLocks/>
          </p:cNvSpPr>
          <p:nvPr/>
        </p:nvSpPr>
        <p:spPr>
          <a:xfrm>
            <a:off x="2609215" y="1078402"/>
            <a:ext cx="1777365" cy="370614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POS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405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180" cy="6520180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 descr="/Users/a1111/Library/Group Containers/L48J367XN4.com.infraware.PolarisOffice/EngineTemp/26111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070" cy="470534"/>
          </a:xfrm>
          <a:prstGeom prst="rect">
            <a:avLst/>
          </a:prstGeom>
          <a:noFill/>
        </p:spPr>
      </p:pic>
      <p:sp>
        <p:nvSpPr>
          <p:cNvPr id="33" name="직사각형 32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36" name="TextBox 35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7" name="TextBox 36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38" name="TextBox 37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39" name="TextBox 38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40" name="TextBox 39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4" name="Rounded Rectangle 129">
            <a:extLst>
              <a:ext uri="{FF2B5EF4-FFF2-40B4-BE49-F238E27FC236}">
                <a16:creationId xmlns:a16="http://schemas.microsoft.com/office/drawing/2014/main" id="{DAB51D27-E3E4-4BFA-B81F-C599AC3B1AFB}"/>
              </a:ext>
            </a:extLst>
          </p:cNvPr>
          <p:cNvSpPr>
            <a:spLocks/>
          </p:cNvSpPr>
          <p:nvPr/>
        </p:nvSpPr>
        <p:spPr>
          <a:xfrm>
            <a:off x="462994" y="2332355"/>
            <a:ext cx="1021714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Rounded Rectangle 130">
            <a:extLst>
              <a:ext uri="{FF2B5EF4-FFF2-40B4-BE49-F238E27FC236}">
                <a16:creationId xmlns:a16="http://schemas.microsoft.com/office/drawing/2014/main" id="{74DBD415-081C-4F46-A48D-89F699F6FF64}"/>
              </a:ext>
            </a:extLst>
          </p:cNvPr>
          <p:cNvSpPr>
            <a:spLocks/>
          </p:cNvSpPr>
          <p:nvPr/>
        </p:nvSpPr>
        <p:spPr>
          <a:xfrm>
            <a:off x="1823799" y="3028315"/>
            <a:ext cx="1035685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Rectangle 131">
            <a:extLst>
              <a:ext uri="{FF2B5EF4-FFF2-40B4-BE49-F238E27FC236}">
                <a16:creationId xmlns:a16="http://schemas.microsoft.com/office/drawing/2014/main" id="{501F2C5F-DB2D-4998-B418-5A6AB8F84FD6}"/>
              </a:ext>
            </a:extLst>
          </p:cNvPr>
          <p:cNvSpPr>
            <a:spLocks/>
          </p:cNvSpPr>
          <p:nvPr/>
        </p:nvSpPr>
        <p:spPr>
          <a:xfrm>
            <a:off x="275669" y="1374775"/>
            <a:ext cx="2837180" cy="277622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8" name="Rounded Rectangle 134">
            <a:extLst>
              <a:ext uri="{FF2B5EF4-FFF2-40B4-BE49-F238E27FC236}">
                <a16:creationId xmlns:a16="http://schemas.microsoft.com/office/drawing/2014/main" id="{68DDB723-D5CE-4E59-94C3-54C0F1DDC849}"/>
              </a:ext>
            </a:extLst>
          </p:cNvPr>
          <p:cNvSpPr>
            <a:spLocks/>
          </p:cNvSpPr>
          <p:nvPr/>
        </p:nvSpPr>
        <p:spPr>
          <a:xfrm>
            <a:off x="1833324" y="1642745"/>
            <a:ext cx="1041400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 </a:t>
            </a: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0" name="텍스트 상자 135">
            <a:extLst>
              <a:ext uri="{FF2B5EF4-FFF2-40B4-BE49-F238E27FC236}">
                <a16:creationId xmlns:a16="http://schemas.microsoft.com/office/drawing/2014/main" id="{099490E0-9666-4A6B-AD47-5B543C9895FC}"/>
              </a:ext>
            </a:extLst>
          </p:cNvPr>
          <p:cNvSpPr txBox="1">
            <a:spLocks/>
          </p:cNvSpPr>
          <p:nvPr/>
        </p:nvSpPr>
        <p:spPr>
          <a:xfrm>
            <a:off x="-229792" y="1034732"/>
            <a:ext cx="177736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Rectangle 152">
            <a:extLst>
              <a:ext uri="{FF2B5EF4-FFF2-40B4-BE49-F238E27FC236}">
                <a16:creationId xmlns:a16="http://schemas.microsoft.com/office/drawing/2014/main" id="{69D44536-452E-4E93-912F-5B07B4D0BEC6}"/>
              </a:ext>
            </a:extLst>
          </p:cNvPr>
          <p:cNvSpPr>
            <a:spLocks/>
          </p:cNvSpPr>
          <p:nvPr/>
        </p:nvSpPr>
        <p:spPr>
          <a:xfrm>
            <a:off x="3286839" y="1384300"/>
            <a:ext cx="3386455" cy="464185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Rounded Rectangle 153">
            <a:extLst>
              <a:ext uri="{FF2B5EF4-FFF2-40B4-BE49-F238E27FC236}">
                <a16:creationId xmlns:a16="http://schemas.microsoft.com/office/drawing/2014/main" id="{F00096B3-1DAE-4864-AE23-5BDA0802E4ED}"/>
              </a:ext>
            </a:extLst>
          </p:cNvPr>
          <p:cNvSpPr>
            <a:spLocks/>
          </p:cNvSpPr>
          <p:nvPr/>
        </p:nvSpPr>
        <p:spPr>
          <a:xfrm>
            <a:off x="3859847" y="3341052"/>
            <a:ext cx="833755" cy="648335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접수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확인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쓰레드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3" name="Rounded Rectangle 154">
            <a:extLst>
              <a:ext uri="{FF2B5EF4-FFF2-40B4-BE49-F238E27FC236}">
                <a16:creationId xmlns:a16="http://schemas.microsoft.com/office/drawing/2014/main" id="{29EEEB41-53E8-4799-B5A0-314BE2DB0573}"/>
              </a:ext>
            </a:extLst>
          </p:cNvPr>
          <p:cNvSpPr>
            <a:spLocks/>
          </p:cNvSpPr>
          <p:nvPr/>
        </p:nvSpPr>
        <p:spPr>
          <a:xfrm>
            <a:off x="5118179" y="2480945"/>
            <a:ext cx="1082675" cy="56769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POS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단말기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4" name="Rounded Rectangle 155">
            <a:extLst>
              <a:ext uri="{FF2B5EF4-FFF2-40B4-BE49-F238E27FC236}">
                <a16:creationId xmlns:a16="http://schemas.microsoft.com/office/drawing/2014/main" id="{A30D32E3-C994-4E66-B664-3D0AA28646B6}"/>
              </a:ext>
            </a:extLst>
          </p:cNvPr>
          <p:cNvSpPr>
            <a:spLocks/>
          </p:cNvSpPr>
          <p:nvPr/>
        </p:nvSpPr>
        <p:spPr>
          <a:xfrm>
            <a:off x="5122624" y="3429000"/>
            <a:ext cx="1082675" cy="56769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결제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5" name="Rounded Rectangle 156">
            <a:extLst>
              <a:ext uri="{FF2B5EF4-FFF2-40B4-BE49-F238E27FC236}">
                <a16:creationId xmlns:a16="http://schemas.microsoft.com/office/drawing/2014/main" id="{DDFC5DFA-C1EE-4CEC-9271-977C783FD64E}"/>
              </a:ext>
            </a:extLst>
          </p:cNvPr>
          <p:cNvSpPr>
            <a:spLocks/>
          </p:cNvSpPr>
          <p:nvPr/>
        </p:nvSpPr>
        <p:spPr>
          <a:xfrm>
            <a:off x="5142309" y="4391660"/>
            <a:ext cx="1082675" cy="56769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영수증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인쇄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6" name="Rounded Rectangle 157">
            <a:extLst>
              <a:ext uri="{FF2B5EF4-FFF2-40B4-BE49-F238E27FC236}">
                <a16:creationId xmlns:a16="http://schemas.microsoft.com/office/drawing/2014/main" id="{53BE6D24-BBFB-494F-9B33-128F8A51D842}"/>
              </a:ext>
            </a:extLst>
          </p:cNvPr>
          <p:cNvSpPr>
            <a:spLocks/>
          </p:cNvSpPr>
          <p:nvPr/>
        </p:nvSpPr>
        <p:spPr>
          <a:xfrm>
            <a:off x="5147389" y="5309870"/>
            <a:ext cx="1082675" cy="56769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주문완료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57" name="Double Arrow 160">
            <a:extLst>
              <a:ext uri="{FF2B5EF4-FFF2-40B4-BE49-F238E27FC236}">
                <a16:creationId xmlns:a16="http://schemas.microsoft.com/office/drawing/2014/main" id="{89D24F51-5809-4030-9576-A7FC20DAC10F}"/>
              </a:ext>
            </a:extLst>
          </p:cNvPr>
          <p:cNvCxnSpPr/>
          <p:nvPr/>
        </p:nvCxnSpPr>
        <p:spPr>
          <a:xfrm>
            <a:off x="5650309" y="3049270"/>
            <a:ext cx="635" cy="33718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Double Arrow 161">
            <a:extLst>
              <a:ext uri="{FF2B5EF4-FFF2-40B4-BE49-F238E27FC236}">
                <a16:creationId xmlns:a16="http://schemas.microsoft.com/office/drawing/2014/main" id="{815B275F-1AB7-4B50-8921-89973EEBFC2B}"/>
              </a:ext>
            </a:extLst>
          </p:cNvPr>
          <p:cNvCxnSpPr/>
          <p:nvPr/>
        </p:nvCxnSpPr>
        <p:spPr>
          <a:xfrm>
            <a:off x="5659834" y="3985260"/>
            <a:ext cx="635" cy="39433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ouble Arrow 162">
            <a:extLst>
              <a:ext uri="{FF2B5EF4-FFF2-40B4-BE49-F238E27FC236}">
                <a16:creationId xmlns:a16="http://schemas.microsoft.com/office/drawing/2014/main" id="{CA21E534-FF58-4272-991F-A7DF886B2068}"/>
              </a:ext>
            </a:extLst>
          </p:cNvPr>
          <p:cNvCxnSpPr/>
          <p:nvPr/>
        </p:nvCxnSpPr>
        <p:spPr>
          <a:xfrm>
            <a:off x="5669994" y="4959985"/>
            <a:ext cx="635" cy="312420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Double Arrow 167">
            <a:extLst>
              <a:ext uri="{FF2B5EF4-FFF2-40B4-BE49-F238E27FC236}">
                <a16:creationId xmlns:a16="http://schemas.microsoft.com/office/drawing/2014/main" id="{10C1499D-94F8-4BFD-B76A-18516BBFBF31}"/>
              </a:ext>
            </a:extLst>
          </p:cNvPr>
          <p:cNvCxnSpPr>
            <a:cxnSpLocks/>
            <a:stCxn id="44" idx="3"/>
            <a:endCxn id="48" idx="1"/>
          </p:cNvCxnSpPr>
          <p:nvPr/>
        </p:nvCxnSpPr>
        <p:spPr>
          <a:xfrm flipV="1">
            <a:off x="1484074" y="2089785"/>
            <a:ext cx="349885" cy="690245"/>
          </a:xfrm>
          <a:prstGeom prst="straightConnector1">
            <a:avLst/>
          </a:prstGeom>
          <a:ln w="28575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Double Arrow 170">
            <a:extLst>
              <a:ext uri="{FF2B5EF4-FFF2-40B4-BE49-F238E27FC236}">
                <a16:creationId xmlns:a16="http://schemas.microsoft.com/office/drawing/2014/main" id="{0F6B37AA-4E55-47E6-A395-6A1796F8C6AC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1484074" y="2779395"/>
            <a:ext cx="340360" cy="696595"/>
          </a:xfrm>
          <a:prstGeom prst="straightConnector1">
            <a:avLst/>
          </a:prstGeom>
          <a:ln w="28575" cap="flat" cmpd="sng">
            <a:solidFill>
              <a:schemeClr val="accent5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Double Arrow 179">
            <a:extLst>
              <a:ext uri="{FF2B5EF4-FFF2-40B4-BE49-F238E27FC236}">
                <a16:creationId xmlns:a16="http://schemas.microsoft.com/office/drawing/2014/main" id="{69840519-B803-4F95-A652-41759A9DE420}"/>
              </a:ext>
            </a:extLst>
          </p:cNvPr>
          <p:cNvCxnSpPr>
            <a:stCxn id="45" idx="3"/>
            <a:endCxn id="52" idx="1"/>
          </p:cNvCxnSpPr>
          <p:nvPr/>
        </p:nvCxnSpPr>
        <p:spPr>
          <a:xfrm>
            <a:off x="2859484" y="3475355"/>
            <a:ext cx="1000363" cy="189865"/>
          </a:xfrm>
          <a:prstGeom prst="straightConnector1">
            <a:avLst/>
          </a:prstGeom>
          <a:ln w="31750" cap="flat" cmpd="sng">
            <a:solidFill>
              <a:srgbClr val="80007F">
                <a:alpha val="100000"/>
              </a:srgb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Arrow 180">
            <a:extLst>
              <a:ext uri="{FF2B5EF4-FFF2-40B4-BE49-F238E27FC236}">
                <a16:creationId xmlns:a16="http://schemas.microsoft.com/office/drawing/2014/main" id="{5A1F141E-2DCB-4409-9B95-4513743DF6C5}"/>
              </a:ext>
            </a:extLst>
          </p:cNvPr>
          <p:cNvCxnSpPr>
            <a:stCxn id="52" idx="3"/>
            <a:endCxn id="54" idx="1"/>
          </p:cNvCxnSpPr>
          <p:nvPr/>
        </p:nvCxnSpPr>
        <p:spPr>
          <a:xfrm>
            <a:off x="4693602" y="3665220"/>
            <a:ext cx="429022" cy="47625"/>
          </a:xfrm>
          <a:prstGeom prst="straightConnector1">
            <a:avLst/>
          </a:prstGeom>
          <a:ln w="31750" cap="flat" cmpd="sng">
            <a:solidFill>
              <a:schemeClr val="tx1">
                <a:lumMod val="50000"/>
                <a:lumOff val="50000"/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Arrow 183">
            <a:extLst>
              <a:ext uri="{FF2B5EF4-FFF2-40B4-BE49-F238E27FC236}">
                <a16:creationId xmlns:a16="http://schemas.microsoft.com/office/drawing/2014/main" id="{8F1233DD-83E0-4ACC-B28F-48A2F96265C7}"/>
              </a:ext>
            </a:extLst>
          </p:cNvPr>
          <p:cNvCxnSpPr>
            <a:stCxn id="56" idx="1"/>
            <a:endCxn id="45" idx="3"/>
          </p:cNvCxnSpPr>
          <p:nvPr/>
        </p:nvCxnSpPr>
        <p:spPr>
          <a:xfrm flipH="1" flipV="1">
            <a:off x="2859484" y="3475355"/>
            <a:ext cx="2287905" cy="2118360"/>
          </a:xfrm>
          <a:prstGeom prst="straightConnector1">
            <a:avLst/>
          </a:prstGeom>
          <a:ln w="31750" cap="flat" cmpd="sng">
            <a:solidFill>
              <a:srgbClr val="80007F">
                <a:alpha val="100000"/>
              </a:srgb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184">
            <a:extLst>
              <a:ext uri="{FF2B5EF4-FFF2-40B4-BE49-F238E27FC236}">
                <a16:creationId xmlns:a16="http://schemas.microsoft.com/office/drawing/2014/main" id="{FA5048E1-B371-42F3-9D68-8D8A63ED35C8}"/>
              </a:ext>
            </a:extLst>
          </p:cNvPr>
          <p:cNvSpPr>
            <a:spLocks/>
          </p:cNvSpPr>
          <p:nvPr/>
        </p:nvSpPr>
        <p:spPr>
          <a:xfrm>
            <a:off x="5111829" y="1551305"/>
            <a:ext cx="1062355" cy="54165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73" name="Double Arrow 185">
            <a:extLst>
              <a:ext uri="{FF2B5EF4-FFF2-40B4-BE49-F238E27FC236}">
                <a16:creationId xmlns:a16="http://schemas.microsoft.com/office/drawing/2014/main" id="{BDD4AA50-1592-4E35-9808-E4083BDF2577}"/>
              </a:ext>
            </a:extLst>
          </p:cNvPr>
          <p:cNvCxnSpPr/>
          <p:nvPr/>
        </p:nvCxnSpPr>
        <p:spPr>
          <a:xfrm>
            <a:off x="5637609" y="2104390"/>
            <a:ext cx="635" cy="30670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75D8B51-2C47-42C0-BF9B-69DCAE52F266}"/>
              </a:ext>
            </a:extLst>
          </p:cNvPr>
          <p:cNvSpPr txBox="1"/>
          <p:nvPr/>
        </p:nvSpPr>
        <p:spPr>
          <a:xfrm>
            <a:off x="7515141" y="2872542"/>
            <a:ext cx="318733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로그인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포스 프로그램에 입력한 아이디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비밀번호와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서버에 있는 아이디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비밀번호를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select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문을 사용하여 비교한다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로그인이 성공하면 그 아이디에 해당하는 지점의 포스 프로그램을 실행 시킨다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1" name="텍스트 상자 151"/>
          <p:cNvSpPr txBox="1">
            <a:spLocks/>
          </p:cNvSpPr>
          <p:nvPr/>
        </p:nvSpPr>
        <p:spPr>
          <a:xfrm>
            <a:off x="2677874" y="1088616"/>
            <a:ext cx="1777365" cy="370614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POS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590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180" cy="6520180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 descr="/Users/a1111/Library/Group Containers/L48J367XN4.com.infraware.PolarisOffice/EngineTemp/26111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070" cy="470534"/>
          </a:xfrm>
          <a:prstGeom prst="rect">
            <a:avLst/>
          </a:prstGeom>
          <a:noFill/>
        </p:spPr>
      </p:pic>
      <p:sp>
        <p:nvSpPr>
          <p:cNvPr id="33" name="직사각형 32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36" name="TextBox 35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7" name="TextBox 36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38" name="TextBox 37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39" name="TextBox 38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40" name="TextBox 39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1" name="Rounded Rectangle 129">
            <a:extLst>
              <a:ext uri="{FF2B5EF4-FFF2-40B4-BE49-F238E27FC236}">
                <a16:creationId xmlns:a16="http://schemas.microsoft.com/office/drawing/2014/main" id="{E70C7932-2752-45BE-84EA-A2F787D07B69}"/>
              </a:ext>
            </a:extLst>
          </p:cNvPr>
          <p:cNvSpPr>
            <a:spLocks/>
          </p:cNvSpPr>
          <p:nvPr/>
        </p:nvSpPr>
        <p:spPr>
          <a:xfrm>
            <a:off x="472519" y="2332355"/>
            <a:ext cx="1021714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6" name="Rounded Rectangle 130">
            <a:extLst>
              <a:ext uri="{FF2B5EF4-FFF2-40B4-BE49-F238E27FC236}">
                <a16:creationId xmlns:a16="http://schemas.microsoft.com/office/drawing/2014/main" id="{1A50BA3C-EC78-431D-85A9-918FE0B56CA8}"/>
              </a:ext>
            </a:extLst>
          </p:cNvPr>
          <p:cNvSpPr>
            <a:spLocks/>
          </p:cNvSpPr>
          <p:nvPr/>
        </p:nvSpPr>
        <p:spPr>
          <a:xfrm>
            <a:off x="1833324" y="3028315"/>
            <a:ext cx="1035685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9" name="Rectangle 131">
            <a:extLst>
              <a:ext uri="{FF2B5EF4-FFF2-40B4-BE49-F238E27FC236}">
                <a16:creationId xmlns:a16="http://schemas.microsoft.com/office/drawing/2014/main" id="{98F9BB1D-E2B3-4DED-B45E-E1A400D56EDA}"/>
              </a:ext>
            </a:extLst>
          </p:cNvPr>
          <p:cNvSpPr>
            <a:spLocks/>
          </p:cNvSpPr>
          <p:nvPr/>
        </p:nvSpPr>
        <p:spPr>
          <a:xfrm>
            <a:off x="275669" y="1374775"/>
            <a:ext cx="2837180" cy="277622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8" name="Rounded Rectangle 134">
            <a:extLst>
              <a:ext uri="{FF2B5EF4-FFF2-40B4-BE49-F238E27FC236}">
                <a16:creationId xmlns:a16="http://schemas.microsoft.com/office/drawing/2014/main" id="{25C401C5-BB61-4F42-AC0D-EC4F8B50BEE0}"/>
              </a:ext>
            </a:extLst>
          </p:cNvPr>
          <p:cNvSpPr>
            <a:spLocks/>
          </p:cNvSpPr>
          <p:nvPr/>
        </p:nvSpPr>
        <p:spPr>
          <a:xfrm>
            <a:off x="1842849" y="1642745"/>
            <a:ext cx="1041400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 </a:t>
            </a: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9" name="텍스트 상자 135">
            <a:extLst>
              <a:ext uri="{FF2B5EF4-FFF2-40B4-BE49-F238E27FC236}">
                <a16:creationId xmlns:a16="http://schemas.microsoft.com/office/drawing/2014/main" id="{A39E1652-1BAC-4186-BFDA-FD139050A106}"/>
              </a:ext>
            </a:extLst>
          </p:cNvPr>
          <p:cNvSpPr txBox="1">
            <a:spLocks/>
          </p:cNvSpPr>
          <p:nvPr/>
        </p:nvSpPr>
        <p:spPr>
          <a:xfrm>
            <a:off x="-200025" y="1046162"/>
            <a:ext cx="177736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1" name="Rectangle 152">
            <a:extLst>
              <a:ext uri="{FF2B5EF4-FFF2-40B4-BE49-F238E27FC236}">
                <a16:creationId xmlns:a16="http://schemas.microsoft.com/office/drawing/2014/main" id="{7B2203FD-B131-4081-BD1B-6AA3E2C809C2}"/>
              </a:ext>
            </a:extLst>
          </p:cNvPr>
          <p:cNvSpPr>
            <a:spLocks/>
          </p:cNvSpPr>
          <p:nvPr/>
        </p:nvSpPr>
        <p:spPr>
          <a:xfrm>
            <a:off x="3286839" y="1374775"/>
            <a:ext cx="3386455" cy="464185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2" name="Rounded Rectangle 153">
            <a:extLst>
              <a:ext uri="{FF2B5EF4-FFF2-40B4-BE49-F238E27FC236}">
                <a16:creationId xmlns:a16="http://schemas.microsoft.com/office/drawing/2014/main" id="{8CA26E04-06D8-4D43-8493-2FB4E037E429}"/>
              </a:ext>
            </a:extLst>
          </p:cNvPr>
          <p:cNvSpPr>
            <a:spLocks/>
          </p:cNvSpPr>
          <p:nvPr/>
        </p:nvSpPr>
        <p:spPr>
          <a:xfrm>
            <a:off x="3904694" y="3369945"/>
            <a:ext cx="833755" cy="648335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접수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확인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쓰레드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7" name="Rounded Rectangle 154">
            <a:extLst>
              <a:ext uri="{FF2B5EF4-FFF2-40B4-BE49-F238E27FC236}">
                <a16:creationId xmlns:a16="http://schemas.microsoft.com/office/drawing/2014/main" id="{8CD12939-195A-4949-8475-A5E468FAD37C}"/>
              </a:ext>
            </a:extLst>
          </p:cNvPr>
          <p:cNvSpPr>
            <a:spLocks/>
          </p:cNvSpPr>
          <p:nvPr/>
        </p:nvSpPr>
        <p:spPr>
          <a:xfrm>
            <a:off x="5175329" y="2471420"/>
            <a:ext cx="1082675" cy="5676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POS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단말기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9" name="Rounded Rectangle 155">
            <a:extLst>
              <a:ext uri="{FF2B5EF4-FFF2-40B4-BE49-F238E27FC236}">
                <a16:creationId xmlns:a16="http://schemas.microsoft.com/office/drawing/2014/main" id="{0C3C6E79-0B48-42AE-B14B-FED0A9D4A495}"/>
              </a:ext>
            </a:extLst>
          </p:cNvPr>
          <p:cNvSpPr>
            <a:spLocks/>
          </p:cNvSpPr>
          <p:nvPr/>
        </p:nvSpPr>
        <p:spPr>
          <a:xfrm>
            <a:off x="5179774" y="3419475"/>
            <a:ext cx="1082675" cy="5676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결제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0" name="Rounded Rectangle 156">
            <a:extLst>
              <a:ext uri="{FF2B5EF4-FFF2-40B4-BE49-F238E27FC236}">
                <a16:creationId xmlns:a16="http://schemas.microsoft.com/office/drawing/2014/main" id="{1CD73D23-59ED-4B68-A6F4-CAB6F4C90601}"/>
              </a:ext>
            </a:extLst>
          </p:cNvPr>
          <p:cNvSpPr>
            <a:spLocks/>
          </p:cNvSpPr>
          <p:nvPr/>
        </p:nvSpPr>
        <p:spPr>
          <a:xfrm>
            <a:off x="5199459" y="4382135"/>
            <a:ext cx="1082675" cy="5676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영수증</a:t>
            </a:r>
            <a:r>
              <a:rPr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인쇄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5" name="Rounded Rectangle 157">
            <a:extLst>
              <a:ext uri="{FF2B5EF4-FFF2-40B4-BE49-F238E27FC236}">
                <a16:creationId xmlns:a16="http://schemas.microsoft.com/office/drawing/2014/main" id="{73E23C02-C3CE-4AC9-9F82-745368A2F548}"/>
              </a:ext>
            </a:extLst>
          </p:cNvPr>
          <p:cNvSpPr>
            <a:spLocks/>
          </p:cNvSpPr>
          <p:nvPr/>
        </p:nvSpPr>
        <p:spPr>
          <a:xfrm>
            <a:off x="5204539" y="5300345"/>
            <a:ext cx="1082675" cy="5676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주문완료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76" name="Double Arrow 160">
            <a:extLst>
              <a:ext uri="{FF2B5EF4-FFF2-40B4-BE49-F238E27FC236}">
                <a16:creationId xmlns:a16="http://schemas.microsoft.com/office/drawing/2014/main" id="{B3458B7F-5C7C-4531-81AE-0B897ADA6EF0}"/>
              </a:ext>
            </a:extLst>
          </p:cNvPr>
          <p:cNvCxnSpPr/>
          <p:nvPr/>
        </p:nvCxnSpPr>
        <p:spPr>
          <a:xfrm>
            <a:off x="5707459" y="3039745"/>
            <a:ext cx="635" cy="33718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Double Arrow 161">
            <a:extLst>
              <a:ext uri="{FF2B5EF4-FFF2-40B4-BE49-F238E27FC236}">
                <a16:creationId xmlns:a16="http://schemas.microsoft.com/office/drawing/2014/main" id="{8EA2BEB6-BE64-437A-B31D-D8D8FAE4391E}"/>
              </a:ext>
            </a:extLst>
          </p:cNvPr>
          <p:cNvCxnSpPr/>
          <p:nvPr/>
        </p:nvCxnSpPr>
        <p:spPr>
          <a:xfrm>
            <a:off x="5716984" y="3975735"/>
            <a:ext cx="635" cy="39433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Double Arrow 162">
            <a:extLst>
              <a:ext uri="{FF2B5EF4-FFF2-40B4-BE49-F238E27FC236}">
                <a16:creationId xmlns:a16="http://schemas.microsoft.com/office/drawing/2014/main" id="{AD435F7A-B16B-48E5-A2EC-D81CDB14A7AA}"/>
              </a:ext>
            </a:extLst>
          </p:cNvPr>
          <p:cNvCxnSpPr/>
          <p:nvPr/>
        </p:nvCxnSpPr>
        <p:spPr>
          <a:xfrm>
            <a:off x="5727144" y="4950460"/>
            <a:ext cx="635" cy="312420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Double Arrow 167">
            <a:extLst>
              <a:ext uri="{FF2B5EF4-FFF2-40B4-BE49-F238E27FC236}">
                <a16:creationId xmlns:a16="http://schemas.microsoft.com/office/drawing/2014/main" id="{2D3509F3-743C-4402-9D4E-58CF49D1413E}"/>
              </a:ext>
            </a:extLst>
          </p:cNvPr>
          <p:cNvCxnSpPr>
            <a:cxnSpLocks/>
            <a:stCxn id="41" idx="3"/>
            <a:endCxn id="58" idx="1"/>
          </p:cNvCxnSpPr>
          <p:nvPr/>
        </p:nvCxnSpPr>
        <p:spPr>
          <a:xfrm flipV="1">
            <a:off x="1493599" y="2089785"/>
            <a:ext cx="349885" cy="690245"/>
          </a:xfrm>
          <a:prstGeom prst="straightConnector1">
            <a:avLst/>
          </a:prstGeom>
          <a:ln w="28575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Double Arrow 170">
            <a:extLst>
              <a:ext uri="{FF2B5EF4-FFF2-40B4-BE49-F238E27FC236}">
                <a16:creationId xmlns:a16="http://schemas.microsoft.com/office/drawing/2014/main" id="{A021DB1F-938A-4716-B0E7-B85706CEB66F}"/>
              </a:ext>
            </a:extLst>
          </p:cNvPr>
          <p:cNvCxnSpPr>
            <a:stCxn id="41" idx="3"/>
            <a:endCxn id="46" idx="1"/>
          </p:cNvCxnSpPr>
          <p:nvPr/>
        </p:nvCxnSpPr>
        <p:spPr>
          <a:xfrm>
            <a:off x="1493599" y="2779395"/>
            <a:ext cx="340360" cy="696595"/>
          </a:xfrm>
          <a:prstGeom prst="straightConnector1">
            <a:avLst/>
          </a:prstGeom>
          <a:ln w="28575" cap="flat" cmpd="sng">
            <a:solidFill>
              <a:schemeClr val="accent5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Double Arrow 179">
            <a:extLst>
              <a:ext uri="{FF2B5EF4-FFF2-40B4-BE49-F238E27FC236}">
                <a16:creationId xmlns:a16="http://schemas.microsoft.com/office/drawing/2014/main" id="{E68FD15F-5C64-4B89-9316-9A7F46C7025E}"/>
              </a:ext>
            </a:extLst>
          </p:cNvPr>
          <p:cNvCxnSpPr>
            <a:stCxn id="46" idx="3"/>
            <a:endCxn id="62" idx="1"/>
          </p:cNvCxnSpPr>
          <p:nvPr/>
        </p:nvCxnSpPr>
        <p:spPr>
          <a:xfrm>
            <a:off x="2869009" y="3475355"/>
            <a:ext cx="1035685" cy="218758"/>
          </a:xfrm>
          <a:prstGeom prst="straightConnector1">
            <a:avLst/>
          </a:prstGeom>
          <a:ln w="31750" cap="flat" cmpd="sng">
            <a:solidFill>
              <a:srgbClr val="80007F">
                <a:alpha val="100000"/>
              </a:srgb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Arrow 180">
            <a:extLst>
              <a:ext uri="{FF2B5EF4-FFF2-40B4-BE49-F238E27FC236}">
                <a16:creationId xmlns:a16="http://schemas.microsoft.com/office/drawing/2014/main" id="{94467407-91A8-48E9-B919-FB1EFD172B37}"/>
              </a:ext>
            </a:extLst>
          </p:cNvPr>
          <p:cNvCxnSpPr>
            <a:stCxn id="62" idx="3"/>
            <a:endCxn id="69" idx="1"/>
          </p:cNvCxnSpPr>
          <p:nvPr/>
        </p:nvCxnSpPr>
        <p:spPr>
          <a:xfrm>
            <a:off x="4738449" y="3694113"/>
            <a:ext cx="441325" cy="9207"/>
          </a:xfrm>
          <a:prstGeom prst="straightConnector1">
            <a:avLst/>
          </a:prstGeom>
          <a:ln w="31750" cap="flat" cmpd="sng">
            <a:solidFill>
              <a:schemeClr val="tx1">
                <a:lumMod val="50000"/>
                <a:lumOff val="50000"/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Arrow 183">
            <a:extLst>
              <a:ext uri="{FF2B5EF4-FFF2-40B4-BE49-F238E27FC236}">
                <a16:creationId xmlns:a16="http://schemas.microsoft.com/office/drawing/2014/main" id="{D8EE16A6-9BBF-4C33-80B6-4905D990D282}"/>
              </a:ext>
            </a:extLst>
          </p:cNvPr>
          <p:cNvCxnSpPr>
            <a:stCxn id="75" idx="1"/>
            <a:endCxn id="46" idx="3"/>
          </p:cNvCxnSpPr>
          <p:nvPr/>
        </p:nvCxnSpPr>
        <p:spPr>
          <a:xfrm flipH="1" flipV="1">
            <a:off x="2869009" y="3475355"/>
            <a:ext cx="2335530" cy="2108835"/>
          </a:xfrm>
          <a:prstGeom prst="straightConnector1">
            <a:avLst/>
          </a:prstGeom>
          <a:ln w="31750" cap="flat" cmpd="sng">
            <a:solidFill>
              <a:srgbClr val="80007F">
                <a:alpha val="100000"/>
              </a:srgb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184">
            <a:extLst>
              <a:ext uri="{FF2B5EF4-FFF2-40B4-BE49-F238E27FC236}">
                <a16:creationId xmlns:a16="http://schemas.microsoft.com/office/drawing/2014/main" id="{D4D988F8-68C2-4867-9B79-0EB5E59EEC7C}"/>
              </a:ext>
            </a:extLst>
          </p:cNvPr>
          <p:cNvSpPr>
            <a:spLocks/>
          </p:cNvSpPr>
          <p:nvPr/>
        </p:nvSpPr>
        <p:spPr>
          <a:xfrm>
            <a:off x="5168979" y="1541780"/>
            <a:ext cx="1062355" cy="541655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ko-KR" altLang="en-US" sz="11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5" name="Double Arrow 185">
            <a:extLst>
              <a:ext uri="{FF2B5EF4-FFF2-40B4-BE49-F238E27FC236}">
                <a16:creationId xmlns:a16="http://schemas.microsoft.com/office/drawing/2014/main" id="{08FB1045-88F6-4D89-87D8-A091996AC251}"/>
              </a:ext>
            </a:extLst>
          </p:cNvPr>
          <p:cNvCxnSpPr/>
          <p:nvPr/>
        </p:nvCxnSpPr>
        <p:spPr>
          <a:xfrm>
            <a:off x="5694759" y="2094865"/>
            <a:ext cx="635" cy="306705"/>
          </a:xfrm>
          <a:prstGeom prst="straightConnector1">
            <a:avLst/>
          </a:prstGeom>
          <a:ln w="635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31C33AA-AC5C-4285-9D93-59E1782A4A69}"/>
              </a:ext>
            </a:extLst>
          </p:cNvPr>
          <p:cNvSpPr txBox="1"/>
          <p:nvPr/>
        </p:nvSpPr>
        <p:spPr>
          <a:xfrm>
            <a:off x="7515524" y="1595050"/>
            <a:ext cx="351383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POS </a:t>
            </a:r>
            <a:r>
              <a:rPr lang="ko-KR" altLang="en-US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기로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주문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메뉴 선택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 정의 컨트롤을 이용하여 사이즈 별로 폼을 만들고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delegate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이용하여 폼끼리 이벤트가 발생했을 때 데이터를 주고 받을 수 있게 한다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결제 방법 선택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위와 동일한 방법으로 데이터를 주고 받음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결제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위에서 선택한 메뉴를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mysql.data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API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이용하여 서버에 접근해 주문 데이터를 전송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4.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영수증 인쇄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System.IO API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이용하여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streamWriter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메서드로 파일에 출력한 뒤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streamReader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메서드로 파일을 읽어 들여서 출력한다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5.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주문완료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4" name="텍스트 상자 151"/>
          <p:cNvSpPr txBox="1">
            <a:spLocks/>
          </p:cNvSpPr>
          <p:nvPr/>
        </p:nvSpPr>
        <p:spPr>
          <a:xfrm>
            <a:off x="2668349" y="1079091"/>
            <a:ext cx="1777365" cy="370614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POS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931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180" cy="6520180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 descr="/Users/a1111/Library/Group Containers/L48J367XN4.com.infraware.PolarisOffice/EngineTemp/26111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070" cy="470534"/>
          </a:xfrm>
          <a:prstGeom prst="rect">
            <a:avLst/>
          </a:prstGeom>
          <a:noFill/>
        </p:spPr>
      </p:pic>
      <p:sp>
        <p:nvSpPr>
          <p:cNvPr id="33" name="직사각형 32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36" name="TextBox 35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7" name="TextBox 36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38" name="TextBox 37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39" name="TextBox 38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40" name="TextBox 39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1" name="Rounded Rectangle 129">
            <a:extLst>
              <a:ext uri="{FF2B5EF4-FFF2-40B4-BE49-F238E27FC236}">
                <a16:creationId xmlns:a16="http://schemas.microsoft.com/office/drawing/2014/main" id="{C3A273FB-6B75-4F0D-BDFA-8F545D802854}"/>
              </a:ext>
            </a:extLst>
          </p:cNvPr>
          <p:cNvSpPr>
            <a:spLocks/>
          </p:cNvSpPr>
          <p:nvPr/>
        </p:nvSpPr>
        <p:spPr>
          <a:xfrm>
            <a:off x="2961084" y="2332355"/>
            <a:ext cx="1021714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EC2)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6" name="Rounded Rectangle 130">
            <a:extLst>
              <a:ext uri="{FF2B5EF4-FFF2-40B4-BE49-F238E27FC236}">
                <a16:creationId xmlns:a16="http://schemas.microsoft.com/office/drawing/2014/main" id="{9669D6D1-EB42-4753-B4A9-619AC09F4038}"/>
              </a:ext>
            </a:extLst>
          </p:cNvPr>
          <p:cNvSpPr>
            <a:spLocks/>
          </p:cNvSpPr>
          <p:nvPr/>
        </p:nvSpPr>
        <p:spPr>
          <a:xfrm>
            <a:off x="4321889" y="3028315"/>
            <a:ext cx="1035685" cy="8940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 Server</a:t>
            </a:r>
            <a:b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(AWS RDS)</a:t>
            </a:r>
            <a:endParaRPr lang="ko-KR" altLang="en-US" sz="2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9" name="Rectangle 131">
            <a:extLst>
              <a:ext uri="{FF2B5EF4-FFF2-40B4-BE49-F238E27FC236}">
                <a16:creationId xmlns:a16="http://schemas.microsoft.com/office/drawing/2014/main" id="{DDE60A23-3EE2-49C2-8086-7EAF400CDD74}"/>
              </a:ext>
            </a:extLst>
          </p:cNvPr>
          <p:cNvSpPr>
            <a:spLocks/>
          </p:cNvSpPr>
          <p:nvPr/>
        </p:nvSpPr>
        <p:spPr>
          <a:xfrm>
            <a:off x="2792809" y="1393825"/>
            <a:ext cx="2837180" cy="277622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8" name="Rounded Rectangle 134">
            <a:extLst>
              <a:ext uri="{FF2B5EF4-FFF2-40B4-BE49-F238E27FC236}">
                <a16:creationId xmlns:a16="http://schemas.microsoft.com/office/drawing/2014/main" id="{E86F2FF8-DBEC-4438-971C-FF09AD0D20ED}"/>
              </a:ext>
            </a:extLst>
          </p:cNvPr>
          <p:cNvSpPr>
            <a:spLocks/>
          </p:cNvSpPr>
          <p:nvPr/>
        </p:nvSpPr>
        <p:spPr>
          <a:xfrm>
            <a:off x="4331414" y="1642745"/>
            <a:ext cx="1041400" cy="894080"/>
          </a:xfrm>
          <a:prstGeom prst="roundRect">
            <a:avLst/>
          </a:prstGeom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Chat Bot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(Google</a:t>
            </a:r>
            <a:endParaRPr 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1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DialogFlow</a:t>
            </a:r>
            <a:r>
              <a:rPr sz="11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1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59" name="Double Arrow 167">
            <a:extLst>
              <a:ext uri="{FF2B5EF4-FFF2-40B4-BE49-F238E27FC236}">
                <a16:creationId xmlns:a16="http://schemas.microsoft.com/office/drawing/2014/main" id="{512B6118-29D8-4148-8A9E-BF5C66869AA9}"/>
              </a:ext>
            </a:extLst>
          </p:cNvPr>
          <p:cNvCxnSpPr>
            <a:cxnSpLocks/>
            <a:stCxn id="41" idx="3"/>
            <a:endCxn id="58" idx="1"/>
          </p:cNvCxnSpPr>
          <p:nvPr/>
        </p:nvCxnSpPr>
        <p:spPr>
          <a:xfrm flipV="1">
            <a:off x="3982164" y="2089785"/>
            <a:ext cx="349885" cy="690245"/>
          </a:xfrm>
          <a:prstGeom prst="straightConnector1">
            <a:avLst/>
          </a:prstGeom>
          <a:ln w="28575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Double Arrow 170">
            <a:extLst>
              <a:ext uri="{FF2B5EF4-FFF2-40B4-BE49-F238E27FC236}">
                <a16:creationId xmlns:a16="http://schemas.microsoft.com/office/drawing/2014/main" id="{F95A37AF-6D9B-45FA-A768-5066F76BC2A3}"/>
              </a:ext>
            </a:extLst>
          </p:cNvPr>
          <p:cNvCxnSpPr>
            <a:stCxn id="41" idx="3"/>
            <a:endCxn id="46" idx="1"/>
          </p:cNvCxnSpPr>
          <p:nvPr/>
        </p:nvCxnSpPr>
        <p:spPr>
          <a:xfrm>
            <a:off x="3982164" y="2779395"/>
            <a:ext cx="340360" cy="696595"/>
          </a:xfrm>
          <a:prstGeom prst="straightConnector1">
            <a:avLst/>
          </a:prstGeom>
          <a:ln w="28575" cap="flat" cmpd="sng">
            <a:solidFill>
              <a:schemeClr val="accent5">
                <a:alpha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52">
            <a:extLst>
              <a:ext uri="{FF2B5EF4-FFF2-40B4-BE49-F238E27FC236}">
                <a16:creationId xmlns:a16="http://schemas.microsoft.com/office/drawing/2014/main" id="{E6A397C5-BF89-446C-B824-EE810F7AA56F}"/>
              </a:ext>
            </a:extLst>
          </p:cNvPr>
          <p:cNvSpPr>
            <a:spLocks/>
          </p:cNvSpPr>
          <p:nvPr/>
        </p:nvSpPr>
        <p:spPr>
          <a:xfrm>
            <a:off x="6070679" y="1374775"/>
            <a:ext cx="3386455" cy="2795270"/>
          </a:xfrm>
          <a:prstGeom prst="rect">
            <a:avLst/>
          </a:prstGeom>
          <a:noFill/>
          <a:ln w="12700" cap="flat" cmpd="sng">
            <a:solidFill>
              <a:schemeClr val="bg2">
                <a:lumMod val="75000"/>
                <a:lumOff val="0"/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7" name="Rounded Rectangle 155">
            <a:extLst>
              <a:ext uri="{FF2B5EF4-FFF2-40B4-BE49-F238E27FC236}">
                <a16:creationId xmlns:a16="http://schemas.microsoft.com/office/drawing/2014/main" id="{351A0FAF-10B0-4AA8-BB7B-79EA1A059A75}"/>
              </a:ext>
            </a:extLst>
          </p:cNvPr>
          <p:cNvSpPr>
            <a:spLocks/>
          </p:cNvSpPr>
          <p:nvPr/>
        </p:nvSpPr>
        <p:spPr>
          <a:xfrm>
            <a:off x="7301083" y="1856739"/>
            <a:ext cx="1082675" cy="5676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판매현황</a:t>
            </a:r>
          </a:p>
        </p:txBody>
      </p:sp>
      <p:sp>
        <p:nvSpPr>
          <p:cNvPr id="69" name="Rounded Rectangle 155">
            <a:extLst>
              <a:ext uri="{FF2B5EF4-FFF2-40B4-BE49-F238E27FC236}">
                <a16:creationId xmlns:a16="http://schemas.microsoft.com/office/drawing/2014/main" id="{506BA482-27B9-4705-824B-4D5F54ADE156}"/>
              </a:ext>
            </a:extLst>
          </p:cNvPr>
          <p:cNvSpPr>
            <a:spLocks/>
          </p:cNvSpPr>
          <p:nvPr/>
        </p:nvSpPr>
        <p:spPr>
          <a:xfrm>
            <a:off x="7301084" y="3120389"/>
            <a:ext cx="1082675" cy="5676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영업관리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AB5DDE-202F-40DD-94F0-30105A3E1B6B}"/>
              </a:ext>
            </a:extLst>
          </p:cNvPr>
          <p:cNvSpPr txBox="1"/>
          <p:nvPr/>
        </p:nvSpPr>
        <p:spPr>
          <a:xfrm>
            <a:off x="979520" y="4275078"/>
            <a:ext cx="10232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POS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 판매현황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salesForm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지난 일주일 간 판매현황을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mysqlDataReader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메서드를 이용하여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서버에서 데이터를 가져와 그래프로 보여준다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그리고 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요일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시간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상품 별 매출 현황을 새로운 폼을 띄워 마찬가지로 그래프를 통해 시각적으로 보여준다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4292CF2A-604E-4B64-876E-9893FA7AA9A1}"/>
              </a:ext>
            </a:extLst>
          </p:cNvPr>
          <p:cNvCxnSpPr>
            <a:stCxn id="46" idx="3"/>
            <a:endCxn id="62" idx="1"/>
          </p:cNvCxnSpPr>
          <p:nvPr/>
        </p:nvCxnSpPr>
        <p:spPr>
          <a:xfrm flipV="1">
            <a:off x="5357574" y="2772410"/>
            <a:ext cx="713105" cy="7029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3493F978-81C5-41CA-A86A-9A2B24F460C1}"/>
              </a:ext>
            </a:extLst>
          </p:cNvPr>
          <p:cNvSpPr txBox="1"/>
          <p:nvPr/>
        </p:nvSpPr>
        <p:spPr>
          <a:xfrm>
            <a:off x="979520" y="5322770"/>
            <a:ext cx="1023295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POS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 영업관리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공지사항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System.Xml.Linq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API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이용하여 오늘의 날씨 정보를 알려주고 그 날의 시간별 판매량을 보여준다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시재등록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영업 시작 시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POS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기에 들어있는 현금을 기입한다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마감정산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POS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마감 시 시재등록한 현금과 오늘의 판매량을 더한 값이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POS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기에 들어있는 현금과 맞는지 확인하고 맞으면 오늘 매출을 프린트한다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           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또한 판매관리 화면의 영수증이 초기화된다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335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169545" y="169545"/>
            <a:ext cx="11854815" cy="6520815"/>
          </a:xfrm>
          <a:prstGeom prst="rect">
            <a:avLst/>
          </a:prstGeom>
          <a:noFill/>
          <a:ln w="12700" cap="flat" cmpd="sng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 descr="/Users/a1111/Library/Group Containers/L48J367XN4.com.infraware.PolarisOffice/EngineTemp/29484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09020" y="6219190"/>
            <a:ext cx="814705" cy="471169"/>
          </a:xfrm>
          <a:prstGeom prst="rect">
            <a:avLst/>
          </a:prstGeom>
          <a:noFill/>
        </p:spPr>
      </p:pic>
      <p:sp>
        <p:nvSpPr>
          <p:cNvPr id="164" name="직사각형 163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65" name="TextBox 164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66" name="그룹 165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167" name="TextBox 166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68" name="TextBox 167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169" name="TextBox 168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170" name="TextBox 169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171" name="TextBox 170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172" name="TextBox 171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3" name="TextBox 172"/>
          <p:cNvSpPr txBox="1">
            <a:spLocks/>
          </p:cNvSpPr>
          <p:nvPr/>
        </p:nvSpPr>
        <p:spPr>
          <a:xfrm>
            <a:off x="4295775" y="400050"/>
            <a:ext cx="3256915" cy="3994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모듈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상세</a:t>
            </a:r>
            <a:r>
              <a:rPr sz="2000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sz="2000" b="1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설계</a:t>
            </a:r>
            <a:endParaRPr lang="ko-KR" altLang="en-US" sz="2000" b="1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-52387" y="3467764"/>
            <a:ext cx="1777365" cy="637540"/>
            <a:chOff x="449507" y="2153286"/>
            <a:chExt cx="1777365" cy="637540"/>
          </a:xfrm>
        </p:grpSpPr>
        <p:sp>
          <p:nvSpPr>
            <p:cNvPr id="54" name="Rectangle 150"/>
            <p:cNvSpPr>
              <a:spLocks/>
            </p:cNvSpPr>
            <p:nvPr/>
          </p:nvSpPr>
          <p:spPr>
            <a:xfrm>
              <a:off x="991993" y="2153286"/>
              <a:ext cx="692394" cy="637540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55" name="텍스트 상자 151"/>
            <p:cNvSpPr txBox="1">
              <a:spLocks/>
            </p:cNvSpPr>
            <p:nvPr/>
          </p:nvSpPr>
          <p:spPr>
            <a:xfrm>
              <a:off x="449507" y="2284032"/>
              <a:ext cx="1777365" cy="370205"/>
            </a:xfrm>
            <a:prstGeom prst="rect">
              <a:avLst/>
            </a:prstGeom>
            <a:noFill/>
            <a:ln w="0">
              <a:noFill/>
              <a:prstDash/>
            </a:ln>
          </p:spPr>
          <p:txBody>
            <a:bodyPr vert="horz" wrap="square" lIns="89535" tIns="46355" rIns="89535" bIns="46355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APP</a:t>
              </a:r>
              <a:endPara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740291" y="3346194"/>
            <a:ext cx="1777365" cy="880682"/>
            <a:chOff x="4405593" y="2079660"/>
            <a:chExt cx="1777365" cy="880682"/>
          </a:xfrm>
        </p:grpSpPr>
        <p:sp>
          <p:nvSpPr>
            <p:cNvPr id="58" name="Rectangle 152"/>
            <p:cNvSpPr>
              <a:spLocks/>
            </p:cNvSpPr>
            <p:nvPr/>
          </p:nvSpPr>
          <p:spPr>
            <a:xfrm>
              <a:off x="4646576" y="2079660"/>
              <a:ext cx="1295400" cy="880682"/>
            </a:xfrm>
            <a:prstGeom prst="rect">
              <a:avLst/>
            </a:prstGeom>
            <a:noFill/>
            <a:ln w="12700" cap="flat" cmpd="sng">
              <a:solidFill>
                <a:schemeClr val="bg2">
                  <a:lumMod val="75000"/>
                  <a:lumOff val="0"/>
                  <a:alpha val="10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59" name="텍스트 상자 159"/>
            <p:cNvSpPr txBox="1">
              <a:spLocks/>
            </p:cNvSpPr>
            <p:nvPr/>
          </p:nvSpPr>
          <p:spPr>
            <a:xfrm>
              <a:off x="4405593" y="2334898"/>
              <a:ext cx="1777365" cy="370205"/>
            </a:xfrm>
            <a:prstGeom prst="rect">
              <a:avLst/>
            </a:prstGeom>
            <a:noFill/>
            <a:ln w="0">
              <a:noFill/>
              <a:prstDash/>
            </a:ln>
          </p:spPr>
          <p:txBody>
            <a:bodyPr vert="horz" wrap="square" lIns="89535" tIns="46355" rIns="89535" bIns="46355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POS </a:t>
              </a:r>
              <a:r>
                <a:rPr sz="1800" dirty="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단말기</a:t>
              </a:r>
              <a:endPara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2106607" y="3971637"/>
            <a:ext cx="1176020" cy="1608773"/>
            <a:chOff x="2589366" y="2558299"/>
            <a:chExt cx="1176020" cy="1608773"/>
          </a:xfrm>
        </p:grpSpPr>
        <p:sp>
          <p:nvSpPr>
            <p:cNvPr id="60" name="Rectangle 133"/>
            <p:cNvSpPr>
              <a:spLocks/>
            </p:cNvSpPr>
            <p:nvPr/>
          </p:nvSpPr>
          <p:spPr>
            <a:xfrm>
              <a:off x="2589366" y="2932632"/>
              <a:ext cx="1176020" cy="1234440"/>
            </a:xfrm>
            <a:prstGeom prst="rect">
              <a:avLst/>
            </a:prstGeom>
            <a:noFill/>
            <a:ln w="12700" cap="flat" cmpd="sng">
              <a:solidFill>
                <a:schemeClr val="bg2">
                  <a:lumMod val="75000"/>
                  <a:lumOff val="0"/>
                  <a:alpha val="10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61" name="텍스트 상자 158"/>
            <p:cNvSpPr txBox="1">
              <a:spLocks/>
            </p:cNvSpPr>
            <p:nvPr/>
          </p:nvSpPr>
          <p:spPr>
            <a:xfrm>
              <a:off x="2633057" y="2558299"/>
              <a:ext cx="1026795" cy="370614"/>
            </a:xfrm>
            <a:prstGeom prst="rect">
              <a:avLst/>
            </a:prstGeom>
            <a:noFill/>
            <a:ln w="0">
              <a:noFill/>
              <a:prstDash/>
            </a:ln>
          </p:spPr>
          <p:txBody>
            <a:bodyPr vert="horz" wrap="square" lIns="89535" tIns="46355" rIns="89535" bIns="46355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APNS</a:t>
              </a:r>
            </a:p>
          </p:txBody>
        </p:sp>
        <p:sp>
          <p:nvSpPr>
            <p:cNvPr id="62" name="Rounded Rectangle 163"/>
            <p:cNvSpPr>
              <a:spLocks/>
            </p:cNvSpPr>
            <p:nvPr/>
          </p:nvSpPr>
          <p:spPr>
            <a:xfrm>
              <a:off x="2681194" y="3266007"/>
              <a:ext cx="1013460" cy="567690"/>
            </a:xfrm>
            <a:prstGeom prst="roundRect">
              <a:avLst/>
            </a:pr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100" dirty="0" smtClean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Push Notification</a:t>
              </a:r>
              <a:endParaRPr lang="ko-KR" altLang="en-US" sz="11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72" name="타원 71">
            <a:extLst>
              <a:ext uri="{FF2B5EF4-FFF2-40B4-BE49-F238E27FC236}">
                <a16:creationId xmlns:a16="http://schemas.microsoft.com/office/drawing/2014/main" id="{F0FEC134-2322-0E43-81A6-D2C21989758B}"/>
              </a:ext>
            </a:extLst>
          </p:cNvPr>
          <p:cNvSpPr/>
          <p:nvPr/>
        </p:nvSpPr>
        <p:spPr>
          <a:xfrm>
            <a:off x="3579380" y="3043235"/>
            <a:ext cx="198052" cy="1980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kumimoji="1" lang="ko-Kore-KR" altLang="en-US" sz="1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F0FEC134-2322-0E43-81A6-D2C21989758B}"/>
              </a:ext>
            </a:extLst>
          </p:cNvPr>
          <p:cNvSpPr/>
          <p:nvPr/>
        </p:nvSpPr>
        <p:spPr>
          <a:xfrm>
            <a:off x="2708975" y="3466617"/>
            <a:ext cx="198052" cy="1980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60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kumimoji="1" lang="ko-Kore-KR" altLang="en-US" sz="1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F0FEC134-2322-0E43-81A6-D2C21989758B}"/>
              </a:ext>
            </a:extLst>
          </p:cNvPr>
          <p:cNvSpPr/>
          <p:nvPr/>
        </p:nvSpPr>
        <p:spPr>
          <a:xfrm>
            <a:off x="1649086" y="4144199"/>
            <a:ext cx="198052" cy="1980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60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kumimoji="1" lang="ko-Kore-KR" altLang="en-US" sz="1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736243" y="1628744"/>
            <a:ext cx="1777365" cy="1733821"/>
            <a:chOff x="6787179" y="1397000"/>
            <a:chExt cx="1777365" cy="1733821"/>
          </a:xfrm>
        </p:grpSpPr>
        <p:sp>
          <p:nvSpPr>
            <p:cNvPr id="76" name="Rounded Rectangle 129"/>
            <p:cNvSpPr>
              <a:spLocks/>
            </p:cNvSpPr>
            <p:nvPr/>
          </p:nvSpPr>
          <p:spPr>
            <a:xfrm>
              <a:off x="7206122" y="1993601"/>
              <a:ext cx="1021715" cy="894080"/>
            </a:xfrm>
            <a:prstGeom prst="roundRect">
              <a:avLst/>
            </a:prstGeom>
            <a:solidFill>
              <a:schemeClr val="bg1"/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10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Web Server</a:t>
              </a:r>
              <a:br>
                <a:rPr sz="110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sz="110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(AWS EC2)</a:t>
              </a:r>
              <a:endPara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77" name="Rectangle 131"/>
            <p:cNvSpPr>
              <a:spLocks/>
            </p:cNvSpPr>
            <p:nvPr/>
          </p:nvSpPr>
          <p:spPr>
            <a:xfrm>
              <a:off x="7011643" y="1750460"/>
              <a:ext cx="1410671" cy="1380361"/>
            </a:xfrm>
            <a:prstGeom prst="rect">
              <a:avLst/>
            </a:prstGeom>
            <a:noFill/>
            <a:ln w="12700" cap="flat" cmpd="sng">
              <a:solidFill>
                <a:schemeClr val="bg2">
                  <a:lumMod val="75000"/>
                  <a:lumOff val="0"/>
                  <a:alpha val="10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78" name="텍스트 상자 135"/>
            <p:cNvSpPr txBox="1">
              <a:spLocks/>
            </p:cNvSpPr>
            <p:nvPr/>
          </p:nvSpPr>
          <p:spPr>
            <a:xfrm>
              <a:off x="6787179" y="1397000"/>
              <a:ext cx="1777365" cy="370205"/>
            </a:xfrm>
            <a:prstGeom prst="rect">
              <a:avLst/>
            </a:prstGeom>
            <a:noFill/>
            <a:ln w="0">
              <a:noFill/>
              <a:prstDash/>
            </a:ln>
          </p:spPr>
          <p:txBody>
            <a:bodyPr vert="horz" wrap="square" lIns="89535" tIns="46355" rIns="89535" bIns="46355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8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Server</a:t>
              </a:r>
              <a:endPara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cxnSp>
        <p:nvCxnSpPr>
          <p:cNvPr id="63" name="Arrow 183"/>
          <p:cNvCxnSpPr>
            <a:endCxn id="76" idx="3"/>
          </p:cNvCxnSpPr>
          <p:nvPr/>
        </p:nvCxnSpPr>
        <p:spPr>
          <a:xfrm flipH="1" flipV="1">
            <a:off x="3176901" y="2672385"/>
            <a:ext cx="804373" cy="1136406"/>
          </a:xfrm>
          <a:prstGeom prst="straightConnector1">
            <a:avLst/>
          </a:prstGeom>
          <a:ln w="31750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Arrow 183"/>
          <p:cNvCxnSpPr>
            <a:stCxn id="76" idx="2"/>
            <a:endCxn id="61" idx="0"/>
          </p:cNvCxnSpPr>
          <p:nvPr/>
        </p:nvCxnSpPr>
        <p:spPr>
          <a:xfrm flipH="1">
            <a:off x="2663696" y="3119425"/>
            <a:ext cx="2348" cy="852212"/>
          </a:xfrm>
          <a:prstGeom prst="straightConnector1">
            <a:avLst/>
          </a:prstGeom>
          <a:ln w="31750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Arrow 183"/>
          <p:cNvCxnSpPr/>
          <p:nvPr/>
        </p:nvCxnSpPr>
        <p:spPr>
          <a:xfrm flipH="1" flipV="1">
            <a:off x="1198406" y="3808791"/>
            <a:ext cx="904695" cy="1189341"/>
          </a:xfrm>
          <a:prstGeom prst="straightConnector1">
            <a:avLst/>
          </a:prstGeom>
          <a:ln w="31750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텍스트 상자 152"/>
          <p:cNvSpPr txBox="1">
            <a:spLocks/>
          </p:cNvSpPr>
          <p:nvPr/>
        </p:nvSpPr>
        <p:spPr>
          <a:xfrm>
            <a:off x="5690384" y="1622662"/>
            <a:ext cx="5663416" cy="43217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200" b="1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APNS(Apple Push Notification Service)</a:t>
            </a:r>
            <a:endParaRPr lang="ko-KR" altLang="en-US" sz="2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3" name="텍스트 상자 153"/>
          <p:cNvSpPr txBox="1">
            <a:spLocks/>
          </p:cNvSpPr>
          <p:nvPr/>
        </p:nvSpPr>
        <p:spPr>
          <a:xfrm>
            <a:off x="5755780" y="2255916"/>
            <a:ext cx="5864719" cy="3863878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주문의 접수 여부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주문한 음식의 완성 여부 등을 사용자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(APP)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에게 알려줄 수 </a:t>
            </a:r>
            <a:endParaRPr lang="en-US" altLang="ko-KR" sz="1400" dirty="0" smtClea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있는 기능이다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. POS 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단말기에서 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APP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직접 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Push 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알림을 줄 수 없으므로 </a:t>
            </a:r>
            <a:endParaRPr lang="en-US" altLang="ko-KR" sz="1400" dirty="0" smtClea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애플에서 제공하는 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Push 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알림 서비스인 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APNS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사용한다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POS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단말기에서 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Web Server(EC2) 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사용자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(APP)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주문 접수 시</a:t>
            </a:r>
            <a:endParaRPr lang="en-US" altLang="ko-KR" sz="1400" dirty="0" smtClea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전송한 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Token 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값과 메시지를 포함하여 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HTTP POST 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요청을 한다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때 메시지는 주문이 접수되었습니다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혹은 주문한 음식이 나왔습니다</a:t>
            </a:r>
            <a:endParaRPr lang="en-US" altLang="ko-KR" sz="1400" dirty="0" smtClea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등이 될 수 있다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sz="1400" dirty="0" smtClea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Web Server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는 받은 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Token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값과 메시지를 이용하여 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APNS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서버와 통신한다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APNS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서버는 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Token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값과 일치하는 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APP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메시지와 함께 알림을 전송한다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 defTabSz="914400" eaLnBrk="1" latin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주의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) APNS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사용하려면 </a:t>
            </a:r>
            <a:r>
              <a:rPr lang="en-US" altLang="ko-KR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Apple Developer Program</a:t>
            </a:r>
            <a:r>
              <a:rPr lang="ko-KR" altLang="en-US" sz="1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등록돼 있어야 함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803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69545" y="169545"/>
            <a:ext cx="11853545" cy="651954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2162408" y="1357630"/>
            <a:ext cx="3119120" cy="5138420"/>
            <a:chOff x="878840" y="1345565"/>
            <a:chExt cx="3119120" cy="5138420"/>
          </a:xfrm>
        </p:grpSpPr>
        <p:grpSp>
          <p:nvGrpSpPr>
            <p:cNvPr id="2" name="그룹 1"/>
            <p:cNvGrpSpPr/>
            <p:nvPr/>
          </p:nvGrpSpPr>
          <p:grpSpPr>
            <a:xfrm>
              <a:off x="878840" y="1345565"/>
              <a:ext cx="3119120" cy="5138420"/>
              <a:chOff x="878840" y="1345565"/>
              <a:chExt cx="3119120" cy="5138420"/>
            </a:xfrm>
          </p:grpSpPr>
          <p:pic>
            <p:nvPicPr>
              <p:cNvPr id="23" name="그림 22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>
              <a:xfrm>
                <a:off x="1835150" y="1345565"/>
                <a:ext cx="1363980" cy="1363980"/>
              </a:xfrm>
              <a:prstGeom prst="rect">
                <a:avLst/>
              </a:prstGeom>
            </p:spPr>
          </p:pic>
          <p:sp>
            <p:nvSpPr>
              <p:cNvPr id="25" name="직사각형 24"/>
              <p:cNvSpPr/>
              <p:nvPr/>
            </p:nvSpPr>
            <p:spPr>
              <a:xfrm>
                <a:off x="878840" y="2884805"/>
                <a:ext cx="3061970" cy="35991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878840" y="2884805"/>
                <a:ext cx="3061970" cy="344170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Bold" panose="00000800000000000000" pitchFamily="2" charset="-127"/>
                  </a:rPr>
                  <a:t>APP</a:t>
                </a:r>
                <a:endParaRPr lang="ko-KR" altLang="en-US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935990" y="3437255"/>
                <a:ext cx="3061970" cy="1519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400" kern="13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- OS: </a:t>
                </a:r>
                <a:r>
                  <a:rPr lang="en-US" altLang="ko-KR" sz="1400" kern="1300" dirty="0">
                    <a:solidFill>
                      <a:srgbClr val="C0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iOS</a:t>
                </a:r>
                <a:r>
                  <a:rPr lang="ko-KR" altLang="en-US" sz="1400" kern="1300" dirty="0">
                    <a:solidFill>
                      <a:schemeClr val="dk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 </a:t>
                </a:r>
                <a:endParaRPr lang="en-US" altLang="ko-KR" sz="1400" kern="1300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altLang="ko-KR" sz="1050" kern="1300" dirty="0">
                    <a:solidFill>
                      <a:schemeClr val="dk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: </a:t>
                </a:r>
                <a:r>
                  <a:rPr lang="ko-KR" altLang="en-US" sz="1050" kern="1300" dirty="0">
                    <a:solidFill>
                      <a:schemeClr val="dk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시각 장애인이 가장 많이 사용하는 아이폰을 타겟</a:t>
                </a:r>
                <a:endParaRPr lang="en-US" altLang="ko-KR" sz="1400" kern="1300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400" kern="13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- IDE: </a:t>
                </a:r>
                <a:r>
                  <a:rPr lang="en-US" altLang="ko-KR" sz="1400" kern="1300" dirty="0">
                    <a:solidFill>
                      <a:srgbClr val="C0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MAC OS </a:t>
                </a:r>
                <a:r>
                  <a:rPr lang="ko-KR" altLang="en-US" sz="1400" kern="13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환경의 </a:t>
                </a:r>
                <a:r>
                  <a:rPr lang="en-US" altLang="ko-KR" sz="1400" kern="1300" dirty="0" err="1">
                    <a:solidFill>
                      <a:srgbClr val="C0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Xcode</a:t>
                </a:r>
                <a:endParaRPr lang="en-US" altLang="ko-KR" sz="1400" kern="1300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400" kern="1300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- Language: </a:t>
                </a:r>
                <a:r>
                  <a:rPr lang="en-US" altLang="ko-KR" sz="1400" kern="1300" dirty="0">
                    <a:solidFill>
                      <a:srgbClr val="C0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Swift</a:t>
                </a:r>
                <a:r>
                  <a:rPr lang="ko-KR" altLang="en-US" sz="1400" kern="1300" dirty="0">
                    <a:solidFill>
                      <a:schemeClr val="dk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 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ko-KR" sz="1400" kern="1300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endParaRPr>
              </a:p>
            </p:txBody>
          </p:sp>
        </p:grpSp>
        <p:sp>
          <p:nvSpPr>
            <p:cNvPr id="36" name="직사각형 35"/>
            <p:cNvSpPr/>
            <p:nvPr/>
          </p:nvSpPr>
          <p:spPr>
            <a:xfrm>
              <a:off x="956945" y="4967605"/>
              <a:ext cx="2989581" cy="1061829"/>
            </a:xfrm>
            <a:prstGeom prst="rect">
              <a:avLst/>
            </a:prstGeom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l" defTabSz="914400" eaLnBrk="1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1800"/>
              </a:pP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charset="0"/>
                </a:rPr>
                <a:t>-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charset="0"/>
                </a:rPr>
                <a:t>구글</a:t>
              </a:r>
              <a:r>
                <a:rPr lang="ko-KR" altLang="en-US" sz="14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charset="0"/>
                </a:rPr>
                <a:t> </a:t>
              </a:r>
              <a:r>
                <a:rPr lang="en-US" altLang="ko-KR" sz="1400" dirty="0" err="1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charset="0"/>
                </a:rPr>
                <a:t>DialogFlow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charset="0"/>
                </a:rPr>
                <a:t>를 이용한 </a:t>
              </a:r>
              <a:r>
                <a:rPr lang="ko-KR" altLang="en-US" sz="14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charset="0"/>
                </a:rPr>
                <a:t>음성안내</a:t>
              </a:r>
            </a:p>
            <a:p>
              <a:pPr marL="0" indent="0" algn="l" defTabSz="914400" eaLnBrk="1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1800"/>
              </a:pP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charset="0"/>
                </a:rPr>
                <a:t>- </a:t>
              </a:r>
              <a:r>
                <a:rPr lang="en-US" altLang="ko-KR" sz="14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charset="0"/>
                </a:rPr>
                <a:t>iBeacon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charset="0"/>
                </a:rPr>
                <a:t> </a:t>
              </a:r>
            </a:p>
            <a:p>
              <a:pPr marL="0" indent="0" algn="l" defTabSz="914400" eaLnBrk="1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sz="1800"/>
              </a:pP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charset="0"/>
                </a:rPr>
                <a:t>-</a:t>
              </a:r>
              <a:r>
                <a:rPr lang="en-US" altLang="ko-KR" sz="1400" dirty="0">
                  <a:solidFill>
                    <a:schemeClr val="bg2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charset="0"/>
                </a:rPr>
                <a:t>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charset="0"/>
                </a:rPr>
                <a:t>장애인 접근성 지침 준수</a:t>
              </a:r>
            </a:p>
          </p:txBody>
        </p:sp>
      </p:grpSp>
      <p:pic>
        <p:nvPicPr>
          <p:cNvPr id="28" name="그림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020" y="6219190"/>
            <a:ext cx="813435" cy="469900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6817224" y="1287145"/>
            <a:ext cx="3138804" cy="5208905"/>
            <a:chOff x="4689475" y="1287145"/>
            <a:chExt cx="3138804" cy="5208905"/>
          </a:xfrm>
        </p:grpSpPr>
        <p:sp>
          <p:nvSpPr>
            <p:cNvPr id="40" name="직사각형 39"/>
            <p:cNvSpPr/>
            <p:nvPr/>
          </p:nvSpPr>
          <p:spPr>
            <a:xfrm>
              <a:off x="4689475" y="2896870"/>
              <a:ext cx="3061970" cy="35991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4689475" y="2896870"/>
              <a:ext cx="3061970" cy="34417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Bold" panose="00000800000000000000" pitchFamily="2" charset="-127"/>
                </a:rPr>
                <a:t>POS</a:t>
              </a:r>
              <a:endParaRPr lang="ko-KR" altLang="en-US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Bold" panose="00000800000000000000" pitchFamily="2" charset="-127"/>
              </a:endParaRPr>
            </a:p>
          </p:txBody>
        </p:sp>
        <p:pic>
          <p:nvPicPr>
            <p:cNvPr id="24" name="그림 23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5475605" y="1287145"/>
              <a:ext cx="1489710" cy="148971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4715510" y="3463290"/>
              <a:ext cx="3061970" cy="1530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400" kern="13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- OS: </a:t>
              </a:r>
              <a:r>
                <a:rPr lang="en-US" altLang="ko-KR" sz="1400" kern="13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Window 10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ko-KR" sz="1400" kern="13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- IDE: Visual Studio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ko-KR" sz="1100" kern="13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: </a:t>
              </a:r>
              <a:r>
                <a:rPr lang="en-US" altLang="ko-KR" sz="1100" kern="13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.Net</a:t>
              </a:r>
              <a:r>
                <a:rPr lang="en-US" altLang="ko-KR" sz="1100" kern="13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 Framework, </a:t>
              </a:r>
              <a:r>
                <a:rPr lang="en-US" altLang="ko-KR" sz="1100" kern="13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Winform</a:t>
              </a:r>
              <a:r>
                <a:rPr lang="en-US" altLang="ko-KR" sz="1100" kern="13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, Native </a:t>
              </a:r>
              <a:endParaRPr lang="en-US" altLang="ko-KR" sz="1400" kern="13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endParaRPr>
            </a:p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400" kern="13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- Language: </a:t>
              </a:r>
              <a:r>
                <a:rPr lang="en-US" altLang="ko-KR" sz="1400" kern="13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C#</a:t>
              </a:r>
              <a:r>
                <a:rPr lang="ko-KR" altLang="en-US" sz="1400" kern="13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 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ko-KR" sz="1400" kern="13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709794" y="4994275"/>
              <a:ext cx="3118485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400" kern="13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- </a:t>
              </a:r>
              <a:r>
                <a:rPr lang="ko-KR" altLang="en-US" sz="1400" kern="13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주문표</a:t>
              </a:r>
              <a:r>
                <a:rPr lang="ko-KR" altLang="en-US" sz="1400" kern="13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 프린터와 연결</a:t>
              </a:r>
              <a:endParaRPr lang="en-US" altLang="ko-KR" sz="1400" kern="13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endParaRPr>
            </a:p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ko-KR" sz="1400" kern="13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endParaRPr>
            </a:p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400" kern="13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- </a:t>
              </a:r>
              <a:r>
                <a:rPr lang="ko-KR" altLang="en-US" sz="1400" kern="13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일반적인 </a:t>
              </a:r>
              <a:r>
                <a:rPr lang="en-US" altLang="ko-KR" sz="1400" kern="13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POS </a:t>
              </a:r>
              <a:r>
                <a:rPr lang="ko-KR" altLang="en-US" sz="1400" kern="13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rPr>
                <a:t>단말기와 동일하게 구현</a:t>
              </a:r>
              <a:endParaRPr lang="en-US" altLang="ko-KR" sz="1400" kern="13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endParaRPr>
            </a:p>
            <a:p>
              <a:pPr marL="28575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Tx/>
                <a:buChar char="-"/>
                <a:defRPr/>
              </a:pPr>
              <a:endParaRPr lang="en-US" altLang="ko-KR" sz="1400" kern="13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42" name="직사각형 41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6002655" y="413385"/>
            <a:ext cx="6341745" cy="369332"/>
            <a:chOff x="6002655" y="413385"/>
            <a:chExt cx="6341745" cy="369332"/>
          </a:xfrm>
        </p:grpSpPr>
        <p:sp>
          <p:nvSpPr>
            <p:cNvPr id="130" name="TextBox 129"/>
            <p:cNvSpPr txBox="1">
              <a:spLocks/>
            </p:cNvSpPr>
            <p:nvPr/>
          </p:nvSpPr>
          <p:spPr>
            <a:xfrm>
              <a:off x="6002655" y="413385"/>
              <a:ext cx="3256915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및 </a:t>
              </a:r>
              <a:r>
                <a:rPr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31" name="TextBox 130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132" name="TextBox 131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133" name="TextBox 132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134" name="TextBox 133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135" name="TextBox 134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6" name="TextBox 135"/>
          <p:cNvSpPr txBox="1">
            <a:spLocks/>
          </p:cNvSpPr>
          <p:nvPr/>
        </p:nvSpPr>
        <p:spPr>
          <a:xfrm>
            <a:off x="4295775" y="438150"/>
            <a:ext cx="3256915" cy="30777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모듈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상세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863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69545" y="169545"/>
            <a:ext cx="11853545" cy="651954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020" y="6219190"/>
            <a:ext cx="813435" cy="469900"/>
          </a:xfrm>
          <a:prstGeom prst="rect">
            <a:avLst/>
          </a:prstGeom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405" y="933767"/>
            <a:ext cx="2601595" cy="96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 Box 10"/>
          <p:cNvSpPr txBox="1">
            <a:spLocks/>
          </p:cNvSpPr>
          <p:nvPr/>
        </p:nvSpPr>
        <p:spPr>
          <a:xfrm>
            <a:off x="3699510" y="1303282"/>
            <a:ext cx="832294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algn="ctr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4"/>
              </a:rPr>
              <a:t>https://github.com/skadkwld/pos_program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직사각형 16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6002655" y="413385"/>
            <a:ext cx="6341745" cy="369332"/>
            <a:chOff x="6002655" y="413385"/>
            <a:chExt cx="6341745" cy="369332"/>
          </a:xfrm>
        </p:grpSpPr>
        <p:sp>
          <p:nvSpPr>
            <p:cNvPr id="20" name="TextBox 19"/>
            <p:cNvSpPr txBox="1">
              <a:spLocks/>
            </p:cNvSpPr>
            <p:nvPr/>
          </p:nvSpPr>
          <p:spPr>
            <a:xfrm>
              <a:off x="6002655" y="413385"/>
              <a:ext cx="3256915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및 </a:t>
              </a:r>
              <a:r>
                <a:rPr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TextBox 20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22" name="TextBox 21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23" name="TextBox 22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4295775" y="438150"/>
            <a:ext cx="3256915" cy="30777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모듈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상세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09" y="1951467"/>
            <a:ext cx="5228221" cy="4267723"/>
          </a:xfrm>
          <a:prstGeom prst="rect">
            <a:avLst/>
          </a:prstGeom>
        </p:spPr>
      </p:pic>
      <p:sp>
        <p:nvSpPr>
          <p:cNvPr id="27" name="Text Box 10">
            <a:extLst>
              <a:ext uri="{FF2B5EF4-FFF2-40B4-BE49-F238E27FC236}">
                <a16:creationId xmlns:a16="http://schemas.microsoft.com/office/drawing/2014/main" id="{796332A7-435E-4ACC-99C3-51D5BC0E9FAF}"/>
              </a:ext>
            </a:extLst>
          </p:cNvPr>
          <p:cNvSpPr txBox="1">
            <a:spLocks/>
          </p:cNvSpPr>
          <p:nvPr/>
        </p:nvSpPr>
        <p:spPr>
          <a:xfrm>
            <a:off x="-1558290" y="1334770"/>
            <a:ext cx="8322945" cy="339837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algn="ctr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6"/>
              </a:rPr>
              <a:t>https://github.com/bwrw2347/OutOfKiosk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그림 6" descr="스크린샷, 모니터이(가) 표시된 사진&#10;&#10;자동 생성된 설명">
            <a:extLst>
              <a:ext uri="{FF2B5EF4-FFF2-40B4-BE49-F238E27FC236}">
                <a16:creationId xmlns:a16="http://schemas.microsoft.com/office/drawing/2014/main" id="{8C87A3EF-5E42-4C8E-B234-31DA9BECAD8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889" y="1951467"/>
            <a:ext cx="5228221" cy="272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404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69545" y="169545"/>
            <a:ext cx="11853545" cy="651954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020" y="6219190"/>
            <a:ext cx="813435" cy="469900"/>
          </a:xfrm>
          <a:prstGeom prst="rect">
            <a:avLst/>
          </a:prstGeom>
        </p:spPr>
      </p:pic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905348"/>
              </p:ext>
            </p:extLst>
          </p:nvPr>
        </p:nvGraphicFramePr>
        <p:xfrm>
          <a:off x="2222460" y="1562002"/>
          <a:ext cx="7885104" cy="4479063"/>
        </p:xfrm>
        <a:graphic>
          <a:graphicData uri="http://schemas.openxmlformats.org/drawingml/2006/table">
            <a:tbl>
              <a:tblPr/>
              <a:tblGrid>
                <a:gridCol w="816828">
                  <a:extLst>
                    <a:ext uri="{9D8B030D-6E8A-4147-A177-3AD203B41FA5}">
                      <a16:colId xmlns:a16="http://schemas.microsoft.com/office/drawing/2014/main" val="2284796431"/>
                    </a:ext>
                  </a:extLst>
                </a:gridCol>
                <a:gridCol w="1767069">
                  <a:extLst>
                    <a:ext uri="{9D8B030D-6E8A-4147-A177-3AD203B41FA5}">
                      <a16:colId xmlns:a16="http://schemas.microsoft.com/office/drawing/2014/main" val="4150553833"/>
                    </a:ext>
                  </a:extLst>
                </a:gridCol>
                <a:gridCol w="1767069">
                  <a:extLst>
                    <a:ext uri="{9D8B030D-6E8A-4147-A177-3AD203B41FA5}">
                      <a16:colId xmlns:a16="http://schemas.microsoft.com/office/drawing/2014/main" val="2552567563"/>
                    </a:ext>
                  </a:extLst>
                </a:gridCol>
                <a:gridCol w="1767069">
                  <a:extLst>
                    <a:ext uri="{9D8B030D-6E8A-4147-A177-3AD203B41FA5}">
                      <a16:colId xmlns:a16="http://schemas.microsoft.com/office/drawing/2014/main" val="3719715089"/>
                    </a:ext>
                  </a:extLst>
                </a:gridCol>
                <a:gridCol w="1767069">
                  <a:extLst>
                    <a:ext uri="{9D8B030D-6E8A-4147-A177-3AD203B41FA5}">
                      <a16:colId xmlns:a16="http://schemas.microsoft.com/office/drawing/2014/main" val="3162568314"/>
                    </a:ext>
                  </a:extLst>
                </a:gridCol>
              </a:tblGrid>
              <a:tr h="86059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i="0" kern="0" spc="0" dirty="0" err="1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심영민</a:t>
                      </a:r>
                      <a:endParaRPr lang="ko-KR" altLang="en-US" sz="1800" b="0" i="0" kern="0" spc="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i="0" kern="0" spc="0" dirty="0" err="1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박진서</a:t>
                      </a:r>
                      <a:endParaRPr lang="ko-KR" altLang="en-US" sz="1800" b="0" i="0" kern="0" spc="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i="0" kern="0" spc="0" dirty="0" err="1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임의주</a:t>
                      </a:r>
                      <a:endParaRPr lang="ko-KR" altLang="en-US" sz="1800" b="0" i="0" kern="0" spc="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i="0" kern="0" spc="0" dirty="0" err="1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신영명</a:t>
                      </a:r>
                      <a:endParaRPr lang="ko-KR" altLang="en-US" sz="1800" b="0" i="0" kern="0" spc="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038325"/>
                  </a:ext>
                </a:extLst>
              </a:tr>
              <a:tr h="12061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자료수집</a:t>
                      </a: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· </a:t>
                      </a:r>
                      <a:r>
                        <a:rPr lang="en-US" altLang="ko-KR" sz="1100" b="0" i="0" kern="0" spc="0" dirty="0" err="1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Dialogflow</a:t>
                      </a: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,</a:t>
                      </a:r>
                      <a:r>
                        <a:rPr lang="en-US" altLang="ko-KR" sz="1100" b="0" i="0" kern="0" spc="0" baseline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 iBeacon</a:t>
                      </a:r>
                      <a:endParaRPr lang="ko-KR" altLang="en-US" sz="11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· </a:t>
                      </a:r>
                      <a:r>
                        <a:rPr lang="en-US" altLang="ko-KR" sz="1100" b="0" i="0" kern="0" spc="0" dirty="0" err="1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Dialogflow</a:t>
                      </a: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,</a:t>
                      </a:r>
                      <a:r>
                        <a:rPr lang="en-US" altLang="ko-KR" sz="1100" b="0" i="0" kern="0" spc="0" baseline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 iBeacon</a:t>
                      </a:r>
                      <a:endParaRPr lang="ko-KR" altLang="en-US" sz="11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·</a:t>
                      </a:r>
                      <a:r>
                        <a:rPr lang="en-US" altLang="ko-KR" sz="1100" b="0" i="0" kern="0" spc="0" baseline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 POS </a:t>
                      </a:r>
                      <a:r>
                        <a:rPr lang="ko-KR" altLang="en-US" sz="1100" b="0" i="0" kern="0" spc="0" baseline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단말기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 구조</a:t>
                      </a: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, UI</a:t>
                      </a: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·</a:t>
                      </a:r>
                      <a:r>
                        <a:rPr lang="en-US" altLang="ko-KR" sz="1100" b="0" i="0" kern="0" spc="0" baseline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 POS </a:t>
                      </a:r>
                      <a:r>
                        <a:rPr lang="ko-KR" altLang="en-US" sz="1100" b="0" i="0" kern="0" spc="0" baseline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단말기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 구조</a:t>
                      </a: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, UI</a:t>
                      </a: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322577"/>
                  </a:ext>
                </a:extLst>
              </a:tr>
              <a:tr h="90639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설   계</a:t>
                      </a: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· iOS</a:t>
                      </a:r>
                      <a:r>
                        <a:rPr lang="en-US" altLang="ko-KR" sz="1100" b="0" i="0" kern="0" spc="0" baseline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 APP</a:t>
                      </a:r>
                      <a:endParaRPr lang="ko-KR" altLang="en-US" sz="11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· iOS</a:t>
                      </a:r>
                      <a:r>
                        <a:rPr lang="en-US" altLang="ko-KR" sz="1100" b="0" i="0" kern="0" spc="0" baseline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 APP</a:t>
                      </a:r>
                      <a:endParaRPr lang="ko-KR" altLang="en-US" sz="11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· POS</a:t>
                      </a:r>
                      <a:r>
                        <a:rPr lang="en-US" altLang="ko-KR" sz="1100" b="0" i="0" kern="0" spc="0" baseline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1100" b="0" i="0" kern="0" spc="0" baseline="0" dirty="0" smtClean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단말기</a:t>
                      </a:r>
                      <a:endParaRPr lang="en-US" altLang="ko-KR" sz="1100" b="0" i="0" kern="0" spc="0" baseline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· POS</a:t>
                      </a:r>
                      <a:r>
                        <a:rPr lang="en-US" altLang="ko-KR" sz="1100" b="0" i="0" kern="0" spc="0" baseline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1100" b="0" i="0" kern="0" spc="0" baseline="0" dirty="0" smtClean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단말기</a:t>
                      </a:r>
                      <a:endParaRPr lang="en-US" altLang="ko-KR" sz="1100" b="0" i="0" kern="0" spc="0" baseline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897983"/>
                  </a:ext>
                </a:extLst>
              </a:tr>
              <a:tr h="15059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테 </a:t>
                      </a:r>
                      <a:r>
                        <a:rPr lang="ko-KR" altLang="en-US" sz="1200" b="0" i="0" kern="0" spc="0" dirty="0" err="1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스</a:t>
                      </a:r>
                      <a:r>
                        <a:rPr lang="ko-KR" altLang="en-US" sz="12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1200" b="0" i="0" kern="0" spc="0" dirty="0" err="1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트</a:t>
                      </a:r>
                      <a:endParaRPr lang="ko-KR" altLang="en-US" sz="12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· 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앱 작동 </a:t>
                      </a: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/ 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연결 테스트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11250" algn="l"/>
                        </a:tabLs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· 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앱 </a:t>
                      </a:r>
                      <a:r>
                        <a:rPr lang="en-US" altLang="ko-KR" sz="1100" b="0" i="0" kern="0" spc="0" dirty="0" smtClean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- </a:t>
                      </a:r>
                      <a:r>
                        <a:rPr lang="ko-KR" altLang="en-US" sz="1100" b="0" i="0" kern="0" spc="0" dirty="0" err="1" smtClean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키오스크</a:t>
                      </a:r>
                      <a:r>
                        <a:rPr lang="ko-KR" altLang="en-US" sz="1100" b="0" i="0" kern="0" spc="0" dirty="0" smtClean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– POS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 연결 </a:t>
                      </a: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/ 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제어 테스트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· 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통합 테스트 </a:t>
                      </a: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/ 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KoPubWorld돋움체 Medium" panose="00000600000000000000" pitchFamily="2" charset="-127"/>
                        </a:rPr>
                        <a:t>유지 보수</a:t>
                      </a:r>
                    </a:p>
                  </a:txBody>
                  <a:tcPr marL="57004" marR="57004" marT="15760" marB="1576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55734"/>
                  </a:ext>
                </a:extLst>
              </a:tr>
            </a:tbl>
          </a:graphicData>
        </a:graphic>
      </p:graphicFrame>
      <p:sp>
        <p:nvSpPr>
          <p:cNvPr id="16" name="직사각형 15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6002655" y="394335"/>
            <a:ext cx="6341745" cy="369332"/>
            <a:chOff x="6002655" y="394335"/>
            <a:chExt cx="6341745" cy="369332"/>
          </a:xfrm>
        </p:grpSpPr>
        <p:sp>
          <p:nvSpPr>
            <p:cNvPr id="19" name="TextBox 18"/>
            <p:cNvSpPr txBox="1">
              <a:spLocks/>
            </p:cNvSpPr>
            <p:nvPr/>
          </p:nvSpPr>
          <p:spPr>
            <a:xfrm>
              <a:off x="6002655" y="441960"/>
              <a:ext cx="3256915" cy="30777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및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0" name="TextBox 19"/>
            <p:cNvSpPr txBox="1">
              <a:spLocks/>
            </p:cNvSpPr>
            <p:nvPr/>
          </p:nvSpPr>
          <p:spPr>
            <a:xfrm>
              <a:off x="8249920" y="394335"/>
              <a:ext cx="162560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b="1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업무 분담</a:t>
              </a:r>
            </a:p>
          </p:txBody>
        </p:sp>
        <p:sp>
          <p:nvSpPr>
            <p:cNvPr id="21" name="TextBox 20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22" name="TextBox 21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4295775" y="438150"/>
            <a:ext cx="3256915" cy="30777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모듈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상세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753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01A938A-73E1-434D-AE62-092D2EF77F0F}"/>
              </a:ext>
            </a:extLst>
          </p:cNvPr>
          <p:cNvSpPr/>
          <p:nvPr/>
        </p:nvSpPr>
        <p:spPr>
          <a:xfrm>
            <a:off x="169545" y="169545"/>
            <a:ext cx="11853545" cy="651954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92E62C9-D8C5-4D04-8BF6-61A377C54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950815"/>
              </p:ext>
            </p:extLst>
          </p:nvPr>
        </p:nvGraphicFramePr>
        <p:xfrm>
          <a:off x="1709382" y="1523551"/>
          <a:ext cx="9035844" cy="4519390"/>
        </p:xfrm>
        <a:graphic>
          <a:graphicData uri="http://schemas.openxmlformats.org/drawingml/2006/table">
            <a:tbl>
              <a:tblPr/>
              <a:tblGrid>
                <a:gridCol w="2123278">
                  <a:extLst>
                    <a:ext uri="{9D8B030D-6E8A-4147-A177-3AD203B41FA5}">
                      <a16:colId xmlns:a16="http://schemas.microsoft.com/office/drawing/2014/main" val="2442347263"/>
                    </a:ext>
                  </a:extLst>
                </a:gridCol>
                <a:gridCol w="2454827">
                  <a:extLst>
                    <a:ext uri="{9D8B030D-6E8A-4147-A177-3AD203B41FA5}">
                      <a16:colId xmlns:a16="http://schemas.microsoft.com/office/drawing/2014/main" val="2721090387"/>
                    </a:ext>
                  </a:extLst>
                </a:gridCol>
                <a:gridCol w="405249">
                  <a:extLst>
                    <a:ext uri="{9D8B030D-6E8A-4147-A177-3AD203B41FA5}">
                      <a16:colId xmlns:a16="http://schemas.microsoft.com/office/drawing/2014/main" val="3204736223"/>
                    </a:ext>
                  </a:extLst>
                </a:gridCol>
                <a:gridCol w="405249">
                  <a:extLst>
                    <a:ext uri="{9D8B030D-6E8A-4147-A177-3AD203B41FA5}">
                      <a16:colId xmlns:a16="http://schemas.microsoft.com/office/drawing/2014/main" val="1283603655"/>
                    </a:ext>
                  </a:extLst>
                </a:gridCol>
                <a:gridCol w="405249">
                  <a:extLst>
                    <a:ext uri="{9D8B030D-6E8A-4147-A177-3AD203B41FA5}">
                      <a16:colId xmlns:a16="http://schemas.microsoft.com/office/drawing/2014/main" val="1674419453"/>
                    </a:ext>
                  </a:extLst>
                </a:gridCol>
                <a:gridCol w="405249">
                  <a:extLst>
                    <a:ext uri="{9D8B030D-6E8A-4147-A177-3AD203B41FA5}">
                      <a16:colId xmlns:a16="http://schemas.microsoft.com/office/drawing/2014/main" val="2355639261"/>
                    </a:ext>
                  </a:extLst>
                </a:gridCol>
                <a:gridCol w="405249">
                  <a:extLst>
                    <a:ext uri="{9D8B030D-6E8A-4147-A177-3AD203B41FA5}">
                      <a16:colId xmlns:a16="http://schemas.microsoft.com/office/drawing/2014/main" val="1286090952"/>
                    </a:ext>
                  </a:extLst>
                </a:gridCol>
                <a:gridCol w="405249">
                  <a:extLst>
                    <a:ext uri="{9D8B030D-6E8A-4147-A177-3AD203B41FA5}">
                      <a16:colId xmlns:a16="http://schemas.microsoft.com/office/drawing/2014/main" val="1600765243"/>
                    </a:ext>
                  </a:extLst>
                </a:gridCol>
                <a:gridCol w="405249">
                  <a:extLst>
                    <a:ext uri="{9D8B030D-6E8A-4147-A177-3AD203B41FA5}">
                      <a16:colId xmlns:a16="http://schemas.microsoft.com/office/drawing/2014/main" val="1142307674"/>
                    </a:ext>
                  </a:extLst>
                </a:gridCol>
                <a:gridCol w="405249">
                  <a:extLst>
                    <a:ext uri="{9D8B030D-6E8A-4147-A177-3AD203B41FA5}">
                      <a16:colId xmlns:a16="http://schemas.microsoft.com/office/drawing/2014/main" val="1795388202"/>
                    </a:ext>
                  </a:extLst>
                </a:gridCol>
                <a:gridCol w="405249">
                  <a:extLst>
                    <a:ext uri="{9D8B030D-6E8A-4147-A177-3AD203B41FA5}">
                      <a16:colId xmlns:a16="http://schemas.microsoft.com/office/drawing/2014/main" val="181762273"/>
                    </a:ext>
                  </a:extLst>
                </a:gridCol>
                <a:gridCol w="405249">
                  <a:extLst>
                    <a:ext uri="{9D8B030D-6E8A-4147-A177-3AD203B41FA5}">
                      <a16:colId xmlns:a16="http://schemas.microsoft.com/office/drawing/2014/main" val="3198565025"/>
                    </a:ext>
                  </a:extLst>
                </a:gridCol>
                <a:gridCol w="405249">
                  <a:extLst>
                    <a:ext uri="{9D8B030D-6E8A-4147-A177-3AD203B41FA5}">
                      <a16:colId xmlns:a16="http://schemas.microsoft.com/office/drawing/2014/main" val="3094955678"/>
                    </a:ext>
                  </a:extLst>
                </a:gridCol>
              </a:tblGrid>
              <a:tr h="5646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항 목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추 진 사 항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-15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12</a:t>
                      </a:r>
                      <a:r>
                        <a:rPr lang="ko-KR" altLang="en-US" sz="1100" b="0" i="0" kern="0" spc="-15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6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8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9</a:t>
                      </a: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kern="0" spc="-15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</a:t>
                      </a:r>
                      <a:r>
                        <a:rPr lang="ko-KR" altLang="en-US" sz="1100" b="0" i="0" kern="0" spc="-15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279776"/>
                  </a:ext>
                </a:extLst>
              </a:tr>
              <a:tr h="5646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졸업작품 주제 선정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및 분석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졸업작품 주제 선정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171450" marR="0" lvl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요구사항 분석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736062"/>
                  </a:ext>
                </a:extLst>
              </a:tr>
              <a:tr h="5646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시스템설계 및 상세설계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시스템설계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171450" marR="0" lvl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상세설계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3197502"/>
                  </a:ext>
                </a:extLst>
              </a:tr>
              <a:tr h="5646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구현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코딩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200908"/>
                  </a:ext>
                </a:extLst>
              </a:tr>
              <a:tr h="5646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시험 및 데모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전체 시스템 점검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171450" marR="0" lvl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오류 검출 및 보완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496997"/>
                  </a:ext>
                </a:extLst>
              </a:tr>
              <a:tr h="5646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완성 및 발표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졸업작품 완성 및 보고서 작성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171450" marR="0" lvl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발표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0672220"/>
                  </a:ext>
                </a:extLst>
              </a:tr>
              <a:tr h="5646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산업기술대전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산업기술대전 참가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094890"/>
                  </a:ext>
                </a:extLst>
              </a:tr>
              <a:tr h="5639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최종 보고서 작성 및 완성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졸업작품 최종보고서 작성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171450" marR="0" lvl="0" indent="-1714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0" spc="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데모 동영상 촬영</a:t>
                      </a: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kern="0" spc="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56725" marR="56725" marT="15683" marB="156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497562"/>
                  </a:ext>
                </a:extLst>
              </a:tr>
            </a:tbl>
          </a:graphicData>
        </a:graphic>
      </p:graphicFrame>
      <p:sp>
        <p:nvSpPr>
          <p:cNvPr id="7" name="_x411688832">
            <a:extLst>
              <a:ext uri="{FF2B5EF4-FFF2-40B4-BE49-F238E27FC236}">
                <a16:creationId xmlns:a16="http://schemas.microsoft.com/office/drawing/2014/main" id="{28B0C151-B45E-4920-A77D-8EB92AE11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6660" y="2368550"/>
            <a:ext cx="398780" cy="0"/>
          </a:xfrm>
          <a:prstGeom prst="line">
            <a:avLst/>
          </a:prstGeom>
          <a:noFill/>
          <a:ln w="143891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_x411690488">
            <a:extLst>
              <a:ext uri="{FF2B5EF4-FFF2-40B4-BE49-F238E27FC236}">
                <a16:creationId xmlns:a16="http://schemas.microsoft.com/office/drawing/2014/main" id="{9BEAEF8D-7144-4A14-B180-AF662BF6F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5095" y="2950845"/>
            <a:ext cx="437515" cy="0"/>
          </a:xfrm>
          <a:prstGeom prst="line">
            <a:avLst/>
          </a:prstGeom>
          <a:noFill/>
          <a:ln w="143891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_x411690272">
            <a:extLst>
              <a:ext uri="{FF2B5EF4-FFF2-40B4-BE49-F238E27FC236}">
                <a16:creationId xmlns:a16="http://schemas.microsoft.com/office/drawing/2014/main" id="{9A5383B3-5637-4E40-A235-64D680908D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22535" y="5202555"/>
            <a:ext cx="211455" cy="0"/>
          </a:xfrm>
          <a:prstGeom prst="line">
            <a:avLst/>
          </a:prstGeom>
          <a:noFill/>
          <a:ln w="143891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_x411689192">
            <a:extLst>
              <a:ext uri="{FF2B5EF4-FFF2-40B4-BE49-F238E27FC236}">
                <a16:creationId xmlns:a16="http://schemas.microsoft.com/office/drawing/2014/main" id="{C5198238-C4EA-4FE3-8CEE-67D09AD33D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6710" y="3506470"/>
            <a:ext cx="2005330" cy="0"/>
          </a:xfrm>
          <a:prstGeom prst="line">
            <a:avLst/>
          </a:prstGeom>
          <a:noFill/>
          <a:ln w="143891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_x411689768">
            <a:extLst>
              <a:ext uri="{FF2B5EF4-FFF2-40B4-BE49-F238E27FC236}">
                <a16:creationId xmlns:a16="http://schemas.microsoft.com/office/drawing/2014/main" id="{573AAA30-22EB-4438-B004-F1A7820E8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7705" y="4074795"/>
            <a:ext cx="1210310" cy="0"/>
          </a:xfrm>
          <a:prstGeom prst="line">
            <a:avLst/>
          </a:prstGeom>
          <a:noFill/>
          <a:ln w="143891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_x411689912">
            <a:extLst>
              <a:ext uri="{FF2B5EF4-FFF2-40B4-BE49-F238E27FC236}">
                <a16:creationId xmlns:a16="http://schemas.microsoft.com/office/drawing/2014/main" id="{91EE3BB4-B114-4343-9B5E-94A14211E2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33990" y="5782310"/>
            <a:ext cx="411480" cy="0"/>
          </a:xfrm>
          <a:prstGeom prst="line">
            <a:avLst/>
          </a:prstGeom>
          <a:noFill/>
          <a:ln w="143891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_x411688544">
            <a:extLst>
              <a:ext uri="{FF2B5EF4-FFF2-40B4-BE49-F238E27FC236}">
                <a16:creationId xmlns:a16="http://schemas.microsoft.com/office/drawing/2014/main" id="{3411DFCE-2093-4AA5-A091-865F56A2CCD4}"/>
              </a:ext>
            </a:extLst>
          </p:cNvPr>
          <p:cNvSpPr>
            <a:spLocks noChangeShapeType="1"/>
          </p:cNvSpPr>
          <p:nvPr/>
        </p:nvSpPr>
        <p:spPr bwMode="auto">
          <a:xfrm>
            <a:off x="9518015" y="4645025"/>
            <a:ext cx="604520" cy="0"/>
          </a:xfrm>
          <a:prstGeom prst="line">
            <a:avLst/>
          </a:prstGeom>
          <a:noFill/>
          <a:ln w="143891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직사각형 13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6002655" y="441960"/>
            <a:ext cx="6341745" cy="307340"/>
            <a:chOff x="6002655" y="441960"/>
            <a:chExt cx="6341745" cy="307340"/>
          </a:xfrm>
        </p:grpSpPr>
        <p:sp>
          <p:nvSpPr>
            <p:cNvPr id="130" name="TextBox 129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및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31" name="TextBox 130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132" name="TextBox 131"/>
            <p:cNvSpPr txBox="1">
              <a:spLocks/>
            </p:cNvSpPr>
            <p:nvPr/>
          </p:nvSpPr>
          <p:spPr>
            <a:xfrm>
              <a:off x="10271125" y="441960"/>
              <a:ext cx="207327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133" name="TextBox 132"/>
          <p:cNvSpPr txBox="1">
            <a:spLocks/>
          </p:cNvSpPr>
          <p:nvPr/>
        </p:nvSpPr>
        <p:spPr>
          <a:xfrm>
            <a:off x="9349299" y="413967"/>
            <a:ext cx="1800860" cy="36933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b="1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수행 일정</a:t>
            </a:r>
          </a:p>
        </p:txBody>
      </p:sp>
      <p:sp>
        <p:nvSpPr>
          <p:cNvPr id="134" name="TextBox 133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135" name="TextBox 134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6" name="TextBox 135"/>
          <p:cNvSpPr txBox="1">
            <a:spLocks/>
          </p:cNvSpPr>
          <p:nvPr/>
        </p:nvSpPr>
        <p:spPr>
          <a:xfrm>
            <a:off x="4295775" y="437709"/>
            <a:ext cx="3256915" cy="30777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모듈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상세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02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69545" y="169545"/>
            <a:ext cx="11853545" cy="651954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020" y="6219190"/>
            <a:ext cx="813435" cy="469900"/>
          </a:xfrm>
          <a:prstGeom prst="rect">
            <a:avLst/>
          </a:prstGeom>
        </p:spPr>
      </p:pic>
      <p:sp>
        <p:nvSpPr>
          <p:cNvPr id="13" name="Text Box 9"/>
          <p:cNvSpPr txBox="1">
            <a:spLocks/>
          </p:cNvSpPr>
          <p:nvPr/>
        </p:nvSpPr>
        <p:spPr>
          <a:xfrm>
            <a:off x="1735455" y="1114425"/>
            <a:ext cx="8720455" cy="5678478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C#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https://dotnet.microsoft.com/apps/aspnet/web-apps/blazor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sz="1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mysql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https://www.mysql.com/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swift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  <a:hlinkClick r:id="rId4"/>
              </a:rPr>
              <a:t>https://swift.org/</a:t>
            </a:r>
            <a:endParaRPr 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Cocoa pods</a:t>
            </a:r>
          </a:p>
          <a:p>
            <a:pPr>
              <a:lnSpc>
                <a:spcPct val="150000"/>
              </a:lnSpc>
              <a:defRPr sz="1800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5"/>
              </a:rPr>
              <a:t>https://cocoapods.org/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  <a:defRPr sz="1800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iBeacon</a:t>
            </a:r>
          </a:p>
          <a:p>
            <a:pPr>
              <a:lnSpc>
                <a:spcPct val="150000"/>
              </a:lnSpc>
              <a:defRPr sz="1800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6"/>
              </a:rPr>
              <a:t>https://developer.apple.com/ibeacon/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sz="1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참조</a:t>
            </a: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</a:t>
            </a:r>
            <a:r>
              <a:rPr sz="1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논문</a:t>
            </a: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및 </a:t>
            </a:r>
            <a:r>
              <a:rPr sz="1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자료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- Kiosk Development story </a:t>
            </a:r>
            <a:r>
              <a:rPr sz="1600" dirty="0">
                <a:solidFill>
                  <a:srgbClr val="0563C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  <a:hlinkClick r:id="rId7"/>
              </a:rPr>
              <a:t>https://brant-hwang.github.io/blog-images/2017/01/KIOSK.pdf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- An Analysis of Methods Used in Kiosk User Interface Development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 marL="0" indent="0" algn="l" defTabSz="91440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</p:txBody>
      </p:sp>
      <p:sp>
        <p:nvSpPr>
          <p:cNvPr id="29" name="직사각형 28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6002655" y="404636"/>
            <a:ext cx="6341745" cy="369332"/>
            <a:chOff x="6002655" y="404636"/>
            <a:chExt cx="6341745" cy="369332"/>
          </a:xfrm>
        </p:grpSpPr>
        <p:sp>
          <p:nvSpPr>
            <p:cNvPr id="130" name="TextBox 129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31" name="TextBox 130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132" name="TextBox 131"/>
            <p:cNvSpPr txBox="1">
              <a:spLocks/>
            </p:cNvSpPr>
            <p:nvPr/>
          </p:nvSpPr>
          <p:spPr>
            <a:xfrm>
              <a:off x="10271125" y="404636"/>
              <a:ext cx="2073275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b="1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133" name="TextBox 132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134" name="TextBox 133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135" name="TextBox 134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4295775" y="437709"/>
            <a:ext cx="3256915" cy="30777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모듈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상세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9781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69545" y="169545"/>
            <a:ext cx="11853545" cy="651954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020" y="6219190"/>
            <a:ext cx="813435" cy="469900"/>
          </a:xfrm>
          <a:prstGeom prst="rect">
            <a:avLst/>
          </a:prstGeom>
        </p:spPr>
      </p:pic>
      <p:sp>
        <p:nvSpPr>
          <p:cNvPr id="12" name="Text Box 9"/>
          <p:cNvSpPr txBox="1">
            <a:spLocks/>
          </p:cNvSpPr>
          <p:nvPr/>
        </p:nvSpPr>
        <p:spPr>
          <a:xfrm>
            <a:off x="1735455" y="1616075"/>
            <a:ext cx="8720455" cy="427799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>
              <a:lnSpc>
                <a:spcPct val="140000"/>
              </a:lnSpc>
              <a:defRPr sz="1800"/>
            </a:pPr>
            <a:r>
              <a:rPr lang="en-US" altLang="ko-KR" sz="1600" dirty="0">
                <a:solidFill>
                  <a:srgbClr val="11111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sz="1600" dirty="0">
                <a:solidFill>
                  <a:srgbClr val="11111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음성 인식 및 </a:t>
            </a:r>
            <a:r>
              <a:rPr lang="ko-KR" altLang="en-US" sz="1600" dirty="0" err="1">
                <a:solidFill>
                  <a:srgbClr val="11111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유니버셜</a:t>
            </a:r>
            <a:r>
              <a:rPr lang="ko-KR" altLang="en-US" sz="1600" dirty="0">
                <a:solidFill>
                  <a:srgbClr val="11111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 디자인 </a:t>
            </a:r>
            <a:r>
              <a:rPr lang="en-US" altLang="ko-KR" sz="1600" dirty="0">
                <a:solidFill>
                  <a:srgbClr val="11111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UI/UX</a:t>
            </a:r>
            <a:r>
              <a:rPr lang="ko-KR" altLang="en-US" sz="1600" dirty="0">
                <a:solidFill>
                  <a:srgbClr val="11111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를 활용한 시각장애인을 위한 쇼핑 어플리케이션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40000"/>
              </a:lnSpc>
              <a:defRPr sz="1800"/>
            </a:pPr>
            <a:r>
              <a:rPr lang="en-US" altLang="ko-KR" sz="1600" dirty="0">
                <a:solidFill>
                  <a:srgbClr val="0563C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  <a:hlinkClick r:id="rId4"/>
              </a:rPr>
              <a:t>http://www.dbp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  <a:hlinkClick r:id="rId4"/>
              </a:rPr>
              <a:t>ia.co.kr.</a:t>
            </a:r>
            <a:r>
              <a:rPr lang="en-US" altLang="ko-KR" sz="1600" dirty="0">
                <a:solidFill>
                  <a:srgbClr val="0563C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  <a:hlinkClick r:id="rId4"/>
              </a:rPr>
              <a:t>library.kpu.ac.kr:8010/pdf/pdfView.do?nodeId=NODE07614251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40000"/>
              </a:lnSpc>
              <a:defRPr sz="1800"/>
            </a:pP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40000"/>
              </a:lnSpc>
              <a:defRPr sz="1800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모바일 간편결제시스템의 유형별 보안 결제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UI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사용자 인식 비교 분석</a:t>
            </a:r>
            <a:endParaRPr lang="ko-KR" altLang="en-US" sz="16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40000"/>
              </a:lnSpc>
              <a:defRPr sz="1800"/>
            </a:pPr>
            <a:r>
              <a:rPr lang="en-US" altLang="ko-KR" sz="1600" dirty="0">
                <a:solidFill>
                  <a:srgbClr val="0563C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  <a:hlinkClick r:id="rId5"/>
              </a:rPr>
              <a:t>http://www.dbpia.co.kr.library.kpu.ac.kr:8010/pdf/pdfView.do?nodeId=NODE07401446</a:t>
            </a:r>
            <a:endParaRPr lang="en-US" altLang="ko-KR" sz="1600" dirty="0">
              <a:solidFill>
                <a:srgbClr val="0563C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40000"/>
              </a:lnSpc>
              <a:defRPr sz="1800"/>
            </a:pPr>
            <a:endParaRPr lang="en-US" altLang="ko-KR" sz="1600" dirty="0">
              <a:solidFill>
                <a:srgbClr val="0563C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40000"/>
              </a:lnSpc>
              <a:defRPr sz="1800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장애인 모바일 어플리케이션 접근성 지침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40000"/>
              </a:lnSpc>
              <a:defRPr sz="1800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6"/>
              </a:rPr>
              <a:t>https://www.wah.or.kr:444/board/boardView.asp?page=1&amp;brd_sn=4&amp;brd_idx=1013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>
              <a:lnSpc>
                <a:spcPct val="140000"/>
              </a:lnSpc>
              <a:defRPr sz="1800"/>
            </a:pP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  <a:defRPr sz="1800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-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무선 랜 단말기를 사용한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Personal Kiosk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</a:rPr>
              <a:t>서비스 활용 방안</a:t>
            </a:r>
          </a:p>
          <a:p>
            <a:pPr>
              <a:lnSpc>
                <a:spcPct val="150000"/>
              </a:lnSpc>
              <a:defRPr sz="1800"/>
            </a:pPr>
            <a:r>
              <a:rPr lang="en-US" altLang="ko-KR" sz="1600" dirty="0">
                <a:solidFill>
                  <a:srgbClr val="0563C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KoPubWorld돋움체 Medium" panose="00000600000000000000" pitchFamily="2" charset="-127"/>
                <a:hlinkClick r:id="rId7"/>
              </a:rPr>
              <a:t>https://www.dbpia.co.kr/pdf/pdfView.do?nodeId=NODE02181523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  <a:p>
            <a:pPr>
              <a:lnSpc>
                <a:spcPct val="140000"/>
              </a:lnSpc>
              <a:defRPr sz="1800"/>
            </a:pP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KoPubWorld돋움체 Medium" panose="00000600000000000000" pitchFamily="2" charset="-127"/>
            </a:endParaRPr>
          </a:p>
        </p:txBody>
      </p:sp>
      <p:sp>
        <p:nvSpPr>
          <p:cNvPr id="15" name="직사각형 14"/>
          <p:cNvSpPr>
            <a:spLocks/>
          </p:cNvSpPr>
          <p:nvPr/>
        </p:nvSpPr>
        <p:spPr>
          <a:xfrm>
            <a:off x="169545" y="275590"/>
            <a:ext cx="11854815" cy="64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1431290" y="447040"/>
            <a:ext cx="250698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  <a:lumOff val="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  <a:lumOff val="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6002655" y="404636"/>
            <a:ext cx="6341745" cy="369332"/>
            <a:chOff x="6002655" y="404636"/>
            <a:chExt cx="6341745" cy="369332"/>
          </a:xfrm>
        </p:grpSpPr>
        <p:sp>
          <p:nvSpPr>
            <p:cNvPr id="18" name="TextBox 17"/>
            <p:cNvSpPr txBox="1">
              <a:spLocks/>
            </p:cNvSpPr>
            <p:nvPr/>
          </p:nvSpPr>
          <p:spPr>
            <a:xfrm>
              <a:off x="6002655" y="441960"/>
              <a:ext cx="3256915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개발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</a:t>
              </a:r>
              <a:r>
                <a:rPr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sz="1400" dirty="0" err="1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rgbClr val="80808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방법</a:t>
              </a:r>
              <a:endPara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TextBox 18"/>
            <p:cNvSpPr txBox="1">
              <a:spLocks/>
            </p:cNvSpPr>
            <p:nvPr/>
          </p:nvSpPr>
          <p:spPr>
            <a:xfrm>
              <a:off x="8249920" y="441960"/>
              <a:ext cx="162560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>
                      <a:lumMod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분담</a:t>
              </a:r>
            </a:p>
          </p:txBody>
        </p:sp>
        <p:sp>
          <p:nvSpPr>
            <p:cNvPr id="20" name="TextBox 19"/>
            <p:cNvSpPr txBox="1">
              <a:spLocks/>
            </p:cNvSpPr>
            <p:nvPr/>
          </p:nvSpPr>
          <p:spPr>
            <a:xfrm>
              <a:off x="10271125" y="404636"/>
              <a:ext cx="2073275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defTabSz="91440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ko-KR" altLang="en-US" b="1" dirty="0">
                  <a:ln w="9525" cap="flat" cmpd="sng">
                    <a:solidFill>
                      <a:schemeClr val="bg1">
                        <a:alpha val="48627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참고문헌</a:t>
              </a:r>
            </a:p>
          </p:txBody>
        </p:sp>
      </p:grpSp>
      <p:sp>
        <p:nvSpPr>
          <p:cNvPr id="21" name="TextBox 20"/>
          <p:cNvSpPr txBox="1">
            <a:spLocks/>
          </p:cNvSpPr>
          <p:nvPr/>
        </p:nvSpPr>
        <p:spPr>
          <a:xfrm>
            <a:off x="9358630" y="441960"/>
            <a:ext cx="180086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수행 일정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27305" y="445770"/>
            <a:ext cx="2159000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종합설계 개요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2677160" y="441960"/>
            <a:ext cx="3256915" cy="307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rgbClr val="8080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4295775" y="437709"/>
            <a:ext cx="3256915" cy="30777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모듈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상세</a:t>
            </a:r>
            <a:r>
              <a:rPr sz="1400" dirty="0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1400" dirty="0" err="1">
                <a:ln w="9525" cap="flat" cmpd="sng">
                  <a:solidFill>
                    <a:schemeClr val="bg1">
                      <a:alpha val="48627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설계</a:t>
            </a:r>
            <a:endParaRPr lang="ko-KR" altLang="en-US" sz="1400" dirty="0">
              <a:ln w="9525" cap="flat" cmpd="sng">
                <a:solidFill>
                  <a:schemeClr val="bg1">
                    <a:alpha val="48627"/>
                  </a:schemeClr>
                </a:solidFill>
                <a:prstDash val="solid"/>
              </a:ln>
              <a:solidFill>
                <a:schemeClr val="bg1">
                  <a:lumMod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597427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2445</ep:Words>
  <ep:PresentationFormat>와이드스크린</ep:PresentationFormat>
  <ep:Paragraphs>619</ep:Paragraphs>
  <ep:Slides>27</ep:Slides>
  <ep:Notes>22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ep:HeadingPairs>
  <ep:TitlesOfParts>
    <vt:vector size="28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</vt:vector>
  </ep:TitlesOfParts>
  <ep:HyperlinkBase/>
  <ep:Application>Hancom Office Hanshow 2014</ep:Application>
  <ep:AppVersion>0901.0000.01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 DEMO HUB</dc:creator>
  <cp:lastModifiedBy>gijeo</cp:lastModifiedBy>
  <dcterms:modified xsi:type="dcterms:W3CDTF">2025-06-07T15:02:52.181</dcterms:modified>
  <cp:revision>68</cp:revision>
  <dc:title>PowerPoint 프레젠테이션</dc:title>
</cp:coreProperties>
</file>