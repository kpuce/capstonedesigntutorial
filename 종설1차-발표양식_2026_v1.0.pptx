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95" r:id="rId2"/>
    <p:sldId id="379" r:id="rId3"/>
    <p:sldId id="382" r:id="rId4"/>
    <p:sldId id="277" r:id="rId5"/>
    <p:sldId id="367" r:id="rId6"/>
    <p:sldId id="356" r:id="rId7"/>
    <p:sldId id="374" r:id="rId8"/>
    <p:sldId id="373" r:id="rId9"/>
    <p:sldId id="375" r:id="rId10"/>
    <p:sldId id="372" r:id="rId11"/>
    <p:sldId id="376" r:id="rId12"/>
    <p:sldId id="369" r:id="rId13"/>
    <p:sldId id="358" r:id="rId14"/>
    <p:sldId id="370" r:id="rId15"/>
    <p:sldId id="357" r:id="rId16"/>
    <p:sldId id="366" r:id="rId17"/>
    <p:sldId id="365" r:id="rId18"/>
    <p:sldId id="371" r:id="rId19"/>
    <p:sldId id="362" r:id="rId20"/>
    <p:sldId id="363" r:id="rId21"/>
    <p:sldId id="364" r:id="rId22"/>
    <p:sldId id="355" r:id="rId23"/>
    <p:sldId id="380" r:id="rId24"/>
    <p:sldId id="383" r:id="rId25"/>
    <p:sldId id="377" r:id="rId26"/>
    <p:sldId id="378" r:id="rId27"/>
    <p:sldId id="381" r:id="rId28"/>
  </p:sldIdLst>
  <p:sldSz cx="9144000" cy="6858000" type="screen4x3"/>
  <p:notesSz cx="6802438" cy="99345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2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2795">
          <p15:clr>
            <a:srgbClr val="A4A3A4"/>
          </p15:clr>
        </p15:guide>
        <p15:guide id="5" orient="horz" pos="2886">
          <p15:clr>
            <a:srgbClr val="A4A3A4"/>
          </p15:clr>
        </p15:guide>
        <p15:guide id="6" orient="horz" pos="3022">
          <p15:clr>
            <a:srgbClr val="A4A3A4"/>
          </p15:clr>
        </p15:guide>
        <p15:guide id="7" pos="1565">
          <p15:clr>
            <a:srgbClr val="A4A3A4"/>
          </p15:clr>
        </p15:guide>
        <p15:guide id="8" pos="3878">
          <p15:clr>
            <a:srgbClr val="A4A3A4"/>
          </p15:clr>
        </p15:guide>
        <p15:guide id="9" pos="3969">
          <p15:clr>
            <a:srgbClr val="A4A3A4"/>
          </p15:clr>
        </p15:guide>
        <p15:guide id="10" pos="274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DEDE1"/>
    <a:srgbClr val="000000"/>
    <a:srgbClr val="CC6600"/>
    <a:srgbClr val="FF9900"/>
    <a:srgbClr val="9900FF"/>
    <a:srgbClr val="99CC00"/>
    <a:srgbClr val="33CCFF"/>
    <a:srgbClr val="FD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9" autoAdjust="0"/>
    <p:restoredTop sz="94581" autoAdjust="0"/>
  </p:normalViewPr>
  <p:slideViewPr>
    <p:cSldViewPr>
      <p:cViewPr varScale="1">
        <p:scale>
          <a:sx n="96" d="100"/>
          <a:sy n="96" d="100"/>
        </p:scale>
        <p:origin x="1926" y="312"/>
      </p:cViewPr>
      <p:guideLst>
        <p:guide orient="horz" pos="1026"/>
        <p:guide orient="horz" pos="2069"/>
        <p:guide orient="horz" pos="2160"/>
        <p:guide orient="horz" pos="2795"/>
        <p:guide orient="horz" pos="2886"/>
        <p:guide orient="horz" pos="3022"/>
        <p:guide pos="1565"/>
        <p:guide pos="3878"/>
        <p:guide pos="3969"/>
        <p:guide pos="27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16" y="-96"/>
      </p:cViewPr>
      <p:guideLst>
        <p:guide orient="horz" pos="3129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FE1C55ED-3E5E-F4B4-61DF-6B44867FA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723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0" hangingPunct="1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8115" name="Rectangle 3">
            <a:extLst>
              <a:ext uri="{FF2B5EF4-FFF2-40B4-BE49-F238E27FC236}">
                <a16:creationId xmlns:a16="http://schemas.microsoft.com/office/drawing/2014/main" id="{756D01B4-1B20-F948-3F00-C282BB5658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3141" y="0"/>
            <a:ext cx="2947723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0" hangingPunct="1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3637EC5-30FF-47CC-35DC-B80DBF5973A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8117" name="Rectangle 5">
            <a:extLst>
              <a:ext uri="{FF2B5EF4-FFF2-40B4-BE49-F238E27FC236}">
                <a16:creationId xmlns:a16="http://schemas.microsoft.com/office/drawing/2014/main" id="{8421CDF1-71BF-385E-DAF0-87E2A86347B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4" y="4718923"/>
            <a:ext cx="5441950" cy="4470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18118" name="Rectangle 6">
            <a:extLst>
              <a:ext uri="{FF2B5EF4-FFF2-40B4-BE49-F238E27FC236}">
                <a16:creationId xmlns:a16="http://schemas.microsoft.com/office/drawing/2014/main" id="{2B95CFA1-A266-7F28-C35D-131355EF3A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6122"/>
            <a:ext cx="2947723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0" hangingPunct="1">
              <a:defRPr kumimoji="0" sz="120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8119" name="Rectangle 7">
            <a:extLst>
              <a:ext uri="{FF2B5EF4-FFF2-40B4-BE49-F238E27FC236}">
                <a16:creationId xmlns:a16="http://schemas.microsoft.com/office/drawing/2014/main" id="{60D107FF-4599-19B5-DFAC-BF5C62008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141" y="9436122"/>
            <a:ext cx="2947723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2CCFBD6E-385A-4694-9191-21A3E71FED7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5E979846-80FD-1936-715E-18530B5FB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393BAE-625C-4B76-9870-E7072668F85E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A9A37AE-CE5E-0C21-EFA3-65192C087C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5D960FB-21BB-0B74-5104-C5127AB9F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00EF6AC-CEAF-9EB8-DDD0-A04F9F87EA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815FAD-536A-4F20-BD9D-697DFDE1457C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en-US" altLang="ko-KR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4502E53A-F79E-4212-D57E-1C27978E20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A4CE84B-28F4-C282-10AE-4D08FC17D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CFBD6E-385A-4694-9191-21A3E71FED71}" type="slidenum">
              <a:rPr lang="ko-KR" altLang="en-US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8884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5">
            <a:extLst>
              <a:ext uri="{FF2B5EF4-FFF2-40B4-BE49-F238E27FC236}">
                <a16:creationId xmlns:a16="http://schemas.microsoft.com/office/drawing/2014/main" id="{483352FD-B0B3-B3DD-C05A-E8FC255BBE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075" y="457200"/>
          <a:ext cx="8416925" cy="489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3003175" imgH="7555556" progId="Photoshop.Image.7">
                  <p:embed/>
                </p:oleObj>
              </mc:Choice>
              <mc:Fallback>
                <p:oleObj name="Image" r:id="rId2" imgW="13003175" imgH="7555556" progId="Photoshop.Image.7">
                  <p:embed/>
                  <p:pic>
                    <p:nvPicPr>
                      <p:cNvPr id="2050" name="Object 35">
                        <a:extLst>
                          <a:ext uri="{FF2B5EF4-FFF2-40B4-BE49-F238E27FC236}">
                            <a16:creationId xmlns:a16="http://schemas.microsoft.com/office/drawing/2014/main" id="{58BABC43-0217-1F37-FE5C-BF5FF9098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" y="457200"/>
                        <a:ext cx="8416925" cy="489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4">
            <a:extLst>
              <a:ext uri="{FF2B5EF4-FFF2-40B4-BE49-F238E27FC236}">
                <a16:creationId xmlns:a16="http://schemas.microsoft.com/office/drawing/2014/main" id="{6473FE3A-A6B2-5936-76B7-A2C6B9029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57200"/>
            <a:ext cx="8405812" cy="5943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4" name="Picture 31" descr="03_icon">
            <a:extLst>
              <a:ext uri="{FF2B5EF4-FFF2-40B4-BE49-F238E27FC236}">
                <a16:creationId xmlns:a16="http://schemas.microsoft.com/office/drawing/2014/main" id="{CF28D085-1C25-7BE5-020C-844CB8873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949825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2">
            <a:extLst>
              <a:ext uri="{FF2B5EF4-FFF2-40B4-BE49-F238E27FC236}">
                <a16:creationId xmlns:a16="http://schemas.microsoft.com/office/drawing/2014/main" id="{75B2DE47-CCAB-A90B-A023-EBAB7E1D57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8788" y="5283200"/>
            <a:ext cx="67310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4759325"/>
            <a:ext cx="5791200" cy="38100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5359400"/>
            <a:ext cx="5791200" cy="3048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E5BF4E6-C022-E252-2BF1-B3F8E18472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1790700" y="6477000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0" hangingPunct="1">
              <a:defRPr kumimoji="0" sz="1000">
                <a:solidFill>
                  <a:srgbClr val="000000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BCDD9D0-54DF-0C14-F9F7-45E3D52BD4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gray">
          <a:xfrm>
            <a:off x="3124200" y="6477000"/>
            <a:ext cx="2239888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0" hangingPunct="1">
              <a:defRPr kumimoji="0" sz="1000">
                <a:solidFill>
                  <a:srgbClr val="000000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8C97648-4B0F-0F8C-4B49-EF12FD5E0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4788024" y="6480736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86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3">
            <a:extLst>
              <a:ext uri="{FF2B5EF4-FFF2-40B4-BE49-F238E27FC236}">
                <a16:creationId xmlns:a16="http://schemas.microsoft.com/office/drawing/2014/main" id="{99B2FE89-4C7D-DF6B-6B46-E198B69E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90550"/>
            <a:ext cx="8686800" cy="5862637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5" name="Rectangle 75">
            <a:extLst>
              <a:ext uri="{FF2B5EF4-FFF2-40B4-BE49-F238E27FC236}">
                <a16:creationId xmlns:a16="http://schemas.microsoft.com/office/drawing/2014/main" id="{0ADA0F8D-3714-C71C-AE69-37DC1DDBA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43663" y="404813"/>
            <a:ext cx="28892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graphicFrame>
        <p:nvGraphicFramePr>
          <p:cNvPr id="6" name="Object 73">
            <a:extLst>
              <a:ext uri="{FF2B5EF4-FFF2-40B4-BE49-F238E27FC236}">
                <a16:creationId xmlns:a16="http://schemas.microsoft.com/office/drawing/2014/main" id="{C55D5642-256C-A744-609E-C89F1FDDD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" y="3719513"/>
          <a:ext cx="31242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6361905" imgH="5663492" progId="Photoshop.Image.7">
                  <p:embed/>
                </p:oleObj>
              </mc:Choice>
              <mc:Fallback>
                <p:oleObj name="Image" r:id="rId2" imgW="6361905" imgH="5663492" progId="Photoshop.Image.7">
                  <p:embed/>
                  <p:pic>
                    <p:nvPicPr>
                      <p:cNvPr id="3076" name="Object 73">
                        <a:extLst>
                          <a:ext uri="{FF2B5EF4-FFF2-40B4-BE49-F238E27FC236}">
                            <a16:creationId xmlns:a16="http://schemas.microsoft.com/office/drawing/2014/main" id="{07E25372-7211-679F-D197-CDA30FA6D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719513"/>
                        <a:ext cx="3124200" cy="278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58" descr="03_back_b">
            <a:extLst>
              <a:ext uri="{FF2B5EF4-FFF2-40B4-BE49-F238E27FC236}">
                <a16:creationId xmlns:a16="http://schemas.microsoft.com/office/drawing/2014/main" id="{F18E29B5-693E-6243-9994-0A8186024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609600"/>
            <a:ext cx="2630487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4">
            <a:extLst>
              <a:ext uri="{FF2B5EF4-FFF2-40B4-BE49-F238E27FC236}">
                <a16:creationId xmlns:a16="http://schemas.microsoft.com/office/drawing/2014/main" id="{D8DEE00C-CD19-9BDF-3778-8D79C5B134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600" y="190500"/>
            <a:ext cx="55626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9" name="Picture 59" descr="03_icon">
            <a:extLst>
              <a:ext uri="{FF2B5EF4-FFF2-40B4-BE49-F238E27FC236}">
                <a16:creationId xmlns:a16="http://schemas.microsoft.com/office/drawing/2014/main" id="{F627B374-952F-68EA-CD02-DBEDECF47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66688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313858"/>
            <a:ext cx="4648200" cy="563562"/>
          </a:xfrm>
        </p:spPr>
        <p:txBody>
          <a:bodyPr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034" y="1428736"/>
            <a:ext cx="8229600" cy="4716463"/>
          </a:xfrm>
        </p:spPr>
        <p:txBody>
          <a:bodyPr/>
          <a:lstStyle>
            <a:lvl1pPr>
              <a:buClr>
                <a:srgbClr val="CC6600"/>
              </a:buClr>
              <a:defRPr sz="200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rgbClr val="CC6600"/>
              </a:buClr>
              <a:buFont typeface="Wingdings" pitchFamily="2" charset="2"/>
              <a:buChar char="Ø"/>
              <a:defRPr sz="18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rgbClr val="CC6600"/>
              </a:buClr>
              <a:buFont typeface="Wingdings" pitchFamily="2" charset="2"/>
              <a:buChar char="ü"/>
              <a:defRPr sz="16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4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>
              <a:buFont typeface="Arial" pitchFamily="34" charset="0"/>
              <a:buChar char="•"/>
              <a:defRPr sz="1400" b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3AF23C4-CDA1-5E59-01AA-16651EBED7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gray">
          <a:xfrm>
            <a:off x="6804025" y="260350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0637B0C-BD7B-4364-B58A-678B11C36CF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6006A1-0E7D-EB02-C9F6-C319BF2F73D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43988" y="6502400"/>
            <a:ext cx="2160240" cy="250588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A942EFA8-6F63-889C-0230-DB1010CBFAB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371850" y="6496661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000" kern="12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600" kern="12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9pPr>
          </a:lstStyle>
          <a:p>
            <a:pPr>
              <a:defRPr/>
            </a:pPr>
            <a:fld id="{94977495-751B-412F-A754-E406C095A6AD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17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7584" y="332656"/>
            <a:ext cx="4648200" cy="563562"/>
          </a:xfrm>
        </p:spPr>
        <p:txBody>
          <a:bodyPr/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716463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69F9C9-A131-D164-8A5E-E05790422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3336413" y="6494033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966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oleObject" Target="../embeddings/oleObject1.bin"/><Relationship Id="rId4" Type="http://schemas.openxmlformats.org/officeDocument/2006/relationships/theme" Target="../theme/theme1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3">
            <a:extLst>
              <a:ext uri="{FF2B5EF4-FFF2-40B4-BE49-F238E27FC236}">
                <a16:creationId xmlns:a16="http://schemas.microsoft.com/office/drawing/2014/main" id="{E00638B1-F917-85C4-97C1-540264D10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90550"/>
            <a:ext cx="8686800" cy="5862637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27" name="Rectangle 75">
            <a:extLst>
              <a:ext uri="{FF2B5EF4-FFF2-40B4-BE49-F238E27FC236}">
                <a16:creationId xmlns:a16="http://schemas.microsoft.com/office/drawing/2014/main" id="{BC5798E9-BEB2-891D-F2C8-E976D99269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43663" y="404813"/>
            <a:ext cx="288925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graphicFrame>
        <p:nvGraphicFramePr>
          <p:cNvPr id="1028" name="Object 73">
            <a:extLst>
              <a:ext uri="{FF2B5EF4-FFF2-40B4-BE49-F238E27FC236}">
                <a16:creationId xmlns:a16="http://schemas.microsoft.com/office/drawing/2014/main" id="{5D38478D-CC03-99EF-DDED-D2A223F7C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" y="3719513"/>
          <a:ext cx="3124200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361905" imgH="5663492" progId="Photoshop.Image.7">
                  <p:embed/>
                </p:oleObj>
              </mc:Choice>
              <mc:Fallback>
                <p:oleObj name="Image" r:id="rId5" imgW="6361905" imgH="5663492" progId="Photoshop.Image.7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719513"/>
                        <a:ext cx="3124200" cy="2782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58" descr="03_back_b">
            <a:extLst>
              <a:ext uri="{FF2B5EF4-FFF2-40B4-BE49-F238E27FC236}">
                <a16:creationId xmlns:a16="http://schemas.microsoft.com/office/drawing/2014/main" id="{98D9D4C4-4FE9-514C-8CD4-9360EA310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813" y="609600"/>
            <a:ext cx="2630487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54">
            <a:extLst>
              <a:ext uri="{FF2B5EF4-FFF2-40B4-BE49-F238E27FC236}">
                <a16:creationId xmlns:a16="http://schemas.microsoft.com/office/drawing/2014/main" id="{6C195287-38E7-E606-F95D-6795EC0708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9600" y="190500"/>
            <a:ext cx="55626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 marL="742950" indent="-28575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 marL="11430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 marL="16002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 marL="2057400" indent="-228600" algn="ctr" latinLnBrk="1"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9pPr>
          </a:lstStyle>
          <a:p>
            <a:pPr eaLnBrk="1" hangingPunct="1">
              <a:defRPr/>
            </a:pP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8FFC1319-6833-8A08-9822-F68C0BFC70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47800"/>
            <a:ext cx="8229600" cy="471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2" name="Rectangle 2">
            <a:extLst>
              <a:ext uri="{FF2B5EF4-FFF2-40B4-BE49-F238E27FC236}">
                <a16:creationId xmlns:a16="http://schemas.microsoft.com/office/drawing/2014/main" id="{D9549E98-C80F-CA93-03A0-F75D6602C4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685800" y="331788"/>
            <a:ext cx="46482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1033" name="Picture 59" descr="03_icon">
            <a:extLst>
              <a:ext uri="{FF2B5EF4-FFF2-40B4-BE49-F238E27FC236}">
                <a16:creationId xmlns:a16="http://schemas.microsoft.com/office/drawing/2014/main" id="{9BD92C22-FA75-EA06-01D6-9AD7BFD82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838" y="166688"/>
            <a:ext cx="749300" cy="92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9E03FE9-C783-F061-8829-A22CC300A6F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581519" y="6499343"/>
            <a:ext cx="2160240" cy="250588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5FC4D07B-77CD-348B-2F15-7E33EE4741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327714" y="6440486"/>
            <a:ext cx="2133600" cy="2444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 smtClean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94977495-751B-412F-A754-E406C095A6A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6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000" b="1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8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>
              <a:lumMod val="50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gitalprism.co.k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tel:02-1561-157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C38C915C-8126-6DFD-B3E0-B6E91F3DA2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11760" y="2565400"/>
            <a:ext cx="6192688" cy="1295648"/>
          </a:xfrm>
        </p:spPr>
        <p:txBody>
          <a:bodyPr/>
          <a:lstStyle/>
          <a:p>
            <a:pPr algn="ctr" eaLnBrk="1" hangingPunct="1"/>
            <a:r>
              <a:rPr lang="ko-KR" altLang="en-US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한글제목</a:t>
            </a:r>
            <a:br>
              <a:rPr lang="en-US" altLang="ko-KR" b="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r>
              <a:rPr lang="en-US" altLang="ko-KR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영어제목</a:t>
            </a:r>
            <a:r>
              <a:rPr lang="en-US" altLang="ko-KR" sz="24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24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0B47E8-F328-C553-4914-1DE6189E4A1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635848" y="5233154"/>
            <a:ext cx="4968354" cy="100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kern="0" dirty="0">
                <a:solidFill>
                  <a:srgbClr val="000000"/>
                </a:solidFill>
              </a:rPr>
              <a:t>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지도교수 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:        (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서명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)</a:t>
            </a:r>
            <a:endParaRPr kumimoji="0" lang="en-US" altLang="ko-KR" sz="900" kern="0" dirty="0">
              <a:solidFill>
                <a:srgbClr val="000000"/>
              </a:solidFill>
            </a:endParaRP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en-US" altLang="ko-KR" sz="1200" kern="0" dirty="0">
                <a:solidFill>
                  <a:srgbClr val="000000"/>
                </a:solidFill>
              </a:rPr>
              <a:t>##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세션      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##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팀    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(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팀장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)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ko-KR" altLang="en-US" sz="1200" kern="0" dirty="0">
                <a:solidFill>
                  <a:srgbClr val="000000"/>
                </a:solidFill>
              </a:rPr>
              <a:t> 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ko-KR" altLang="en-US" sz="1200" kern="0" dirty="0">
                <a:solidFill>
                  <a:srgbClr val="000000"/>
                </a:solidFill>
              </a:rPr>
              <a:t> 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ko-KR" altLang="en-US" sz="1200" kern="0" dirty="0">
                <a:solidFill>
                  <a:srgbClr val="000000"/>
                </a:solidFill>
              </a:rPr>
              <a:t> 학번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        </a:t>
            </a:r>
            <a:r>
              <a:rPr kumimoji="0" lang="ko-KR" altLang="en-US" sz="1200" kern="0" dirty="0">
                <a:solidFill>
                  <a:srgbClr val="000000"/>
                </a:solidFill>
              </a:rPr>
              <a:t>이름</a:t>
            </a:r>
            <a:r>
              <a:rPr kumimoji="0" lang="en-US" altLang="ko-KR" sz="1200" kern="0" dirty="0">
                <a:solidFill>
                  <a:srgbClr val="000000"/>
                </a:solidFill>
              </a:rPr>
              <a:t>	</a:t>
            </a:r>
            <a:endParaRPr kumimoji="0" lang="en-US" altLang="ko-KR" sz="1200" kern="0" dirty="0">
              <a:solidFill>
                <a:srgbClr val="0000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66AC7-379B-0AE6-1D1E-E64E12DB27F3}"/>
              </a:ext>
            </a:extLst>
          </p:cNvPr>
          <p:cNvSpPr txBox="1"/>
          <p:nvPr/>
        </p:nvSpPr>
        <p:spPr>
          <a:xfrm>
            <a:off x="1691680" y="1124744"/>
            <a:ext cx="7036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3200" dirty="0">
                <a:solidFill>
                  <a:schemeClr val="tx1">
                    <a:lumMod val="50000"/>
                  </a:schemeClr>
                </a:solidFill>
              </a:rPr>
              <a:t>AI*SW</a:t>
            </a:r>
            <a:r>
              <a:rPr lang="ko-KR" altLang="en-US" sz="3200" dirty="0" err="1">
                <a:solidFill>
                  <a:schemeClr val="tx1">
                    <a:lumMod val="50000"/>
                  </a:schemeClr>
                </a:solidFill>
              </a:rPr>
              <a:t>캡스톤디자인</a:t>
            </a:r>
            <a:r>
              <a:rPr lang="ko-KR" altLang="en-US" sz="3200" dirty="0">
                <a:solidFill>
                  <a:schemeClr val="tx1">
                    <a:lumMod val="50000"/>
                  </a:schemeClr>
                </a:solidFill>
              </a:rPr>
              <a:t> 제안서</a:t>
            </a:r>
            <a:endParaRPr lang="en-US" altLang="ko-KR" sz="3200" dirty="0">
              <a:solidFill>
                <a:schemeClr val="tx1">
                  <a:lumMod val="50000"/>
                </a:schemeClr>
              </a:solidFill>
            </a:endParaRPr>
          </a:p>
          <a:p>
            <a:pPr algn="r"/>
            <a:r>
              <a:rPr lang="en-US" altLang="ko-KR" sz="3200" dirty="0">
                <a:solidFill>
                  <a:schemeClr val="tx1">
                    <a:lumMod val="50000"/>
                  </a:schemeClr>
                </a:solidFill>
              </a:rPr>
              <a:t>(1</a:t>
            </a:r>
            <a:r>
              <a:rPr lang="ko-KR" altLang="en-US" sz="3200" dirty="0">
                <a:solidFill>
                  <a:schemeClr val="tx1">
                    <a:lumMod val="50000"/>
                  </a:schemeClr>
                </a:solidFill>
              </a:rPr>
              <a:t>차 발표 템플릿</a:t>
            </a:r>
            <a:r>
              <a:rPr lang="en-US" altLang="ko-KR" sz="3200" dirty="0">
                <a:solidFill>
                  <a:schemeClr val="tx1">
                    <a:lumMod val="50000"/>
                  </a:schemeClr>
                </a:solidFill>
              </a:rPr>
              <a:t>)</a:t>
            </a:r>
            <a:endParaRPr lang="ko-KR" altLang="en-US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9AE09EA-9E02-35ED-6438-05DC617AD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4208547"/>
            <a:ext cx="2020105" cy="33855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 eaLnBrk="1" latinLnBrk="1" hangingPunct="1"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20OO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O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일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E79C0FD-B1BE-868D-D82D-E5DA4A7C1AA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860032" y="6381328"/>
            <a:ext cx="4280123" cy="293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kern="0" dirty="0">
                <a:solidFill>
                  <a:srgbClr val="FF0000"/>
                </a:solidFill>
              </a:rPr>
              <a:t>[</a:t>
            </a:r>
            <a:r>
              <a:rPr kumimoji="0" lang="ko-KR" altLang="en-US" sz="1200" kern="0" dirty="0">
                <a:solidFill>
                  <a:srgbClr val="FF0000"/>
                </a:solidFill>
              </a:rPr>
              <a:t>가이드</a:t>
            </a:r>
            <a:r>
              <a:rPr kumimoji="0" lang="en-US" altLang="ko-KR" sz="1200" kern="0" dirty="0">
                <a:solidFill>
                  <a:srgbClr val="FF0000"/>
                </a:solidFill>
              </a:rPr>
              <a:t>] </a:t>
            </a:r>
            <a:r>
              <a:rPr kumimoji="0" lang="ko-KR" altLang="en-US" sz="1200" kern="0" dirty="0">
                <a:solidFill>
                  <a:srgbClr val="FF0000"/>
                </a:solidFill>
              </a:rPr>
              <a:t>표지는 지도교수 서명 받은 후 스캔해서 첨부 </a:t>
            </a:r>
            <a:endParaRPr kumimoji="0" lang="en-US" altLang="ko-KR" sz="1200" kern="0" dirty="0">
              <a:solidFill>
                <a:srgbClr val="FF0000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kern="0" dirty="0">
              <a:solidFill>
                <a:srgbClr val="000066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ko-KR" altLang="en-US" sz="1200" b="1" kern="0" dirty="0">
              <a:solidFill>
                <a:srgbClr val="000066"/>
              </a:solidFill>
              <a:latin typeface="새굴림" pitchFamily="18" charset="-127"/>
              <a:ea typeface="새굴림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FA3C4-1359-95B3-1EF8-8AEB19F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6046440" cy="563562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자료작성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및 발표 참고사항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6CBB9-16FB-D7E7-1312-0C1C3FC60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040"/>
            <a:ext cx="8229600" cy="1179560"/>
          </a:xfrm>
        </p:spPr>
        <p:txBody>
          <a:bodyPr/>
          <a:lstStyle/>
          <a:p>
            <a:pPr eaLnBrk="1" hangingPunct="1">
              <a:buClr>
                <a:schemeClr val="hlink"/>
              </a:buClr>
              <a:defRPr/>
            </a:pPr>
            <a:r>
              <a:rPr lang="en-US" altLang="ko-KR" dirty="0">
                <a:solidFill>
                  <a:srgbClr val="FF0000"/>
                </a:solidFill>
              </a:rPr>
              <a:t>PPT</a:t>
            </a:r>
            <a:r>
              <a:rPr lang="ko-KR" altLang="en-US" dirty="0">
                <a:solidFill>
                  <a:srgbClr val="FF0000"/>
                </a:solidFill>
              </a:rPr>
              <a:t> 발표 분량</a:t>
            </a:r>
            <a:endParaRPr lang="en-US" altLang="ko-KR" dirty="0">
              <a:solidFill>
                <a:srgbClr val="FF0000"/>
              </a:solidFill>
            </a:endParaRPr>
          </a:p>
          <a:p>
            <a:pPr lvl="1" eaLnBrk="1" hangingPunct="1">
              <a:buClr>
                <a:schemeClr val="hlink"/>
              </a:buClr>
              <a:defRPr/>
            </a:pPr>
            <a:r>
              <a:rPr lang="ko-KR" altLang="en-US" dirty="0">
                <a:solidFill>
                  <a:srgbClr val="FF0000"/>
                </a:solidFill>
              </a:rPr>
              <a:t>기획발표시</a:t>
            </a:r>
            <a:r>
              <a:rPr lang="en-US" altLang="ko-KR" dirty="0">
                <a:solidFill>
                  <a:srgbClr val="FF0000"/>
                </a:solidFill>
              </a:rPr>
              <a:t>(15 ~ 20p), 2~4</a:t>
            </a:r>
            <a:r>
              <a:rPr lang="ko-KR" altLang="en-US" dirty="0">
                <a:solidFill>
                  <a:srgbClr val="FF0000"/>
                </a:solidFill>
              </a:rPr>
              <a:t>차 발표</a:t>
            </a:r>
            <a:r>
              <a:rPr lang="en-US" altLang="ko-KR" dirty="0">
                <a:solidFill>
                  <a:srgbClr val="FF0000"/>
                </a:solidFill>
              </a:rPr>
              <a:t>(20~30p)</a:t>
            </a:r>
            <a:r>
              <a:rPr lang="ko-KR" altLang="en-US" dirty="0">
                <a:solidFill>
                  <a:srgbClr val="FF0000"/>
                </a:solidFill>
              </a:rPr>
              <a:t>작성</a:t>
            </a:r>
            <a:endParaRPr lang="en-US" altLang="ko-KR" dirty="0">
              <a:solidFill>
                <a:srgbClr val="FF0000"/>
              </a:solidFill>
            </a:endParaRPr>
          </a:p>
          <a:p>
            <a:pPr lvl="1" eaLnBrk="1" hangingPunct="1">
              <a:buClr>
                <a:schemeClr val="hlink"/>
              </a:buClr>
              <a:defRPr/>
            </a:pPr>
            <a:r>
              <a:rPr lang="ko-KR" altLang="en-US" dirty="0">
                <a:solidFill>
                  <a:srgbClr val="FF0000"/>
                </a:solidFill>
              </a:rPr>
              <a:t>지엽적인 내용이나 질문 시에 답변할 보완자료는 </a:t>
            </a:r>
            <a:r>
              <a:rPr lang="en-US" altLang="ko-KR" dirty="0">
                <a:solidFill>
                  <a:srgbClr val="FF0000"/>
                </a:solidFill>
              </a:rPr>
              <a:t>Appendix</a:t>
            </a:r>
            <a:r>
              <a:rPr lang="ko-KR" altLang="en-US" dirty="0">
                <a:solidFill>
                  <a:srgbClr val="FF0000"/>
                </a:solidFill>
              </a:rPr>
              <a:t>에 배치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3DC977-881A-2B5C-6260-9631BF9E2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FAAD20-4832-7919-82C6-ECE5D2B9C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239208"/>
              </p:ext>
            </p:extLst>
          </p:nvPr>
        </p:nvGraphicFramePr>
        <p:xfrm>
          <a:off x="899592" y="2011680"/>
          <a:ext cx="7643192" cy="4203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308">
                  <a:extLst>
                    <a:ext uri="{9D8B030D-6E8A-4147-A177-3AD203B41FA5}">
                      <a16:colId xmlns:a16="http://schemas.microsoft.com/office/drawing/2014/main" val="3699556625"/>
                    </a:ext>
                  </a:extLst>
                </a:gridCol>
                <a:gridCol w="3540164">
                  <a:extLst>
                    <a:ext uri="{9D8B030D-6E8A-4147-A177-3AD203B41FA5}">
                      <a16:colId xmlns:a16="http://schemas.microsoft.com/office/drawing/2014/main" val="1924170629"/>
                    </a:ext>
                  </a:extLst>
                </a:gridCol>
                <a:gridCol w="3394720">
                  <a:extLst>
                    <a:ext uri="{9D8B030D-6E8A-4147-A177-3AD203B41FA5}">
                      <a16:colId xmlns:a16="http://schemas.microsoft.com/office/drawing/2014/main" val="3631773569"/>
                    </a:ext>
                  </a:extLst>
                </a:gridCol>
              </a:tblGrid>
              <a:tr h="317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차수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자문</a:t>
                      </a:r>
                      <a:r>
                        <a:rPr lang="en-US" altLang="ko-KR" sz="1050" dirty="0"/>
                        <a:t> </a:t>
                      </a:r>
                      <a:r>
                        <a:rPr lang="ko-KR" altLang="en-US" sz="1050" dirty="0"/>
                        <a:t>및 평가 </a:t>
                      </a:r>
                      <a:r>
                        <a:rPr lang="ko-KR" altLang="en-US" sz="1000" dirty="0"/>
                        <a:t>관점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중점 발표 사항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043686"/>
                  </a:ext>
                </a:extLst>
              </a:tr>
              <a:tr h="9513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</a:t>
                      </a:r>
                      <a:r>
                        <a:rPr lang="ko-KR" altLang="en-US" sz="1050" dirty="0"/>
                        <a:t>차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(25.11)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컴공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졸업작품으로 적합한 주제인가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 필요성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(20%)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 난이도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(20%)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개발분량 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(20%)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개발방향의 적합성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(20%)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기타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발표능력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발표자료준비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진도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팀웍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)(20%)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1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(PPT)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연구동기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주제개요</a:t>
                      </a:r>
                      <a:br>
                        <a:rPr lang="en-US" altLang="ko-KR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2~3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(PPT)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주제 개요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 목표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4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 (PPT)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 목표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개발 전략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개념적 설계 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5251590"/>
                  </a:ext>
                </a:extLst>
              </a:tr>
              <a:tr h="82452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2</a:t>
                      </a:r>
                      <a:r>
                        <a:rPr lang="ko-KR" altLang="en-US" sz="1050" dirty="0"/>
                        <a:t>차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(26.3)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/>
                        <a:t>개발 성공가능성 확인</a:t>
                      </a:r>
                      <a:endParaRPr lang="en-US" altLang="ko-KR" sz="105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50" dirty="0"/>
                        <a:t>상세 설계의 적합성</a:t>
                      </a:r>
                      <a:r>
                        <a:rPr lang="en-US" altLang="ko-KR" sz="1050" dirty="0"/>
                        <a:t>(30%)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50" dirty="0"/>
                        <a:t>개발 성공가능성 </a:t>
                      </a:r>
                      <a:r>
                        <a:rPr lang="en-US" altLang="ko-KR" sz="1050" dirty="0"/>
                        <a:t>(30%)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50" dirty="0"/>
                        <a:t>개발 진도</a:t>
                      </a:r>
                      <a:r>
                        <a:rPr lang="en-US" altLang="ko-KR" sz="1050" dirty="0"/>
                        <a:t>(20%) 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50" dirty="0"/>
                        <a:t>기타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발표능력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발표자료준비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지적사항 반영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 err="1"/>
                        <a:t>팀웍</a:t>
                      </a:r>
                      <a:r>
                        <a:rPr lang="ko-KR" altLang="en-US" sz="1050" dirty="0"/>
                        <a:t> 등</a:t>
                      </a:r>
                      <a:r>
                        <a:rPr lang="en-US" altLang="ko-KR" sz="1050" dirty="0"/>
                        <a:t>) (20%) 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/>
                    </a:p>
                    <a:p>
                      <a:pPr latinLnBrk="1"/>
                      <a:r>
                        <a:rPr lang="en-US" altLang="ko-KR" sz="1050" dirty="0"/>
                        <a:t>1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(PPT)</a:t>
                      </a:r>
                      <a:r>
                        <a:rPr lang="ko-KR" altLang="en-US" sz="1050" dirty="0"/>
                        <a:t>개념적 설계</a:t>
                      </a:r>
                      <a:r>
                        <a:rPr lang="en-US" altLang="ko-KR" sz="1050" dirty="0"/>
                        <a:t>,</a:t>
                      </a:r>
                      <a:r>
                        <a:rPr lang="ko-KR" altLang="en-US" sz="1050" dirty="0"/>
                        <a:t>상세설계</a:t>
                      </a:r>
                      <a:r>
                        <a:rPr lang="en-US" altLang="ko-KR" sz="1050" dirty="0"/>
                        <a:t>, </a:t>
                      </a:r>
                    </a:p>
                    <a:p>
                      <a:pPr latinLnBrk="1"/>
                      <a:r>
                        <a:rPr lang="en-US" altLang="ko-KR" sz="1050" dirty="0"/>
                        <a:t>       (+</a:t>
                      </a:r>
                      <a:r>
                        <a:rPr lang="ko-KR" altLang="en-US" sz="1050" dirty="0"/>
                        <a:t>필요시</a:t>
                      </a:r>
                      <a:r>
                        <a:rPr lang="en-US" altLang="ko-KR" sz="1050" dirty="0"/>
                        <a:t>: </a:t>
                      </a:r>
                      <a:r>
                        <a:rPr lang="ko-KR" altLang="en-US" sz="1050" dirty="0"/>
                        <a:t>변경된 주제범위</a:t>
                      </a:r>
                      <a:r>
                        <a:rPr lang="en-US" altLang="ko-KR" sz="1050" dirty="0"/>
                        <a:t>~</a:t>
                      </a:r>
                      <a:r>
                        <a:rPr lang="ko-KR" altLang="en-US" sz="1050" dirty="0"/>
                        <a:t>개발전략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pPr latinLnBrk="1"/>
                      <a:r>
                        <a:rPr lang="en-US" altLang="ko-KR" sz="1050" dirty="0"/>
                        <a:t>2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(PPT)</a:t>
                      </a:r>
                      <a:r>
                        <a:rPr lang="ko-KR" altLang="en-US" sz="1050" dirty="0"/>
                        <a:t>핵심 기능 데모</a:t>
                      </a:r>
                      <a:endParaRPr lang="en-US" altLang="ko-KR" sz="1050" dirty="0"/>
                    </a:p>
                    <a:p>
                      <a:pPr latinLnBrk="1"/>
                      <a:r>
                        <a:rPr lang="en-US" altLang="ko-KR" sz="1050" dirty="0"/>
                        <a:t>3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(PPT)</a:t>
                      </a:r>
                      <a:r>
                        <a:rPr lang="ko-KR" altLang="en-US" sz="1050" dirty="0"/>
                        <a:t>수행 일정 </a:t>
                      </a:r>
                      <a:r>
                        <a:rPr lang="en-US" altLang="ko-KR" sz="105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50" dirty="0">
                          <a:sym typeface="Wingdings" panose="05000000000000000000" pitchFamily="2" charset="2"/>
                        </a:rPr>
                        <a:t>일정에 맞추기 위한 전략과 </a:t>
                      </a:r>
                      <a:r>
                        <a:rPr lang="ko-KR" altLang="en-US" sz="1050" dirty="0"/>
                        <a:t>보정 내용 설명</a:t>
                      </a:r>
                      <a:r>
                        <a:rPr lang="en-US" altLang="ko-KR" sz="1050" dirty="0"/>
                        <a:t>) 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05092"/>
                  </a:ext>
                </a:extLst>
              </a:tr>
              <a:tr h="570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3</a:t>
                      </a:r>
                      <a:r>
                        <a:rPr lang="ko-KR" altLang="en-US" sz="1050" dirty="0"/>
                        <a:t>차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(26.5)</a:t>
                      </a:r>
                      <a:endParaRPr lang="ko-KR" altLang="en-US" sz="1050" dirty="0"/>
                    </a:p>
                    <a:p>
                      <a:pPr latinLnBrk="1"/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개발 결과 확인</a:t>
                      </a:r>
                      <a:endParaRPr lang="en-US" altLang="ko-KR" sz="105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50" dirty="0"/>
                        <a:t>개발 결과의 기술적 완성도 </a:t>
                      </a:r>
                      <a:r>
                        <a:rPr lang="en-US" altLang="ko-KR" sz="1050" dirty="0"/>
                        <a:t>(40%)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50" dirty="0"/>
                        <a:t>개발 진도 </a:t>
                      </a:r>
                      <a:r>
                        <a:rPr lang="en-US" altLang="ko-KR" sz="1050" dirty="0"/>
                        <a:t>(40%)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3. </a:t>
                      </a:r>
                      <a:r>
                        <a:rPr lang="ko-KR" altLang="en-US" sz="1050" dirty="0"/>
                        <a:t>기타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시연능력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지적사항 반영</a:t>
                      </a:r>
                      <a:r>
                        <a:rPr lang="en-US" altLang="ko-KR" sz="1050" dirty="0"/>
                        <a:t>,  </a:t>
                      </a:r>
                      <a:r>
                        <a:rPr lang="ko-KR" altLang="en-US" sz="1050" dirty="0" err="1"/>
                        <a:t>팀웍</a:t>
                      </a:r>
                      <a:r>
                        <a:rPr lang="ko-KR" altLang="en-US" sz="1050" dirty="0"/>
                        <a:t> 등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5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050" dirty="0"/>
                        <a:t>데모</a:t>
                      </a:r>
                      <a:endParaRPr lang="en-US" altLang="ko-KR" sz="105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(PPT) </a:t>
                      </a:r>
                      <a:r>
                        <a:rPr lang="ko-KR" altLang="en-US" sz="1050" dirty="0"/>
                        <a:t>수행 일정 및 개발 현황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298882"/>
                  </a:ext>
                </a:extLst>
              </a:tr>
              <a:tr h="6976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4</a:t>
                      </a:r>
                      <a:r>
                        <a:rPr lang="ko-KR" altLang="en-US" sz="1050" dirty="0"/>
                        <a:t>차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(26.7)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최종완성도 확인 및 공학대전 전시 후보작 선정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온라인 평가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50" dirty="0"/>
                        <a:t>개발 결과의 종합적 완성도 </a:t>
                      </a:r>
                      <a:r>
                        <a:rPr lang="en-US" altLang="ko-KR" sz="1050" dirty="0"/>
                        <a:t>(40%)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2. </a:t>
                      </a:r>
                      <a:r>
                        <a:rPr lang="ko-KR" altLang="en-US" sz="1050" dirty="0"/>
                        <a:t>데모의 구성 및 진행</a:t>
                      </a:r>
                      <a:r>
                        <a:rPr lang="en-US" altLang="ko-KR" sz="1050" dirty="0"/>
                        <a:t> (40%) </a:t>
                      </a:r>
                      <a:br>
                        <a:rPr lang="en-US" altLang="ko-KR" sz="1050" dirty="0"/>
                      </a:br>
                      <a:r>
                        <a:rPr lang="en-US" altLang="ko-KR" sz="1050" dirty="0"/>
                        <a:t> - </a:t>
                      </a:r>
                      <a:r>
                        <a:rPr lang="ko-KR" altLang="en-US" sz="1050" dirty="0"/>
                        <a:t>데모를 위한 샘플자료 및 시나리오 구성에 유의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3. </a:t>
                      </a:r>
                      <a:r>
                        <a:rPr lang="ko-KR" altLang="en-US" sz="1050" dirty="0"/>
                        <a:t>기타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지적사항 반영</a:t>
                      </a:r>
                      <a:r>
                        <a:rPr lang="en-US" altLang="ko-KR" sz="1050" dirty="0"/>
                        <a:t>,  </a:t>
                      </a:r>
                      <a:r>
                        <a:rPr lang="ko-KR" altLang="en-US" sz="1050" dirty="0" err="1"/>
                        <a:t>팀웍</a:t>
                      </a:r>
                      <a:r>
                        <a:rPr lang="ko-KR" altLang="en-US" sz="1050" dirty="0"/>
                        <a:t> 등</a:t>
                      </a:r>
                      <a:r>
                        <a:rPr lang="en-US" altLang="ko-KR" sz="1050" dirty="0"/>
                        <a:t>)(20%)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50" dirty="0"/>
                        <a:t>(1~2) </a:t>
                      </a:r>
                      <a:r>
                        <a:rPr lang="ko-KR" altLang="en-US" sz="1050" dirty="0" err="1"/>
                        <a:t>데모시연</a:t>
                      </a:r>
                      <a:r>
                        <a:rPr lang="ko-KR" altLang="en-US" sz="1050" dirty="0"/>
                        <a:t> 동영상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판넬 파일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050" dirty="0"/>
                        <a:t>3 -&gt; </a:t>
                      </a:r>
                      <a:r>
                        <a:rPr lang="ko-KR" altLang="en-US" sz="1050" dirty="0"/>
                        <a:t>개발현황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지적사항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75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1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437FA-054E-0782-C747-295661AD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 발표 준비</a:t>
            </a:r>
            <a:r>
              <a:rPr lang="en-US" altLang="ko-KR" dirty="0"/>
              <a:t>: 2</a:t>
            </a:r>
            <a:r>
              <a:rPr lang="ko-KR" altLang="en-US" dirty="0"/>
              <a:t>차 발표 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 발표 일정</a:t>
            </a:r>
            <a:r>
              <a:rPr lang="en-US" altLang="ko-KR" dirty="0"/>
              <a:t>: 3</a:t>
            </a:r>
            <a:r>
              <a:rPr lang="ko-KR" altLang="en-US" dirty="0"/>
              <a:t>월 </a:t>
            </a:r>
            <a:r>
              <a:rPr lang="en-US" altLang="ko-KR" dirty="0"/>
              <a:t>2~3</a:t>
            </a:r>
            <a:r>
              <a:rPr lang="ko-KR" altLang="en-US" dirty="0"/>
              <a:t>주차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겨울 방학에 팀원들끼리 준비 요망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 발표 주요 포함사항 </a:t>
            </a:r>
            <a:endParaRPr lang="en-US" altLang="ko-KR" dirty="0"/>
          </a:p>
          <a:p>
            <a:pPr lvl="1"/>
            <a:r>
              <a:rPr lang="ko-KR" altLang="en-US" dirty="0"/>
              <a:t>상세설계</a:t>
            </a:r>
            <a:r>
              <a:rPr lang="en-US" altLang="ko-KR" dirty="0"/>
              <a:t>: Appendix C.</a:t>
            </a:r>
            <a:r>
              <a:rPr lang="ko-KR" altLang="en-US" dirty="0"/>
              <a:t>를 참고</a:t>
            </a:r>
            <a:endParaRPr lang="en-US" altLang="ko-KR" dirty="0"/>
          </a:p>
          <a:p>
            <a:pPr lvl="1"/>
            <a:r>
              <a:rPr lang="ko-KR" altLang="en-US" dirty="0"/>
              <a:t>핵심</a:t>
            </a:r>
            <a:r>
              <a:rPr lang="en-US" altLang="ko-KR" dirty="0"/>
              <a:t>(</a:t>
            </a:r>
            <a:r>
              <a:rPr lang="ko-KR" altLang="en-US" dirty="0"/>
              <a:t>기본</a:t>
            </a:r>
            <a:r>
              <a:rPr lang="en-US" altLang="ko-KR" dirty="0"/>
              <a:t>)</a:t>
            </a:r>
            <a:r>
              <a:rPr lang="ko-KR" altLang="en-US" dirty="0"/>
              <a:t>기능 데모</a:t>
            </a:r>
            <a:r>
              <a:rPr lang="en-US" altLang="ko-KR" dirty="0"/>
              <a:t>  </a:t>
            </a:r>
          </a:p>
          <a:p>
            <a:pPr lvl="2"/>
            <a:r>
              <a:rPr lang="ko-KR" altLang="en-US" dirty="0"/>
              <a:t>선정한 주제의 개발 성공여부를 결정 짖는 핵심 기능</a:t>
            </a:r>
            <a:r>
              <a:rPr lang="en-US" altLang="ko-KR" dirty="0"/>
              <a:t>(</a:t>
            </a:r>
            <a:r>
              <a:rPr lang="ko-KR" altLang="en-US" dirty="0"/>
              <a:t>모델</a:t>
            </a:r>
            <a:r>
              <a:rPr lang="en-US" altLang="ko-KR" dirty="0"/>
              <a:t>, </a:t>
            </a:r>
            <a:r>
              <a:rPr lang="ko-KR" altLang="en-US" dirty="0"/>
              <a:t>알고리즘 등</a:t>
            </a:r>
            <a:r>
              <a:rPr lang="en-US" altLang="ko-KR" dirty="0"/>
              <a:t>)</a:t>
            </a:r>
            <a:r>
              <a:rPr lang="ko-KR" altLang="en-US" dirty="0"/>
              <a:t>을 구현하여 데모</a:t>
            </a:r>
            <a:endParaRPr lang="en-US" altLang="ko-KR" dirty="0"/>
          </a:p>
          <a:p>
            <a:pPr lvl="2"/>
            <a:r>
              <a:rPr lang="en-US" altLang="ko-KR" dirty="0"/>
              <a:t>UX flow</a:t>
            </a:r>
            <a:r>
              <a:rPr lang="ko-KR" altLang="en-US" dirty="0"/>
              <a:t>와 더불어 핵심기능을 구현</a:t>
            </a:r>
            <a:endParaRPr lang="en-US" altLang="ko-KR" dirty="0"/>
          </a:p>
          <a:p>
            <a:pPr lvl="3"/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핵심기능이 </a:t>
            </a:r>
            <a:r>
              <a:rPr lang="en-US" altLang="ko-KR" dirty="0"/>
              <a:t>UX</a:t>
            </a:r>
            <a:r>
              <a:rPr lang="ko-KR" altLang="en-US" dirty="0"/>
              <a:t>에 붙지 못할 수도 있음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991A9C-35B1-A8D6-8B33-FE6BA56D9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E524484-BF57-F57D-0D41-720E531E4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4325"/>
            <a:ext cx="4648200" cy="563563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참고</a:t>
            </a:r>
            <a:r>
              <a:rPr lang="en-US" altLang="ko-KR" dirty="0">
                <a:solidFill>
                  <a:srgbClr val="FF0000"/>
                </a:solidFill>
              </a:rPr>
              <a:t>: 2</a:t>
            </a:r>
            <a:r>
              <a:rPr lang="ko-KR" altLang="en-US" dirty="0">
                <a:solidFill>
                  <a:srgbClr val="FF0000"/>
                </a:solidFill>
              </a:rPr>
              <a:t>차발표시 준비사항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7121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6FA7F5C-11C0-E590-5202-88883C8DC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31788"/>
            <a:ext cx="5181600" cy="563562"/>
          </a:xfrm>
        </p:spPr>
        <p:txBody>
          <a:bodyPr/>
          <a:lstStyle/>
          <a:p>
            <a:pPr eaLnBrk="1" hangingPunct="1"/>
            <a:r>
              <a:rPr lang="ko-KR" altLang="en-US" sz="3000">
                <a:latin typeface="맑은 고딕" panose="020B0503020000020004" pitchFamily="50" charset="-127"/>
                <a:ea typeface="맑은 고딕" panose="020B0503020000020004" pitchFamily="50" charset="-127"/>
              </a:rPr>
              <a:t>차        례</a:t>
            </a:r>
            <a:endParaRPr lang="ko-KR" altLang="en-US" sz="300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47027632-2F7E-2C4E-CDE4-2AA2EA55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540" y="1124743"/>
            <a:ext cx="214953" cy="498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en-US" sz="1800" b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172" name="그룹 34">
            <a:extLst>
              <a:ext uri="{FF2B5EF4-FFF2-40B4-BE49-F238E27FC236}">
                <a16:creationId xmlns:a16="http://schemas.microsoft.com/office/drawing/2014/main" id="{1960360B-B2B5-25B3-2A8A-094519C67046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1124744"/>
            <a:ext cx="5040560" cy="766752"/>
            <a:chOff x="2133600" y="1143000"/>
            <a:chExt cx="4724400" cy="685800"/>
          </a:xfrm>
        </p:grpSpPr>
        <p:sp>
          <p:nvSpPr>
            <p:cNvPr id="118789" name="AutoShape 5">
              <a:extLst>
                <a:ext uri="{FF2B5EF4-FFF2-40B4-BE49-F238E27FC236}">
                  <a16:creationId xmlns:a16="http://schemas.microsoft.com/office/drawing/2014/main" id="{5A2315BF-027F-2051-4B6A-AA5AA1D375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262063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03" name="AutoShape 6">
              <a:extLst>
                <a:ext uri="{FF2B5EF4-FFF2-40B4-BE49-F238E27FC236}">
                  <a16:creationId xmlns:a16="http://schemas.microsoft.com/office/drawing/2014/main" id="{812D176F-2C01-B167-283E-223E7367449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143000"/>
              <a:ext cx="685800" cy="685800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04" name="Text Box 7">
              <a:extLst>
                <a:ext uri="{FF2B5EF4-FFF2-40B4-BE49-F238E27FC236}">
                  <a16:creationId xmlns:a16="http://schemas.microsoft.com/office/drawing/2014/main" id="{D5C56215-8AB9-B4FA-667F-D8ECE2D949F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308100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배경</a:t>
              </a:r>
            </a:p>
          </p:txBody>
        </p:sp>
      </p:grpSp>
      <p:grpSp>
        <p:nvGrpSpPr>
          <p:cNvPr id="7173" name="그룹 36">
            <a:extLst>
              <a:ext uri="{FF2B5EF4-FFF2-40B4-BE49-F238E27FC236}">
                <a16:creationId xmlns:a16="http://schemas.microsoft.com/office/drawing/2014/main" id="{05183DF8-8C83-737E-5CEE-6892DA9D2160}"/>
              </a:ext>
            </a:extLst>
          </p:cNvPr>
          <p:cNvGrpSpPr>
            <a:grpSpLocks/>
          </p:cNvGrpSpPr>
          <p:nvPr/>
        </p:nvGrpSpPr>
        <p:grpSpPr bwMode="auto">
          <a:xfrm>
            <a:off x="1081741" y="1596934"/>
            <a:ext cx="5040560" cy="766752"/>
            <a:chOff x="2133600" y="1635218"/>
            <a:chExt cx="4724400" cy="685800"/>
          </a:xfrm>
        </p:grpSpPr>
        <p:sp>
          <p:nvSpPr>
            <p:cNvPr id="118794" name="AutoShape 10">
              <a:extLst>
                <a:ext uri="{FF2B5EF4-FFF2-40B4-BE49-F238E27FC236}">
                  <a16:creationId xmlns:a16="http://schemas.microsoft.com/office/drawing/2014/main" id="{DC8D2FF5-CE1A-F17F-6BEC-E0D363C08A1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766981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00" name="AutoShape 11">
              <a:extLst>
                <a:ext uri="{FF2B5EF4-FFF2-40B4-BE49-F238E27FC236}">
                  <a16:creationId xmlns:a16="http://schemas.microsoft.com/office/drawing/2014/main" id="{D4DE4915-336B-D551-9DB6-8AD1A847F59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635218"/>
              <a:ext cx="685800" cy="685800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01" name="Text Box 12">
              <a:extLst>
                <a:ext uri="{FF2B5EF4-FFF2-40B4-BE49-F238E27FC236}">
                  <a16:creationId xmlns:a16="http://schemas.microsoft.com/office/drawing/2014/main" id="{3CDF3911-19DC-EAEC-60BF-F820AA7B657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812925"/>
              <a:ext cx="3556000" cy="44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0099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관련 연구 및 연구동기</a:t>
              </a:r>
            </a:p>
          </p:txBody>
        </p:sp>
      </p:grpSp>
      <p:grpSp>
        <p:nvGrpSpPr>
          <p:cNvPr id="7174" name="그룹 37">
            <a:extLst>
              <a:ext uri="{FF2B5EF4-FFF2-40B4-BE49-F238E27FC236}">
                <a16:creationId xmlns:a16="http://schemas.microsoft.com/office/drawing/2014/main" id="{D79E924B-79F8-D837-DED6-5E4267042E92}"/>
              </a:ext>
            </a:extLst>
          </p:cNvPr>
          <p:cNvGrpSpPr>
            <a:grpSpLocks/>
          </p:cNvGrpSpPr>
          <p:nvPr/>
        </p:nvGrpSpPr>
        <p:grpSpPr bwMode="auto">
          <a:xfrm>
            <a:off x="1081741" y="2134875"/>
            <a:ext cx="5040560" cy="766752"/>
            <a:chOff x="2133600" y="2208213"/>
            <a:chExt cx="4724400" cy="685800"/>
          </a:xfrm>
        </p:grpSpPr>
        <p:sp>
          <p:nvSpPr>
            <p:cNvPr id="118799" name="AutoShape 15">
              <a:extLst>
                <a:ext uri="{FF2B5EF4-FFF2-40B4-BE49-F238E27FC236}">
                  <a16:creationId xmlns:a16="http://schemas.microsoft.com/office/drawing/2014/main" id="{29F96AE1-EF37-6813-B9E9-FDC22C477F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2276476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97" name="AutoShape 16">
              <a:extLst>
                <a:ext uri="{FF2B5EF4-FFF2-40B4-BE49-F238E27FC236}">
                  <a16:creationId xmlns:a16="http://schemas.microsoft.com/office/drawing/2014/main" id="{77D5BDD3-C600-C501-923C-EF9F7ABD82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2208213"/>
              <a:ext cx="685800" cy="685800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98" name="Text Box 17">
              <a:extLst>
                <a:ext uri="{FF2B5EF4-FFF2-40B4-BE49-F238E27FC236}">
                  <a16:creationId xmlns:a16="http://schemas.microsoft.com/office/drawing/2014/main" id="{D4E0545D-C47C-5DF6-F751-7806DBC1D99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2322513"/>
              <a:ext cx="3556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CC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개요</a:t>
              </a:r>
            </a:p>
          </p:txBody>
        </p:sp>
      </p:grpSp>
      <p:grpSp>
        <p:nvGrpSpPr>
          <p:cNvPr id="7176" name="그룹 39">
            <a:extLst>
              <a:ext uri="{FF2B5EF4-FFF2-40B4-BE49-F238E27FC236}">
                <a16:creationId xmlns:a16="http://schemas.microsoft.com/office/drawing/2014/main" id="{F4527723-2746-C62E-F94B-A0B4B6C353A9}"/>
              </a:ext>
            </a:extLst>
          </p:cNvPr>
          <p:cNvGrpSpPr>
            <a:grpSpLocks/>
          </p:cNvGrpSpPr>
          <p:nvPr/>
        </p:nvGrpSpPr>
        <p:grpSpPr bwMode="auto">
          <a:xfrm>
            <a:off x="1106649" y="2653540"/>
            <a:ext cx="5040560" cy="766752"/>
            <a:chOff x="2133600" y="3175347"/>
            <a:chExt cx="4724400" cy="685800"/>
          </a:xfrm>
        </p:grpSpPr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4943287C-857D-72A8-FC38-56799764908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3294410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91" name="AutoShape 6">
              <a:extLst>
                <a:ext uri="{FF2B5EF4-FFF2-40B4-BE49-F238E27FC236}">
                  <a16:creationId xmlns:a16="http://schemas.microsoft.com/office/drawing/2014/main" id="{D7578FAC-3731-F2A2-6BF8-DCBB4D0305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3175347"/>
              <a:ext cx="685800" cy="685800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92" name="Text Box 7">
              <a:extLst>
                <a:ext uri="{FF2B5EF4-FFF2-40B4-BE49-F238E27FC236}">
                  <a16:creationId xmlns:a16="http://schemas.microsoft.com/office/drawing/2014/main" id="{E74CA67A-254C-B468-BF23-AD89D815FBA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3340447"/>
              <a:ext cx="3556000" cy="44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개발전략 및 개발목표</a:t>
              </a:r>
            </a:p>
          </p:txBody>
        </p:sp>
      </p:grpSp>
      <p:grpSp>
        <p:nvGrpSpPr>
          <p:cNvPr id="7177" name="그룹 40">
            <a:extLst>
              <a:ext uri="{FF2B5EF4-FFF2-40B4-BE49-F238E27FC236}">
                <a16:creationId xmlns:a16="http://schemas.microsoft.com/office/drawing/2014/main" id="{6CBB1943-D3B5-B7FB-6E93-A30CBD5364B3}"/>
              </a:ext>
            </a:extLst>
          </p:cNvPr>
          <p:cNvGrpSpPr>
            <a:grpSpLocks/>
          </p:cNvGrpSpPr>
          <p:nvPr/>
        </p:nvGrpSpPr>
        <p:grpSpPr bwMode="auto">
          <a:xfrm>
            <a:off x="1106649" y="3212976"/>
            <a:ext cx="5040560" cy="766752"/>
            <a:chOff x="2133600" y="4242147"/>
            <a:chExt cx="4724400" cy="685800"/>
          </a:xfrm>
        </p:grpSpPr>
        <p:sp>
          <p:nvSpPr>
            <p:cNvPr id="32" name="AutoShape 15">
              <a:extLst>
                <a:ext uri="{FF2B5EF4-FFF2-40B4-BE49-F238E27FC236}">
                  <a16:creationId xmlns:a16="http://schemas.microsoft.com/office/drawing/2014/main" id="{023E80FF-D433-A40B-A4E7-4E9548B31C6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4308822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88" name="AutoShape 16">
              <a:extLst>
                <a:ext uri="{FF2B5EF4-FFF2-40B4-BE49-F238E27FC236}">
                  <a16:creationId xmlns:a16="http://schemas.microsoft.com/office/drawing/2014/main" id="{93905B3A-01A0-FCD3-804A-9079C729B5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4242147"/>
              <a:ext cx="685800" cy="685800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89" name="Text Box 17">
              <a:extLst>
                <a:ext uri="{FF2B5EF4-FFF2-40B4-BE49-F238E27FC236}">
                  <a16:creationId xmlns:a16="http://schemas.microsoft.com/office/drawing/2014/main" id="{15C6E131-75F5-6558-9FA5-B9A357C524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4354859"/>
              <a:ext cx="3556000" cy="44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CC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요구사항 및 개념적 설계</a:t>
              </a:r>
            </a:p>
          </p:txBody>
        </p:sp>
      </p:grpSp>
      <p:sp>
        <p:nvSpPr>
          <p:cNvPr id="7180" name="슬라이드 번호 개체 틀 36">
            <a:extLst>
              <a:ext uri="{FF2B5EF4-FFF2-40B4-BE49-F238E27FC236}">
                <a16:creationId xmlns:a16="http://schemas.microsoft.com/office/drawing/2014/main" id="{16EF164A-3ABC-7ADA-C07B-FB412F33F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66AB0B-096B-4E80-89B3-A15B6607A0C5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그룹 42">
            <a:extLst>
              <a:ext uri="{FF2B5EF4-FFF2-40B4-BE49-F238E27FC236}">
                <a16:creationId xmlns:a16="http://schemas.microsoft.com/office/drawing/2014/main" id="{5A1CD52E-6201-D730-8B47-5DACE0CB9C39}"/>
              </a:ext>
            </a:extLst>
          </p:cNvPr>
          <p:cNvGrpSpPr>
            <a:grpSpLocks/>
          </p:cNvGrpSpPr>
          <p:nvPr/>
        </p:nvGrpSpPr>
        <p:grpSpPr bwMode="auto">
          <a:xfrm>
            <a:off x="1081741" y="4777719"/>
            <a:ext cx="5040560" cy="766752"/>
            <a:chOff x="2133600" y="5191472"/>
            <a:chExt cx="4724400" cy="685800"/>
          </a:xfrm>
        </p:grpSpPr>
        <p:sp>
          <p:nvSpPr>
            <p:cNvPr id="11" name="AutoShape 43">
              <a:extLst>
                <a:ext uri="{FF2B5EF4-FFF2-40B4-BE49-F238E27FC236}">
                  <a16:creationId xmlns:a16="http://schemas.microsoft.com/office/drawing/2014/main" id="{13FB8727-ACAF-969C-8974-75AC874F14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5310534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9C215"/>
                </a:gs>
                <a:gs pos="50000">
                  <a:srgbClr val="F7F2CD"/>
                </a:gs>
                <a:gs pos="100000">
                  <a:srgbClr val="D9C215"/>
                </a:gs>
              </a:gsLst>
              <a:lin ang="540000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AutoShape 44">
              <a:extLst>
                <a:ext uri="{FF2B5EF4-FFF2-40B4-BE49-F238E27FC236}">
                  <a16:creationId xmlns:a16="http://schemas.microsoft.com/office/drawing/2014/main" id="{D53A5071-70D3-94A4-ADF2-ABFA449A052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5191472"/>
              <a:ext cx="685800" cy="685800"/>
            </a:xfrm>
            <a:prstGeom prst="diamond">
              <a:avLst/>
            </a:prstGeom>
            <a:solidFill>
              <a:srgbClr val="D9C215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 Box 45">
              <a:extLst>
                <a:ext uri="{FF2B5EF4-FFF2-40B4-BE49-F238E27FC236}">
                  <a16:creationId xmlns:a16="http://schemas.microsoft.com/office/drawing/2014/main" id="{6F171C9A-634A-E4EC-7725-AC5C5A730BF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87675" y="5366097"/>
              <a:ext cx="3529013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333333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참고문헌</a:t>
              </a:r>
            </a:p>
          </p:txBody>
        </p:sp>
      </p:grpSp>
      <p:grpSp>
        <p:nvGrpSpPr>
          <p:cNvPr id="18" name="그룹 34">
            <a:extLst>
              <a:ext uri="{FF2B5EF4-FFF2-40B4-BE49-F238E27FC236}">
                <a16:creationId xmlns:a16="http://schemas.microsoft.com/office/drawing/2014/main" id="{A9EEC1D6-8511-7275-672D-B35440674418}"/>
              </a:ext>
            </a:extLst>
          </p:cNvPr>
          <p:cNvGrpSpPr>
            <a:grpSpLocks/>
          </p:cNvGrpSpPr>
          <p:nvPr/>
        </p:nvGrpSpPr>
        <p:grpSpPr bwMode="auto">
          <a:xfrm>
            <a:off x="1047866" y="5313206"/>
            <a:ext cx="5040560" cy="766752"/>
            <a:chOff x="2133600" y="1143000"/>
            <a:chExt cx="4724400" cy="6858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00FC1010-5EF7-C9B6-F2BE-AA9269B4BB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262063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AutoShape 6">
              <a:extLst>
                <a:ext uri="{FF2B5EF4-FFF2-40B4-BE49-F238E27FC236}">
                  <a16:creationId xmlns:a16="http://schemas.microsoft.com/office/drawing/2014/main" id="{1E70E4B0-0735-B6FE-A969-B99BB0A6A17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143000"/>
              <a:ext cx="685800" cy="685800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C6089FA1-00E4-9503-0C98-9081F25C0A1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308100"/>
              <a:ext cx="3556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 설계</a:t>
              </a:r>
            </a:p>
          </p:txBody>
        </p:sp>
      </p:grpSp>
      <p:grpSp>
        <p:nvGrpSpPr>
          <p:cNvPr id="22" name="그룹 36">
            <a:extLst>
              <a:ext uri="{FF2B5EF4-FFF2-40B4-BE49-F238E27FC236}">
                <a16:creationId xmlns:a16="http://schemas.microsoft.com/office/drawing/2014/main" id="{2D4FC7A0-BAB9-83A4-FC5A-C822DFCEA65C}"/>
              </a:ext>
            </a:extLst>
          </p:cNvPr>
          <p:cNvGrpSpPr>
            <a:grpSpLocks/>
          </p:cNvGrpSpPr>
          <p:nvPr/>
        </p:nvGrpSpPr>
        <p:grpSpPr bwMode="auto">
          <a:xfrm>
            <a:off x="1081741" y="3623134"/>
            <a:ext cx="5040560" cy="766752"/>
            <a:chOff x="2133600" y="1635218"/>
            <a:chExt cx="4724400" cy="685800"/>
          </a:xfrm>
        </p:grpSpPr>
        <p:sp>
          <p:nvSpPr>
            <p:cNvPr id="23" name="AutoShape 10">
              <a:extLst>
                <a:ext uri="{FF2B5EF4-FFF2-40B4-BE49-F238E27FC236}">
                  <a16:creationId xmlns:a16="http://schemas.microsoft.com/office/drawing/2014/main" id="{1C832C22-1C40-BA23-D63D-C886D33754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1766981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5" name="AutoShape 11">
              <a:extLst>
                <a:ext uri="{FF2B5EF4-FFF2-40B4-BE49-F238E27FC236}">
                  <a16:creationId xmlns:a16="http://schemas.microsoft.com/office/drawing/2014/main" id="{0D7E4B7D-5313-A508-DED2-4E6D51C8AD0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1635218"/>
              <a:ext cx="685800" cy="685800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9CA3557B-19AE-6844-251A-2001C0C066D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1812925"/>
              <a:ext cx="3556000" cy="330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000099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도구 및 산출물</a:t>
              </a:r>
            </a:p>
          </p:txBody>
        </p:sp>
      </p:grpSp>
      <p:grpSp>
        <p:nvGrpSpPr>
          <p:cNvPr id="27" name="그룹 37">
            <a:extLst>
              <a:ext uri="{FF2B5EF4-FFF2-40B4-BE49-F238E27FC236}">
                <a16:creationId xmlns:a16="http://schemas.microsoft.com/office/drawing/2014/main" id="{37C1F988-EC5D-1CEF-0722-577377A6669D}"/>
              </a:ext>
            </a:extLst>
          </p:cNvPr>
          <p:cNvGrpSpPr>
            <a:grpSpLocks/>
          </p:cNvGrpSpPr>
          <p:nvPr/>
        </p:nvGrpSpPr>
        <p:grpSpPr bwMode="auto">
          <a:xfrm>
            <a:off x="1072774" y="4258041"/>
            <a:ext cx="5040560" cy="766752"/>
            <a:chOff x="2133600" y="2208213"/>
            <a:chExt cx="4724400" cy="685800"/>
          </a:xfrm>
        </p:grpSpPr>
        <p:sp>
          <p:nvSpPr>
            <p:cNvPr id="28" name="AutoShape 15">
              <a:extLst>
                <a:ext uri="{FF2B5EF4-FFF2-40B4-BE49-F238E27FC236}">
                  <a16:creationId xmlns:a16="http://schemas.microsoft.com/office/drawing/2014/main" id="{F1B3DD59-238E-7652-71C9-E913C88600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514600" y="2276476"/>
              <a:ext cx="4343400" cy="4572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B0C51C2E-B106-70CD-1B23-F1716EB0C86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3600" y="2208213"/>
              <a:ext cx="685800" cy="685800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 b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 Box 17">
              <a:extLst>
                <a:ext uri="{FF2B5EF4-FFF2-40B4-BE49-F238E27FC236}">
                  <a16:creationId xmlns:a16="http://schemas.microsoft.com/office/drawing/2014/main" id="{F8A83053-AA3A-244C-54F0-F55FB0CF2A8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968625" y="2322513"/>
              <a:ext cx="35560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dist">
                <a:spcBef>
                  <a:spcPct val="0"/>
                </a:spcBef>
                <a:buClrTx/>
                <a:buFontTx/>
                <a:buNone/>
              </a:pPr>
              <a:r>
                <a:rPr kumimoji="0" lang="ko-KR" altLang="en-US" sz="1800" dirty="0">
                  <a:solidFill>
                    <a:srgbClr val="CC33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업무문답 및 수행일정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26725908-C091-4674-40A1-F276D6A5E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배경</a:t>
            </a:r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E9C183A1-39D8-79C8-7E8E-0F36DC25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36" y="877420"/>
            <a:ext cx="8229600" cy="557591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i="1" dirty="0">
                <a:solidFill>
                  <a:srgbClr val="FF0808"/>
                </a:solidFill>
              </a:rPr>
              <a:t>[</a:t>
            </a:r>
            <a:r>
              <a:rPr lang="ko-KR" altLang="en-US" sz="1600" i="1" dirty="0">
                <a:solidFill>
                  <a:srgbClr val="FF0808"/>
                </a:solidFill>
              </a:rPr>
              <a:t>참고</a:t>
            </a:r>
            <a:r>
              <a:rPr lang="en-US" altLang="ko-KR" sz="1600" i="1" dirty="0">
                <a:solidFill>
                  <a:srgbClr val="FF0808"/>
                </a:solidFill>
              </a:rPr>
              <a:t>] </a:t>
            </a:r>
            <a:r>
              <a:rPr lang="ko-KR" altLang="en-US" sz="1600" i="1" dirty="0">
                <a:solidFill>
                  <a:srgbClr val="FF0808"/>
                </a:solidFill>
              </a:rPr>
              <a:t>일부 예시는 </a:t>
            </a:r>
            <a:r>
              <a:rPr lang="en-US" altLang="ko-KR" sz="1600" i="1" dirty="0">
                <a:solidFill>
                  <a:srgbClr val="FF0808"/>
                </a:solidFill>
              </a:rPr>
              <a:t>“</a:t>
            </a:r>
            <a:r>
              <a:rPr lang="ko-KR" altLang="en-US" sz="1600" i="1" dirty="0">
                <a:solidFill>
                  <a:srgbClr val="FF0808"/>
                </a:solidFill>
              </a:rPr>
              <a:t>생성형</a:t>
            </a:r>
            <a:r>
              <a:rPr lang="en-US" altLang="ko-KR" sz="1600" i="1" dirty="0">
                <a:solidFill>
                  <a:srgbClr val="FF0808"/>
                </a:solidFill>
              </a:rPr>
              <a:t>AI</a:t>
            </a:r>
            <a:r>
              <a:rPr lang="ko-KR" altLang="en-US" sz="1600" i="1" dirty="0">
                <a:solidFill>
                  <a:srgbClr val="FF0808"/>
                </a:solidFill>
              </a:rPr>
              <a:t>를  이용한 </a:t>
            </a:r>
            <a:r>
              <a:rPr lang="ko-KR" altLang="en-US" sz="1600" i="1" dirty="0" err="1">
                <a:solidFill>
                  <a:srgbClr val="FF0808"/>
                </a:solidFill>
              </a:rPr>
              <a:t>수학튜터서비스</a:t>
            </a:r>
            <a:r>
              <a:rPr lang="en-US" altLang="ko-KR" sz="1600" i="1" dirty="0">
                <a:solidFill>
                  <a:srgbClr val="FF0808"/>
                </a:solidFill>
              </a:rPr>
              <a:t>”</a:t>
            </a:r>
            <a:r>
              <a:rPr lang="ko-KR" altLang="en-US" sz="1600" i="1" dirty="0">
                <a:solidFill>
                  <a:srgbClr val="FF0808"/>
                </a:solidFill>
              </a:rPr>
              <a:t>로 가정하여 제시함</a:t>
            </a:r>
            <a:r>
              <a:rPr lang="en-US" altLang="ko-KR" sz="1600" i="1" dirty="0">
                <a:solidFill>
                  <a:srgbClr val="FF0808"/>
                </a:solidFill>
              </a:rPr>
              <a:t>. </a:t>
            </a:r>
          </a:p>
          <a:p>
            <a:pPr marL="0" indent="0">
              <a:buNone/>
              <a:defRPr/>
            </a:pPr>
            <a:endParaRPr lang="en-US" altLang="ko-KR" sz="1600" i="1" dirty="0">
              <a:solidFill>
                <a:srgbClr val="FF0808"/>
              </a:solidFill>
            </a:endParaRPr>
          </a:p>
          <a:p>
            <a:pPr>
              <a:defRPr/>
            </a:pPr>
            <a:r>
              <a:rPr lang="ko-KR" altLang="en-US" sz="1800" dirty="0"/>
              <a:t>최근의 관련 기술 동향 </a:t>
            </a:r>
            <a:r>
              <a:rPr lang="en-US" altLang="ko-KR" sz="1800" i="1" dirty="0">
                <a:solidFill>
                  <a:srgbClr val="FF0808"/>
                </a:solidFill>
              </a:rPr>
              <a:t>[</a:t>
            </a:r>
            <a:r>
              <a:rPr lang="ko-KR" altLang="en-US" sz="1800" i="1" dirty="0">
                <a:solidFill>
                  <a:srgbClr val="FF0808"/>
                </a:solidFill>
              </a:rPr>
              <a:t>참고문헌 번호추가</a:t>
            </a:r>
            <a:r>
              <a:rPr lang="en-US" altLang="ko-KR" sz="1800" i="1" dirty="0">
                <a:solidFill>
                  <a:srgbClr val="FF0808"/>
                </a:solidFill>
              </a:rPr>
              <a:t>]</a:t>
            </a:r>
            <a:endParaRPr lang="en-US" altLang="ko-KR" sz="1800" dirty="0"/>
          </a:p>
          <a:p>
            <a:pPr lvl="1">
              <a:defRPr/>
            </a:pPr>
            <a:r>
              <a:rPr lang="en-US" altLang="ko-KR" sz="1600" i="1" dirty="0">
                <a:solidFill>
                  <a:srgbClr val="FF0808"/>
                </a:solidFill>
              </a:rPr>
              <a:t>[</a:t>
            </a:r>
            <a:r>
              <a:rPr lang="ko-KR" altLang="en-US" sz="1600" i="1" dirty="0">
                <a:solidFill>
                  <a:srgbClr val="FF0808"/>
                </a:solidFill>
              </a:rPr>
              <a:t>가이드</a:t>
            </a:r>
            <a:r>
              <a:rPr lang="en-US" altLang="ko-KR" sz="1600" i="1" dirty="0">
                <a:solidFill>
                  <a:srgbClr val="FF0808"/>
                </a:solidFill>
              </a:rPr>
              <a:t>] </a:t>
            </a:r>
            <a:r>
              <a:rPr lang="ko-KR" altLang="en-US" sz="1600" i="1" dirty="0">
                <a:solidFill>
                  <a:srgbClr val="FF0808"/>
                </a:solidFill>
              </a:rPr>
              <a:t>선정한 주제를 포괄하는 넓은 기술분야의 동향을 간단히 서술</a:t>
            </a:r>
            <a:endParaRPr lang="en-US" altLang="ko-KR" sz="1600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sz="1600" i="1" dirty="0">
                <a:solidFill>
                  <a:srgbClr val="FF0808"/>
                </a:solidFill>
              </a:rPr>
              <a:t>[</a:t>
            </a:r>
            <a:r>
              <a:rPr lang="ko-KR" altLang="en-US" sz="1600" i="1" dirty="0">
                <a:solidFill>
                  <a:srgbClr val="FF0808"/>
                </a:solidFill>
              </a:rPr>
              <a:t>예</a:t>
            </a:r>
            <a:r>
              <a:rPr lang="en-US" altLang="ko-KR" sz="1600" i="1" dirty="0">
                <a:solidFill>
                  <a:srgbClr val="FF0808"/>
                </a:solidFill>
              </a:rPr>
              <a:t>] </a:t>
            </a:r>
            <a:r>
              <a:rPr lang="ko-KR" altLang="en-US" sz="1600" i="1" dirty="0">
                <a:solidFill>
                  <a:srgbClr val="FF0808"/>
                </a:solidFill>
              </a:rPr>
              <a:t>최근 들어</a:t>
            </a:r>
            <a:r>
              <a:rPr lang="en-US" altLang="ko-KR" sz="1600" i="1" dirty="0">
                <a:solidFill>
                  <a:srgbClr val="FF0808"/>
                </a:solidFill>
              </a:rPr>
              <a:t>, </a:t>
            </a:r>
            <a:r>
              <a:rPr lang="ko-KR" altLang="en-US" sz="1600" i="1" dirty="0">
                <a:solidFill>
                  <a:srgbClr val="FF0808"/>
                </a:solidFill>
              </a:rPr>
              <a:t>생성형 </a:t>
            </a:r>
            <a:r>
              <a:rPr lang="en-US" altLang="ko-KR" sz="1600" i="1" dirty="0">
                <a:solidFill>
                  <a:srgbClr val="FF0808"/>
                </a:solidFill>
              </a:rPr>
              <a:t>AI</a:t>
            </a:r>
            <a:r>
              <a:rPr lang="ko-KR" altLang="en-US" sz="1600" i="1" dirty="0">
                <a:solidFill>
                  <a:srgbClr val="FF0808"/>
                </a:solidFill>
              </a:rPr>
              <a:t>기술은 초기의 텍스트 생생기술을 이용한 </a:t>
            </a:r>
            <a:r>
              <a:rPr lang="ko-KR" altLang="en-US" sz="1600" i="1" dirty="0" err="1">
                <a:solidFill>
                  <a:srgbClr val="FF0808"/>
                </a:solidFill>
              </a:rPr>
              <a:t>영어튜터서비스를</a:t>
            </a:r>
            <a:r>
              <a:rPr lang="ko-KR" altLang="en-US" sz="1600" i="1" dirty="0">
                <a:solidFill>
                  <a:srgbClr val="FF0808"/>
                </a:solidFill>
              </a:rPr>
              <a:t> 넘어</a:t>
            </a:r>
            <a:r>
              <a:rPr lang="en-US" altLang="ko-KR" sz="1600" i="1" dirty="0">
                <a:solidFill>
                  <a:srgbClr val="FF0808"/>
                </a:solidFill>
              </a:rPr>
              <a:t>, </a:t>
            </a:r>
            <a:r>
              <a:rPr lang="ko-KR" altLang="en-US" sz="1600" i="1" dirty="0" err="1">
                <a:solidFill>
                  <a:srgbClr val="FF0808"/>
                </a:solidFill>
              </a:rPr>
              <a:t>수학튜터</a:t>
            </a:r>
            <a:r>
              <a:rPr lang="en-US" altLang="ko-KR" sz="1600" i="1" dirty="0">
                <a:solidFill>
                  <a:srgbClr val="FF0808"/>
                </a:solidFill>
              </a:rPr>
              <a:t>, </a:t>
            </a:r>
            <a:r>
              <a:rPr lang="ko-KR" altLang="en-US" sz="1600" i="1" dirty="0" err="1">
                <a:solidFill>
                  <a:srgbClr val="FF0808"/>
                </a:solidFill>
              </a:rPr>
              <a:t>과학튜터</a:t>
            </a:r>
            <a:r>
              <a:rPr lang="ko-KR" altLang="en-US" sz="1600" i="1" dirty="0">
                <a:solidFill>
                  <a:srgbClr val="FF0808"/>
                </a:solidFill>
              </a:rPr>
              <a:t> 등에 사용할 수 있는 논리적 추론기술이 개발되어 고도화되고 있다</a:t>
            </a:r>
            <a:r>
              <a:rPr lang="en-US" altLang="ko-KR" sz="1600" i="1" dirty="0">
                <a:solidFill>
                  <a:srgbClr val="FF0808"/>
                </a:solidFill>
              </a:rPr>
              <a:t>. </a:t>
            </a:r>
          </a:p>
          <a:p>
            <a:pPr lvl="1">
              <a:defRPr/>
            </a:pPr>
            <a:endParaRPr lang="en-US" altLang="ko-KR" sz="1600" i="1" dirty="0">
              <a:solidFill>
                <a:srgbClr val="FF0808"/>
              </a:solidFill>
            </a:endParaRPr>
          </a:p>
          <a:p>
            <a:pPr>
              <a:defRPr/>
            </a:pPr>
            <a:r>
              <a:rPr lang="ko-KR" altLang="en-US" sz="1800" dirty="0"/>
              <a:t>최근의 관련 산업</a:t>
            </a:r>
            <a:r>
              <a:rPr lang="en-US" altLang="ko-KR" sz="1800" dirty="0"/>
              <a:t>(</a:t>
            </a:r>
            <a:r>
              <a:rPr lang="ko-KR" altLang="en-US" sz="1800" dirty="0"/>
              <a:t>시장</a:t>
            </a:r>
            <a:r>
              <a:rPr lang="en-US" altLang="ko-KR" sz="1800" dirty="0"/>
              <a:t>)</a:t>
            </a:r>
            <a:r>
              <a:rPr lang="ko-KR" altLang="en-US" sz="1800" dirty="0"/>
              <a:t>의  동향 </a:t>
            </a:r>
            <a:r>
              <a:rPr lang="en-US" altLang="ko-KR" sz="1800" i="1" dirty="0">
                <a:solidFill>
                  <a:srgbClr val="FF0808"/>
                </a:solidFill>
              </a:rPr>
              <a:t>[</a:t>
            </a:r>
            <a:r>
              <a:rPr lang="ko-KR" altLang="en-US" sz="1800" i="1" dirty="0">
                <a:solidFill>
                  <a:srgbClr val="FF0808"/>
                </a:solidFill>
              </a:rPr>
              <a:t>참고문헌 번호추가</a:t>
            </a:r>
            <a:r>
              <a:rPr lang="en-US" altLang="ko-KR" sz="1800" i="1" dirty="0">
                <a:solidFill>
                  <a:srgbClr val="FF0808"/>
                </a:solidFill>
              </a:rPr>
              <a:t>]</a:t>
            </a:r>
            <a:endParaRPr lang="en-US" altLang="ko-KR" sz="1800" dirty="0"/>
          </a:p>
          <a:p>
            <a:pPr lvl="1">
              <a:defRPr/>
            </a:pPr>
            <a:r>
              <a:rPr lang="en-US" altLang="ko-KR" sz="1600" i="1" dirty="0">
                <a:solidFill>
                  <a:srgbClr val="FF0808"/>
                </a:solidFill>
              </a:rPr>
              <a:t>[</a:t>
            </a:r>
            <a:r>
              <a:rPr lang="ko-KR" altLang="en-US" sz="1600" i="1" dirty="0">
                <a:solidFill>
                  <a:srgbClr val="FF0808"/>
                </a:solidFill>
              </a:rPr>
              <a:t>가이드</a:t>
            </a:r>
            <a:r>
              <a:rPr lang="en-US" altLang="ko-KR" sz="1600" i="1" dirty="0">
                <a:solidFill>
                  <a:srgbClr val="FF0808"/>
                </a:solidFill>
              </a:rPr>
              <a:t>]  </a:t>
            </a:r>
          </a:p>
          <a:p>
            <a:pPr lvl="2">
              <a:defRPr/>
            </a:pPr>
            <a:r>
              <a:rPr lang="ko-KR" altLang="en-US" sz="1400" i="1" dirty="0">
                <a:solidFill>
                  <a:srgbClr val="FF0808"/>
                </a:solidFill>
              </a:rPr>
              <a:t>국내</a:t>
            </a:r>
            <a:r>
              <a:rPr lang="en-US" altLang="ko-KR" sz="1400" i="1" dirty="0">
                <a:solidFill>
                  <a:srgbClr val="FF0808"/>
                </a:solidFill>
              </a:rPr>
              <a:t>/</a:t>
            </a:r>
            <a:r>
              <a:rPr lang="ko-KR" altLang="en-US" sz="1400" i="1" dirty="0">
                <a:solidFill>
                  <a:srgbClr val="FF0808"/>
                </a:solidFill>
              </a:rPr>
              <a:t>국외 관련 시장의 연도별 추이그래프 등을 이용하여 설명</a:t>
            </a:r>
            <a:r>
              <a:rPr lang="en-US" altLang="ko-KR" sz="1400" i="1" dirty="0">
                <a:solidFill>
                  <a:srgbClr val="FF0808"/>
                </a:solidFill>
              </a:rPr>
              <a:t>, </a:t>
            </a:r>
          </a:p>
          <a:p>
            <a:pPr lvl="2">
              <a:defRPr/>
            </a:pPr>
            <a:r>
              <a:rPr lang="ko-KR" altLang="en-US" sz="1400" i="1" dirty="0">
                <a:solidFill>
                  <a:srgbClr val="FF0808"/>
                </a:solidFill>
              </a:rPr>
              <a:t>신규 서비스라 시장집계가 없을 경우</a:t>
            </a:r>
            <a:r>
              <a:rPr lang="en-US" altLang="ko-KR" sz="1400" i="1" dirty="0">
                <a:solidFill>
                  <a:srgbClr val="FF0808"/>
                </a:solidFill>
              </a:rPr>
              <a:t>, </a:t>
            </a:r>
            <a:r>
              <a:rPr lang="ko-KR" altLang="en-US" sz="1400" i="1" dirty="0">
                <a:solidFill>
                  <a:srgbClr val="FF0808"/>
                </a:solidFill>
              </a:rPr>
              <a:t>관련 사례의 매출 등으로 대체 가능</a:t>
            </a:r>
            <a:endParaRPr lang="en-US" altLang="ko-KR" sz="1400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sz="1600" i="1" dirty="0">
                <a:solidFill>
                  <a:srgbClr val="FF0808"/>
                </a:solidFill>
              </a:rPr>
              <a:t>[</a:t>
            </a:r>
            <a:r>
              <a:rPr lang="ko-KR" altLang="en-US" sz="1600" i="1" dirty="0">
                <a:solidFill>
                  <a:srgbClr val="FF0808"/>
                </a:solidFill>
              </a:rPr>
              <a:t>예</a:t>
            </a:r>
            <a:r>
              <a:rPr lang="en-US" altLang="ko-KR" sz="1600" i="1" dirty="0">
                <a:solidFill>
                  <a:srgbClr val="FF0808"/>
                </a:solidFill>
              </a:rPr>
              <a:t>]</a:t>
            </a:r>
          </a:p>
          <a:p>
            <a:pPr lvl="2">
              <a:defRPr/>
            </a:pPr>
            <a:r>
              <a:rPr lang="ko-KR" altLang="en-US" sz="1400" i="1" dirty="0" err="1">
                <a:solidFill>
                  <a:srgbClr val="FF0808"/>
                </a:solidFill>
              </a:rPr>
              <a:t>수학튜터서비스</a:t>
            </a:r>
            <a:r>
              <a:rPr lang="ko-KR" altLang="en-US" sz="1400" i="1" dirty="0">
                <a:solidFill>
                  <a:srgbClr val="FF0808"/>
                </a:solidFill>
              </a:rPr>
              <a:t> </a:t>
            </a:r>
            <a:r>
              <a:rPr lang="ko-KR" altLang="en-US" sz="1400" i="1" dirty="0" err="1">
                <a:solidFill>
                  <a:srgbClr val="FF0808"/>
                </a:solidFill>
              </a:rPr>
              <a:t>시장의그래프와</a:t>
            </a:r>
            <a:r>
              <a:rPr lang="ko-KR" altLang="en-US" sz="1400" i="1" dirty="0">
                <a:solidFill>
                  <a:srgbClr val="FF0808"/>
                </a:solidFill>
              </a:rPr>
              <a:t> 설명 </a:t>
            </a:r>
            <a:endParaRPr lang="en-US" altLang="ko-KR" sz="1400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en-US" altLang="ko-KR" sz="1400" i="1" dirty="0">
                <a:solidFill>
                  <a:srgbClr val="FF0808"/>
                </a:solidFill>
              </a:rPr>
              <a:t>(AI)</a:t>
            </a:r>
            <a:r>
              <a:rPr lang="ko-KR" altLang="en-US" sz="1400" i="1" dirty="0" err="1">
                <a:solidFill>
                  <a:srgbClr val="FF0808"/>
                </a:solidFill>
              </a:rPr>
              <a:t>튜터서비스</a:t>
            </a:r>
            <a:r>
              <a:rPr lang="ko-KR" altLang="en-US" sz="1400" i="1" dirty="0">
                <a:solidFill>
                  <a:srgbClr val="FF0808"/>
                </a:solidFill>
              </a:rPr>
              <a:t> 시장의 그래프와 설명</a:t>
            </a:r>
            <a:endParaRPr lang="en-US" altLang="ko-KR" sz="1400" i="1" dirty="0">
              <a:solidFill>
                <a:srgbClr val="FF0808"/>
              </a:solidFill>
            </a:endParaRPr>
          </a:p>
          <a:p>
            <a:pPr lvl="2">
              <a:defRPr/>
            </a:pPr>
            <a:endParaRPr lang="en-US" altLang="ko-KR" sz="1400" i="1" dirty="0">
              <a:solidFill>
                <a:srgbClr val="FF0808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dirty="0">
                <a:solidFill>
                  <a:srgbClr val="0000FF"/>
                </a:solidFill>
              </a:rPr>
              <a:t>[</a:t>
            </a:r>
            <a:r>
              <a:rPr lang="ko-KR" altLang="en-US" sz="1800" dirty="0">
                <a:solidFill>
                  <a:srgbClr val="0000FF"/>
                </a:solidFill>
              </a:rPr>
              <a:t>평가 관점</a:t>
            </a:r>
            <a:r>
              <a:rPr lang="en-US" altLang="ko-KR" sz="1800" dirty="0">
                <a:solidFill>
                  <a:srgbClr val="0000FF"/>
                </a:solidFill>
              </a:rPr>
              <a:t>]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FF"/>
                </a:solidFill>
              </a:rPr>
              <a:t>최근의 기술</a:t>
            </a:r>
            <a:r>
              <a:rPr lang="en-US" altLang="ko-KR" sz="1600" dirty="0">
                <a:solidFill>
                  <a:srgbClr val="0000FF"/>
                </a:solidFill>
              </a:rPr>
              <a:t>/</a:t>
            </a:r>
            <a:r>
              <a:rPr lang="ko-KR" altLang="en-US" sz="1600" dirty="0">
                <a:solidFill>
                  <a:srgbClr val="0000FF"/>
                </a:solidFill>
              </a:rPr>
              <a:t>산업적 동향관점에서 적절한 주제분야를 선택했는가</a:t>
            </a:r>
            <a:r>
              <a:rPr lang="en-US" altLang="ko-KR" sz="16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90A71EC2-8023-AC15-6A17-EA4109DA0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B8ECE8-66AF-4982-B485-07FD077AF6D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8D6F1C6F-8088-D82B-7FCE-AA996BCB3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</a:t>
            </a:r>
            <a:r>
              <a:rPr lang="en-US" altLang="ko-KR" dirty="0"/>
              <a:t> </a:t>
            </a:r>
            <a:r>
              <a:rPr lang="ko-KR" altLang="en-US" dirty="0"/>
              <a:t>및 사례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0C80C984-B6D9-EBCA-6D82-A671C8F93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713" y="972868"/>
            <a:ext cx="8229600" cy="4716462"/>
          </a:xfrm>
        </p:spPr>
        <p:txBody>
          <a:bodyPr/>
          <a:lstStyle/>
          <a:p>
            <a:pPr>
              <a:defRPr/>
            </a:pPr>
            <a:r>
              <a:rPr lang="ko-KR" altLang="en-US" sz="1600" dirty="0"/>
              <a:t>주제와 관련하여 어떻게 기술개발</a:t>
            </a:r>
            <a:r>
              <a:rPr lang="en-US" altLang="ko-KR" sz="1600" dirty="0"/>
              <a:t>, </a:t>
            </a:r>
            <a:r>
              <a:rPr lang="ko-KR" altLang="en-US" sz="1600" dirty="0"/>
              <a:t>연구</a:t>
            </a:r>
            <a:r>
              <a:rPr lang="en-US" altLang="ko-KR" sz="1600" dirty="0"/>
              <a:t>, </a:t>
            </a:r>
            <a:r>
              <a:rPr lang="ko-KR" altLang="en-US" sz="1600" dirty="0"/>
              <a:t>혹은 사례</a:t>
            </a:r>
            <a:r>
              <a:rPr lang="en-US" altLang="ko-KR" sz="1600" dirty="0"/>
              <a:t>(</a:t>
            </a:r>
            <a:r>
              <a:rPr lang="ko-KR" altLang="en-US" sz="1600" dirty="0"/>
              <a:t>응용</a:t>
            </a:r>
            <a:r>
              <a:rPr lang="en-US" altLang="ko-KR" sz="1600" dirty="0"/>
              <a:t>, </a:t>
            </a:r>
            <a:r>
              <a:rPr lang="ko-KR" altLang="en-US" sz="1600" dirty="0"/>
              <a:t>서비스</a:t>
            </a:r>
            <a:r>
              <a:rPr lang="en-US" altLang="ko-KR" sz="1600" dirty="0"/>
              <a:t>, </a:t>
            </a:r>
            <a:r>
              <a:rPr lang="ko-KR" altLang="en-US" sz="1600" dirty="0"/>
              <a:t>오픈소스 등</a:t>
            </a:r>
            <a:r>
              <a:rPr lang="en-US" altLang="ko-KR" sz="1600" dirty="0"/>
              <a:t>) 3~5</a:t>
            </a:r>
            <a:r>
              <a:rPr lang="ko-KR" altLang="en-US" sz="1600" dirty="0"/>
              <a:t>개 소개 </a:t>
            </a:r>
            <a:r>
              <a:rPr lang="ko-KR" altLang="en-US" sz="1400" dirty="0"/>
              <a:t>개발할 주제와 관련 있는 기술</a:t>
            </a:r>
            <a:r>
              <a:rPr lang="en-US" altLang="ko-KR" sz="1400" dirty="0"/>
              <a:t>, </a:t>
            </a:r>
            <a:r>
              <a:rPr lang="ko-KR" altLang="en-US" sz="1400" dirty="0"/>
              <a:t>연구</a:t>
            </a:r>
            <a:r>
              <a:rPr lang="en-US" altLang="ko-KR" sz="1400" dirty="0"/>
              <a:t>, </a:t>
            </a:r>
            <a:r>
              <a:rPr lang="ko-KR" altLang="en-US" sz="1400" dirty="0"/>
              <a:t>혹은 사례를 </a:t>
            </a:r>
            <a:r>
              <a:rPr lang="en-US" altLang="ko-KR" sz="1400" dirty="0"/>
              <a:t>3~5</a:t>
            </a:r>
            <a:r>
              <a:rPr lang="ko-KR" altLang="en-US" sz="1400" dirty="0"/>
              <a:t>개의 특징을 간단히 서술 </a:t>
            </a:r>
            <a:endParaRPr lang="en-US" altLang="ko-KR" sz="1400" dirty="0"/>
          </a:p>
          <a:p>
            <a:pPr lvl="1">
              <a:defRPr/>
            </a:pPr>
            <a:r>
              <a:rPr lang="en-US" altLang="ko-KR" sz="1200" i="1" dirty="0">
                <a:solidFill>
                  <a:srgbClr val="FF0808"/>
                </a:solidFill>
              </a:rPr>
              <a:t>[</a:t>
            </a:r>
            <a:r>
              <a:rPr lang="ko-KR" altLang="en-US" sz="1200" i="1" dirty="0">
                <a:solidFill>
                  <a:srgbClr val="FF0808"/>
                </a:solidFill>
              </a:rPr>
              <a:t>가이드</a:t>
            </a:r>
            <a:r>
              <a:rPr lang="en-US" altLang="ko-KR" sz="1200" i="1" dirty="0">
                <a:solidFill>
                  <a:srgbClr val="FF0808"/>
                </a:solidFill>
              </a:rPr>
              <a:t>] </a:t>
            </a:r>
            <a:r>
              <a:rPr lang="ko-KR" altLang="en-US" sz="1200" i="1" dirty="0">
                <a:solidFill>
                  <a:srgbClr val="FF0808"/>
                </a:solidFill>
              </a:rPr>
              <a:t>개별 사례를 각각 설명하거나  표로 정리하여 설명</a:t>
            </a:r>
            <a:endParaRPr lang="en-US" altLang="ko-KR" sz="1200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sz="1200" i="1" dirty="0">
                <a:solidFill>
                  <a:srgbClr val="FF0808"/>
                </a:solidFill>
              </a:rPr>
              <a:t>[</a:t>
            </a:r>
            <a:r>
              <a:rPr lang="ko-KR" altLang="en-US" sz="1200" i="1" dirty="0">
                <a:solidFill>
                  <a:srgbClr val="FF0808"/>
                </a:solidFill>
              </a:rPr>
              <a:t>주의</a:t>
            </a:r>
            <a:r>
              <a:rPr lang="en-US" altLang="ko-KR" sz="1200" i="1" dirty="0">
                <a:solidFill>
                  <a:srgbClr val="FF0808"/>
                </a:solidFill>
              </a:rPr>
              <a:t>] </a:t>
            </a:r>
            <a:r>
              <a:rPr lang="ko-KR" altLang="en-US" sz="1200" i="1" dirty="0">
                <a:solidFill>
                  <a:srgbClr val="FF0808"/>
                </a:solidFill>
              </a:rPr>
              <a:t>선정주제를 설명하는데 필요한 배경지식이 아니라 유사 혹은 경쟁 연구</a:t>
            </a:r>
            <a:r>
              <a:rPr lang="en-US" altLang="ko-KR" sz="1200" i="1" dirty="0">
                <a:solidFill>
                  <a:srgbClr val="FF0808"/>
                </a:solidFill>
              </a:rPr>
              <a:t>/</a:t>
            </a:r>
            <a:r>
              <a:rPr lang="ko-KR" altLang="en-US" sz="1200" i="1" dirty="0">
                <a:solidFill>
                  <a:srgbClr val="FF0808"/>
                </a:solidFill>
              </a:rPr>
              <a:t>기술</a:t>
            </a:r>
            <a:r>
              <a:rPr lang="en-US" altLang="ko-KR" sz="1200" i="1" dirty="0">
                <a:solidFill>
                  <a:srgbClr val="FF0808"/>
                </a:solidFill>
              </a:rPr>
              <a:t>/</a:t>
            </a:r>
            <a:r>
              <a:rPr lang="ko-KR" altLang="en-US" sz="1200" i="1" dirty="0">
                <a:solidFill>
                  <a:srgbClr val="FF0808"/>
                </a:solidFill>
              </a:rPr>
              <a:t>사례를 설명</a:t>
            </a:r>
            <a:endParaRPr lang="en-US" altLang="ko-KR" sz="1200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sz="1200" i="1" dirty="0">
                <a:solidFill>
                  <a:srgbClr val="FF0808"/>
                </a:solidFill>
              </a:rPr>
              <a:t>[</a:t>
            </a:r>
            <a:r>
              <a:rPr lang="ko-KR" altLang="en-US" sz="1200" i="1" dirty="0">
                <a:solidFill>
                  <a:srgbClr val="FF0808"/>
                </a:solidFill>
              </a:rPr>
              <a:t>예</a:t>
            </a:r>
            <a:r>
              <a:rPr lang="en-US" altLang="ko-KR" sz="1200" i="1" dirty="0">
                <a:solidFill>
                  <a:srgbClr val="FF0808"/>
                </a:solidFill>
              </a:rPr>
              <a:t>]</a:t>
            </a:r>
            <a:r>
              <a:rPr lang="ko-KR" altLang="en-US" sz="1200" i="1" dirty="0">
                <a:solidFill>
                  <a:srgbClr val="FF0808"/>
                </a:solidFill>
              </a:rPr>
              <a:t> 표로 설명한 사례</a:t>
            </a:r>
            <a:endParaRPr lang="ko-KR" altLang="en-US" sz="1600" dirty="0"/>
          </a:p>
        </p:txBody>
      </p:sp>
      <p:sp>
        <p:nvSpPr>
          <p:cNvPr id="12293" name="슬라이드 번호 개체 틀 21">
            <a:extLst>
              <a:ext uri="{FF2B5EF4-FFF2-40B4-BE49-F238E27FC236}">
                <a16:creationId xmlns:a16="http://schemas.microsoft.com/office/drawing/2014/main" id="{5D6E8F6F-7446-79A0-C672-157C9C76E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B8A4BD-3F6B-4176-A083-B679BCCCB1F0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28042C52-4E62-665F-02B3-CD6720661047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2504521"/>
            <a:ext cx="5263807" cy="3195637"/>
            <a:chOff x="1164" y="981"/>
            <a:chExt cx="4535" cy="2993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626E15B1-8284-9D26-BBDC-C63C9663F64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226" y="981"/>
              <a:ext cx="860" cy="169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7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r>
                <a:rPr lang="ko-KR" altLang="en-US" sz="105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  <a:ea typeface="돋움" pitchFamily="50" charset="-127"/>
                </a:rPr>
                <a:t>  메신저 이름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586939F1-2AEB-D4BD-9B05-6C702FB026C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41" y="981"/>
              <a:ext cx="3613" cy="169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7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05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  <a:ea typeface="돋움" pitchFamily="50" charset="-127"/>
                </a:rPr>
                <a:t> 내      용</a:t>
              </a: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24ABBBA-4183-2D8E-6522-2518DB8F36ED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224" y="981"/>
              <a:ext cx="44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B43B595-0464-5E0D-12E7-5552D014F29B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225" y="1149"/>
              <a:ext cx="44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EBB346DE-ED8F-0250-0BA7-8EF8C9B5E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6" y="2115"/>
              <a:ext cx="4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A00D3D8A-948C-E7A8-79B6-BCA2CB4A0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4" y="1562"/>
              <a:ext cx="410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1">
                  <a:latin typeface="휴먼엑스포" pitchFamily="2" charset="-127"/>
                  <a:ea typeface="휴먼엑스포" pitchFamily="2" charset="-127"/>
                </a:rPr>
                <a:t>msn</a:t>
              </a:r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84D458DD-4FFF-8E28-A3D2-BB6E44178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6" y="1148"/>
              <a:ext cx="0" cy="282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Box 13">
              <a:extLst>
                <a:ext uri="{FF2B5EF4-FFF2-40B4-BE49-F238E27FC236}">
                  <a16:creationId xmlns:a16="http://schemas.microsoft.com/office/drawing/2014/main" id="{C81BA9DC-6EA1-28CC-CC93-8FECE3731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4" y="2515"/>
              <a:ext cx="659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en-US" altLang="ko-KR" sz="1050" b="1">
                  <a:latin typeface="휴먼엑스포" pitchFamily="2" charset="-127"/>
                  <a:ea typeface="휴먼엑스포" pitchFamily="2" charset="-127"/>
                </a:rPr>
                <a:t>nate on</a:t>
              </a:r>
            </a:p>
          </p:txBody>
        </p:sp>
        <p:sp>
          <p:nvSpPr>
            <p:cNvPr id="23" name="Text Box 14">
              <a:extLst>
                <a:ext uri="{FF2B5EF4-FFF2-40B4-BE49-F238E27FC236}">
                  <a16:creationId xmlns:a16="http://schemas.microsoft.com/office/drawing/2014/main" id="{4D2AC4D2-4FB1-BDDD-9382-73859F76B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1162"/>
              <a:ext cx="3703" cy="8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11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- 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현재 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MSN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은 디지털 콘텐츠 전문기업 디지털프리즘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  <a:hlinkClick r:id="rId2"/>
                </a:rPr>
                <a:t>www.digitalprism.co.kr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)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과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 제휴를 맺고 지난해 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10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월부터 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MSN 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메신저 엔터테인먼트 탭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(Tab)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과 </a:t>
              </a:r>
            </a:p>
            <a:p>
              <a:pPr eaLnBrk="1" latinLnBrk="1" hangingPunct="1">
                <a:lnSpc>
                  <a:spcPct val="120000"/>
                </a:lnSpc>
                <a:buFontTx/>
                <a:buChar char="-"/>
                <a:defRPr/>
              </a:pP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MSN 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음악 서비스를 제공하고 있다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. 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이 서비스는 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월정액의 요금제를 적용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하는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 유료 서비스이며</a:t>
              </a:r>
              <a:r>
                <a:rPr lang="en-US" altLang="ko-KR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, </a:t>
              </a:r>
              <a:r>
                <a:rPr lang="ko-KR" altLang="en-US" sz="700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요금은 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한 달에 </a:t>
              </a:r>
              <a:r>
                <a:rPr lang="en-US" altLang="ko-KR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3000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원</a:t>
              </a:r>
              <a:endParaRPr lang="ko-KR" altLang="en-US" sz="700" dirty="0">
                <a:solidFill>
                  <a:schemeClr val="bg2">
                    <a:lumMod val="25000"/>
                  </a:schemeClr>
                </a:solidFill>
                <a:latin typeface="휴먼엑스포" pitchFamily="2" charset="-127"/>
                <a:ea typeface="휴먼엑스포" pitchFamily="2" charset="-127"/>
              </a:endParaRPr>
            </a:p>
            <a:p>
              <a:pPr eaLnBrk="1" latinLnBrk="1" hangingPunct="1">
                <a:lnSpc>
                  <a:spcPct val="120000"/>
                </a:lnSpc>
                <a:defRPr/>
              </a:pPr>
              <a:endParaRPr lang="ko-KR" altLang="en-US" sz="700" dirty="0">
                <a:solidFill>
                  <a:schemeClr val="bg2">
                    <a:lumMod val="25000"/>
                  </a:schemeClr>
                </a:solidFill>
                <a:latin typeface="휴먼엑스포" pitchFamily="2" charset="-127"/>
                <a:ea typeface="휴먼엑스포" pitchFamily="2" charset="-127"/>
              </a:endParaRP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Arial"/>
                  <a:ea typeface="휴먼엑스포" pitchFamily="2" charset="-127"/>
                </a:rPr>
                <a:t>‘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음악채널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Arial"/>
                  <a:ea typeface="휴먼엑스포" pitchFamily="2" charset="-127"/>
                </a:rPr>
                <a:t>’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을 통해 곡당 다운로드 비용으로 </a:t>
              </a:r>
              <a:r>
                <a:rPr lang="en-US" altLang="ko-KR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800</a:t>
              </a:r>
              <a:r>
                <a:rPr lang="ko-KR" altLang="en-US" sz="700" b="1" dirty="0">
                  <a:solidFill>
                    <a:schemeClr val="bg2">
                      <a:lumMod val="2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원을 받고 있음</a:t>
              </a:r>
            </a:p>
          </p:txBody>
        </p:sp>
        <p:sp>
          <p:nvSpPr>
            <p:cNvPr id="24" name="Text Box 15">
              <a:extLst>
                <a:ext uri="{FF2B5EF4-FFF2-40B4-BE49-F238E27FC236}">
                  <a16:creationId xmlns:a16="http://schemas.microsoft.com/office/drawing/2014/main" id="{3893FEB4-CBEC-8857-192C-B451A70229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6" y="2136"/>
              <a:ext cx="2980" cy="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-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친구들과 더불어 공개한 뮤직을 공유하는 </a:t>
              </a:r>
              <a:r>
                <a:rPr lang="ko-KR" altLang="en-US" sz="700" dirty="0" err="1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쥬크박스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서비스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-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이전의 대화 </a:t>
              </a: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BGM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서비스에서 음악듣기가 한층 수월해 졌음 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- </a:t>
              </a:r>
              <a:r>
                <a:rPr lang="ko-KR" altLang="en-US" sz="700" dirty="0" err="1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쥬크박스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플레이어를 통해 내 음악은 물론</a:t>
              </a: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친구의 음악을 손쉽게 들을 수 있음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endParaRPr lang="ko-KR" altLang="en-US" sz="700" dirty="0">
                <a:solidFill>
                  <a:schemeClr val="tx1">
                    <a:lumMod val="75000"/>
                  </a:schemeClr>
                </a:solidFill>
                <a:latin typeface="휴먼엑스포" pitchFamily="2" charset="-127"/>
                <a:ea typeface="휴먼엑스포" pitchFamily="2" charset="-127"/>
              </a:endParaRP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ko-KR" altLang="en-US" sz="700" dirty="0" err="1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네이트온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</a:t>
              </a:r>
              <a:r>
                <a:rPr lang="ko-KR" altLang="en-US" sz="700" dirty="0" err="1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쥬크박스를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통해 듣고자 하는 </a:t>
              </a:r>
              <a:r>
                <a:rPr lang="ko-KR" altLang="en-US" sz="700" b="1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뮤직은 </a:t>
              </a:r>
              <a:r>
                <a:rPr lang="ko-KR" altLang="en-US" sz="700" b="1" dirty="0" err="1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웹페이지에서</a:t>
              </a:r>
              <a:r>
                <a:rPr lang="ko-KR" altLang="en-US" sz="700" b="1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구입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(http://nateonmusic.nate.com)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에서 구입 또는 선물을 할 수 있음</a:t>
              </a:r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E1569F42-DAAF-EB89-4957-8396D101A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6" y="3067"/>
              <a:ext cx="4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Box 17">
              <a:extLst>
                <a:ext uri="{FF2B5EF4-FFF2-40B4-BE49-F238E27FC236}">
                  <a16:creationId xmlns:a16="http://schemas.microsoft.com/office/drawing/2014/main" id="{D9542413-60D2-1DD1-3B09-097ABA4CD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3413"/>
              <a:ext cx="836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 b="1">
                  <a:latin typeface="휴먼엑스포" pitchFamily="2" charset="-127"/>
                  <a:ea typeface="휴먼엑스포" pitchFamily="2" charset="-127"/>
                </a:rPr>
                <a:t>Audio</a:t>
              </a:r>
            </a:p>
            <a:p>
              <a:pPr algn="ctr" eaLnBrk="1" latinLnBrk="1" hangingPunct="1">
                <a:defRPr/>
              </a:pPr>
              <a:r>
                <a:rPr lang="en-US" altLang="ko-KR" sz="1050" b="1">
                  <a:latin typeface="휴먼엑스포" pitchFamily="2" charset="-127"/>
                  <a:ea typeface="휴먼엑스포" pitchFamily="2" charset="-127"/>
                </a:rPr>
                <a:t>Messenger</a:t>
              </a:r>
            </a:p>
          </p:txBody>
        </p:sp>
        <p:sp>
          <p:nvSpPr>
            <p:cNvPr id="27" name="Text Box 18">
              <a:extLst>
                <a:ext uri="{FF2B5EF4-FFF2-40B4-BE49-F238E27FC236}">
                  <a16:creationId xmlns:a16="http://schemas.microsoft.com/office/drawing/2014/main" id="{85960994-7F1A-7E1F-2CC4-7D9947DF4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" y="3134"/>
              <a:ext cx="2923" cy="8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기존 메신저들은 웹 서버에서 음악을 구입하거나</a:t>
              </a: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,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서버에서 직접 전송하는 기능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endParaRPr lang="ko-KR" altLang="en-US" sz="700" dirty="0">
                <a:solidFill>
                  <a:schemeClr val="tx1">
                    <a:lumMod val="75000"/>
                  </a:schemeClr>
                </a:solidFill>
                <a:latin typeface="휴먼엑스포" pitchFamily="2" charset="-127"/>
                <a:ea typeface="휴먼엑스포" pitchFamily="2" charset="-127"/>
              </a:endParaRPr>
            </a:p>
            <a:p>
              <a:pPr eaLnBrk="1" latinLnBrk="1" hangingPunct="1">
                <a:lnSpc>
                  <a:spcPct val="120000"/>
                </a:lnSpc>
                <a:defRPr/>
              </a:pPr>
              <a:r>
                <a:rPr lang="en-US" altLang="ko-KR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A.M 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특징</a:t>
              </a:r>
            </a:p>
            <a:p>
              <a:pPr eaLnBrk="1" latinLnBrk="1" hangingPunct="1">
                <a:lnSpc>
                  <a:spcPct val="120000"/>
                </a:lnSpc>
                <a:buFontTx/>
                <a:buChar char="-"/>
                <a:defRPr/>
              </a:pP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웹 서버가 아닌 </a:t>
              </a:r>
              <a:r>
                <a:rPr lang="en-US" altLang="ko-KR" sz="700" b="1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P2P </a:t>
              </a:r>
              <a:r>
                <a:rPr lang="ko-KR" altLang="en-US" sz="700" b="1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방식을 채택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하여 미디어 파일을 전송</a:t>
              </a:r>
            </a:p>
            <a:p>
              <a:pPr eaLnBrk="1" latinLnBrk="1" hangingPunct="1">
                <a:lnSpc>
                  <a:spcPct val="120000"/>
                </a:lnSpc>
                <a:buFontTx/>
                <a:buChar char="-"/>
                <a:defRPr/>
              </a:pP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 </a:t>
              </a:r>
              <a:r>
                <a:rPr lang="ko-KR" altLang="en-US" sz="700" b="1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비용을 절감</a:t>
              </a:r>
              <a:r>
                <a:rPr lang="ko-KR" altLang="en-US" sz="700" dirty="0">
                  <a:solidFill>
                    <a:schemeClr val="tx1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하면서 음악을 대화상대와 같이 들을 수 있음</a:t>
              </a:r>
            </a:p>
            <a:p>
              <a:pPr eaLnBrk="1" latinLnBrk="1" hangingPunct="1">
                <a:lnSpc>
                  <a:spcPct val="120000"/>
                </a:lnSpc>
                <a:defRPr/>
              </a:pPr>
              <a:endParaRPr lang="ko-KR" altLang="en-US" sz="700" dirty="0">
                <a:solidFill>
                  <a:schemeClr val="tx1">
                    <a:lumMod val="75000"/>
                  </a:schemeClr>
                </a:solidFill>
                <a:latin typeface="휴먼엑스포" pitchFamily="2" charset="-127"/>
                <a:ea typeface="휴먼엑스포" pitchFamily="2" charset="-127"/>
              </a:endParaRPr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E3B30352-468A-D0F9-688E-F41194661C8A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224" y="3974"/>
              <a:ext cx="44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20F98-F6FF-B097-7D6A-D9523B2E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</a:t>
            </a:r>
            <a:r>
              <a:rPr lang="en-US" altLang="ko-KR" dirty="0"/>
              <a:t>(</a:t>
            </a:r>
            <a:r>
              <a:rPr lang="ko-KR" altLang="en-US" dirty="0"/>
              <a:t>주제선정</a:t>
            </a:r>
            <a:r>
              <a:rPr lang="en-US" altLang="ko-KR" dirty="0"/>
              <a:t>) </a:t>
            </a:r>
            <a:r>
              <a:rPr lang="ko-KR" altLang="en-US" dirty="0"/>
              <a:t>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3ED15-1814-8F2C-0BC9-967BA8C3F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2768"/>
            <a:ext cx="8229600" cy="5092463"/>
          </a:xfrm>
        </p:spPr>
        <p:txBody>
          <a:bodyPr/>
          <a:lstStyle/>
          <a:p>
            <a:r>
              <a:rPr lang="ko-KR" altLang="en-US" dirty="0"/>
              <a:t>관련 연구</a:t>
            </a:r>
            <a:r>
              <a:rPr lang="en-US" altLang="ko-KR" dirty="0"/>
              <a:t>/</a:t>
            </a:r>
            <a:r>
              <a:rPr lang="ko-KR" altLang="en-US" dirty="0"/>
              <a:t>기술</a:t>
            </a:r>
            <a:r>
              <a:rPr lang="en-US" altLang="ko-KR" dirty="0"/>
              <a:t>/</a:t>
            </a:r>
            <a:r>
              <a:rPr lang="ko-KR" altLang="en-US" dirty="0"/>
              <a:t>사례의 장단점 분석</a:t>
            </a:r>
            <a:endParaRPr lang="en-US" altLang="ko-KR" dirty="0"/>
          </a:p>
          <a:p>
            <a:pPr lvl="1"/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가이드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  <a:r>
              <a:rPr lang="ko-KR" altLang="en-US" i="1" dirty="0">
                <a:solidFill>
                  <a:srgbClr val="FF0808"/>
                </a:solidFill>
              </a:rPr>
              <a:t>연구동기를 유도할 수 있는 기존 내용을 표나 그래프 등으로 제시하고 연구동기를 유도할 수 있는 단점중심 </a:t>
            </a:r>
            <a:r>
              <a:rPr lang="ko-KR" altLang="en-US" i="1" dirty="0" err="1">
                <a:solidFill>
                  <a:srgbClr val="FF0808"/>
                </a:solidFill>
              </a:rPr>
              <a:t>분석셜과기술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1"/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예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</a:p>
          <a:p>
            <a:pPr lvl="2"/>
            <a:r>
              <a:rPr lang="ko-KR" altLang="en-US" i="1" dirty="0" err="1">
                <a:solidFill>
                  <a:srgbClr val="FF0000"/>
                </a:solidFill>
              </a:rPr>
              <a:t>장단범</a:t>
            </a:r>
            <a:r>
              <a:rPr lang="ko-KR" altLang="en-US" i="1" dirty="0">
                <a:solidFill>
                  <a:srgbClr val="FF0000"/>
                </a:solidFill>
              </a:rPr>
              <a:t> 비교 분석표를 제시</a:t>
            </a:r>
            <a:r>
              <a:rPr lang="en-US" altLang="ko-KR" i="1" dirty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기존 </a:t>
            </a:r>
            <a:r>
              <a:rPr lang="ko-KR" altLang="en-US" i="1" dirty="0" err="1">
                <a:solidFill>
                  <a:srgbClr val="FF0000"/>
                </a:solidFill>
              </a:rPr>
              <a:t>튜터시스템은</a:t>
            </a:r>
            <a:r>
              <a:rPr lang="ko-KR" altLang="en-US" i="1" dirty="0">
                <a:solidFill>
                  <a:srgbClr val="FF0000"/>
                </a:solidFill>
              </a:rPr>
              <a:t> 텍스트중심의 영어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국어과목만 가능하고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수학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과학 과목을 위한 </a:t>
            </a:r>
            <a:r>
              <a:rPr lang="ko-KR" altLang="en-US" i="1" dirty="0" err="1">
                <a:solidFill>
                  <a:srgbClr val="FF0000"/>
                </a:solidFill>
              </a:rPr>
              <a:t>튜터시스템이</a:t>
            </a:r>
            <a:r>
              <a:rPr lang="ko-KR" altLang="en-US" i="1" dirty="0">
                <a:solidFill>
                  <a:srgbClr val="FF0000"/>
                </a:solidFill>
              </a:rPr>
              <a:t> 없거나 기능이 매우 부족하다</a:t>
            </a:r>
            <a:r>
              <a:rPr lang="en-US" altLang="ko-KR" i="1" dirty="0">
                <a:solidFill>
                  <a:srgbClr val="FF0000"/>
                </a:solidFill>
              </a:rPr>
              <a:t>.</a:t>
            </a:r>
          </a:p>
          <a:p>
            <a:pPr lvl="2"/>
            <a:endParaRPr lang="en-US" altLang="ko-KR" i="1" dirty="0">
              <a:solidFill>
                <a:srgbClr val="FF0000"/>
              </a:solidFill>
            </a:endParaRPr>
          </a:p>
          <a:p>
            <a:r>
              <a:rPr lang="ko-KR" altLang="en-US" dirty="0"/>
              <a:t>연구 동기</a:t>
            </a:r>
            <a:endParaRPr lang="en-US" altLang="ko-KR" dirty="0"/>
          </a:p>
          <a:p>
            <a:pPr lvl="1"/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  <a:r>
              <a:rPr lang="ko-KR" altLang="en-US" i="1" dirty="0">
                <a:solidFill>
                  <a:srgbClr val="FF0000"/>
                </a:solidFill>
              </a:rPr>
              <a:t>분석한 단점</a:t>
            </a:r>
            <a:r>
              <a:rPr lang="en-US" altLang="ko-KR" i="1" dirty="0">
                <a:solidFill>
                  <a:srgbClr val="FF0000"/>
                </a:solidFill>
              </a:rPr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성능개선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적용범위 확대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신기능 추가 등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  <a:r>
              <a:rPr lang="ko-KR" altLang="en-US" i="1" dirty="0">
                <a:solidFill>
                  <a:srgbClr val="FF0000"/>
                </a:solidFill>
              </a:rPr>
              <a:t>을 개선하는 시스템을 제안하고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개선전략 </a:t>
            </a:r>
            <a:r>
              <a:rPr lang="en-US" altLang="ko-KR" i="1" dirty="0">
                <a:solidFill>
                  <a:srgbClr val="FF0000"/>
                </a:solidFill>
              </a:rPr>
              <a:t>1~3</a:t>
            </a:r>
            <a:r>
              <a:rPr lang="ko-KR" altLang="en-US" i="1" dirty="0">
                <a:solidFill>
                  <a:srgbClr val="FF0000"/>
                </a:solidFill>
              </a:rPr>
              <a:t>개를 직관적으로 제시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조사된 기술의 문제점을 기술하고 개선하기 위한 방안을 작성</a:t>
            </a:r>
            <a:endParaRPr lang="en-US" altLang="ko-KR" sz="12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>
              <a:defRPr/>
            </a:pP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필요성을 제기하는데 논리를 </a:t>
            </a:r>
            <a:r>
              <a:rPr lang="ko-KR" altLang="en-US" sz="1200" dirty="0" err="1">
                <a:solidFill>
                  <a:srgbClr val="FF0000"/>
                </a:solidFill>
                <a:sym typeface="Wingdings" panose="05000000000000000000" pitchFamily="2" charset="2"/>
              </a:rPr>
              <a:t>강화시킬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 것</a:t>
            </a:r>
            <a:endParaRPr lang="en-US" altLang="ko-KR" sz="12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>
              <a:defRPr/>
            </a:pP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사회적 필요성을 제시할 수도 있음 예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장애인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노약자</a:t>
            </a: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sym typeface="Wingdings" panose="05000000000000000000" pitchFamily="2" charset="2"/>
              </a:rPr>
              <a:t>경제적 약자 등을 위한 서비스 등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lvl="1"/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예</a:t>
            </a:r>
            <a:r>
              <a:rPr lang="en-US" altLang="ko-KR" i="1" dirty="0">
                <a:solidFill>
                  <a:srgbClr val="FF0000"/>
                </a:solidFill>
              </a:rPr>
              <a:t>]</a:t>
            </a: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수식까지 포함된 </a:t>
            </a:r>
            <a:r>
              <a:rPr lang="ko-KR" altLang="en-US" i="1" dirty="0" err="1">
                <a:solidFill>
                  <a:srgbClr val="FF0000"/>
                </a:solidFill>
              </a:rPr>
              <a:t>내용를</a:t>
            </a:r>
            <a:r>
              <a:rPr lang="ko-KR" altLang="en-US" i="1" dirty="0">
                <a:solidFill>
                  <a:srgbClr val="FF0000"/>
                </a:solidFill>
              </a:rPr>
              <a:t> 처리할 수 있는 </a:t>
            </a:r>
            <a:r>
              <a:rPr lang="ko-KR" altLang="en-US" i="1" dirty="0" err="1">
                <a:solidFill>
                  <a:srgbClr val="FF0000"/>
                </a:solidFill>
              </a:rPr>
              <a:t>수학추론모델을</a:t>
            </a:r>
            <a:r>
              <a:rPr lang="ko-KR" altLang="en-US" i="1" dirty="0">
                <a:solidFill>
                  <a:srgbClr val="FF0000"/>
                </a:solidFill>
              </a:rPr>
              <a:t> 생성형</a:t>
            </a:r>
            <a:r>
              <a:rPr lang="en-US" altLang="ko-KR" i="1" dirty="0">
                <a:solidFill>
                  <a:srgbClr val="FF0000"/>
                </a:solidFill>
              </a:rPr>
              <a:t>AI</a:t>
            </a:r>
            <a:r>
              <a:rPr lang="ko-KR" altLang="en-US" i="1" dirty="0">
                <a:solidFill>
                  <a:srgbClr val="FF0000"/>
                </a:solidFill>
              </a:rPr>
              <a:t>와 결합하여 </a:t>
            </a:r>
            <a:r>
              <a:rPr lang="en-US" altLang="ko-KR" i="1" dirty="0">
                <a:solidFill>
                  <a:srgbClr val="FF0000"/>
                </a:solidFill>
              </a:rPr>
              <a:t>AI</a:t>
            </a:r>
            <a:r>
              <a:rPr lang="ko-KR" altLang="en-US" i="1" dirty="0" err="1">
                <a:solidFill>
                  <a:srgbClr val="FF0000"/>
                </a:solidFill>
              </a:rPr>
              <a:t>수학튜터시스템을</a:t>
            </a:r>
            <a:r>
              <a:rPr lang="ko-KR" altLang="en-US" i="1" dirty="0">
                <a:solidFill>
                  <a:srgbClr val="FF0000"/>
                </a:solidFill>
              </a:rPr>
              <a:t> 제안하고자 한다</a:t>
            </a:r>
            <a:r>
              <a:rPr lang="en-US" altLang="ko-KR" i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dirty="0">
                <a:solidFill>
                  <a:srgbClr val="0000FF"/>
                </a:solidFill>
              </a:rPr>
              <a:t>[</a:t>
            </a:r>
            <a:r>
              <a:rPr lang="ko-KR" altLang="en-US" sz="1800" dirty="0">
                <a:solidFill>
                  <a:srgbClr val="0000FF"/>
                </a:solidFill>
              </a:rPr>
              <a:t>평가 관점</a:t>
            </a:r>
            <a:r>
              <a:rPr lang="en-US" altLang="ko-KR" sz="1800" dirty="0">
                <a:solidFill>
                  <a:srgbClr val="0000FF"/>
                </a:solidFill>
              </a:rPr>
              <a:t>]</a:t>
            </a:r>
          </a:p>
          <a:p>
            <a:pPr lvl="1">
              <a:defRPr/>
            </a:pPr>
            <a:r>
              <a:rPr lang="ko-KR" altLang="en-US" dirty="0">
                <a:solidFill>
                  <a:srgbClr val="0000FF"/>
                </a:solidFill>
              </a:rPr>
              <a:t>기술적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시장수요적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교육적 관점에서 적절한 주제인가</a:t>
            </a:r>
            <a:r>
              <a:rPr lang="en-US" altLang="ko-KR" dirty="0">
                <a:solidFill>
                  <a:srgbClr val="0000FF"/>
                </a:solidFill>
              </a:rPr>
              <a:t>?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45BF72-C6CD-D09C-2FD2-C066C5BC9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76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35382-5D7D-7C08-FD30-4C34B52C3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6262464" cy="563562"/>
          </a:xfrm>
        </p:spPr>
        <p:txBody>
          <a:bodyPr/>
          <a:lstStyle/>
          <a:p>
            <a:r>
              <a:rPr lang="ko-KR" altLang="en-US" dirty="0"/>
              <a:t>주제 개요 </a:t>
            </a:r>
            <a:r>
              <a:rPr lang="en-US" altLang="ko-KR" dirty="0"/>
              <a:t>(1)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예</a:t>
            </a:r>
            <a:r>
              <a:rPr lang="en-US" altLang="ko-KR" sz="1600" dirty="0">
                <a:solidFill>
                  <a:srgbClr val="FF0000"/>
                </a:solidFill>
              </a:rPr>
              <a:t>) AI</a:t>
            </a:r>
            <a:r>
              <a:rPr lang="ko-KR" altLang="en-US" sz="1600" dirty="0" err="1">
                <a:solidFill>
                  <a:srgbClr val="FF0000"/>
                </a:solidFill>
              </a:rPr>
              <a:t>수학튜터시스템의</a:t>
            </a:r>
            <a:r>
              <a:rPr lang="ko-KR" altLang="en-US" sz="1600" dirty="0">
                <a:solidFill>
                  <a:srgbClr val="FF0000"/>
                </a:solidFill>
              </a:rPr>
              <a:t> 개요</a:t>
            </a:r>
            <a:r>
              <a:rPr lang="en-US" altLang="ko-KR" sz="1600" dirty="0">
                <a:solidFill>
                  <a:srgbClr val="FF0000"/>
                </a:solidFill>
              </a:rPr>
              <a:t>(1)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A3F6FC-75FD-13BB-A482-18E1334DB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4744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제안주제의 개요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: AI</a:t>
            </a:r>
            <a:r>
              <a:rPr lang="ko-KR" altLang="en-US" dirty="0" err="1">
                <a:solidFill>
                  <a:srgbClr val="FF0000"/>
                </a:solidFill>
              </a:rPr>
              <a:t>수학튜터시스템의</a:t>
            </a:r>
            <a:r>
              <a:rPr lang="ko-KR" altLang="en-US" dirty="0">
                <a:solidFill>
                  <a:srgbClr val="FF0000"/>
                </a:solidFill>
              </a:rPr>
              <a:t> 개요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가이드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</a:p>
          <a:p>
            <a:pPr lvl="2">
              <a:defRPr/>
            </a:pPr>
            <a:r>
              <a:rPr lang="ko-KR" altLang="en-US" i="1" dirty="0">
                <a:solidFill>
                  <a:srgbClr val="FF0808"/>
                </a:solidFill>
              </a:rPr>
              <a:t>작품의 전반적인 개요에 대하여 간략하게 작성하고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그림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개략도 등을 이용하여 직관적인 전달이 가능하도록 기술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3">
              <a:defRPr/>
            </a:pPr>
            <a:r>
              <a:rPr lang="ko-KR" altLang="en-US" i="1" dirty="0">
                <a:solidFill>
                  <a:srgbClr val="FF0000"/>
                </a:solidFill>
              </a:rPr>
              <a:t>단일 앱만 개발</a:t>
            </a:r>
            <a:r>
              <a:rPr lang="en-US" altLang="ko-KR" i="1" dirty="0">
                <a:solidFill>
                  <a:srgbClr val="FF0000"/>
                </a:solidFill>
              </a:rPr>
              <a:t> </a:t>
            </a:r>
            <a:r>
              <a:rPr lang="ko-KR" altLang="en-US" i="1" dirty="0">
                <a:solidFill>
                  <a:srgbClr val="FF0000"/>
                </a:solidFill>
              </a:rPr>
              <a:t>및 단순한 인공지능 알고리즘만 이용은 불가하고 반드시 앱은 서버와 연동이 필요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인공지능도 추가적인 데이터분석과 응용 서비스 제공해야 함</a:t>
            </a:r>
            <a:r>
              <a:rPr lang="en-US" altLang="ko-KR" i="1" dirty="0">
                <a:solidFill>
                  <a:srgbClr val="FF0000"/>
                </a:solidFill>
              </a:rPr>
              <a:t>.</a:t>
            </a:r>
          </a:p>
          <a:p>
            <a:pPr lvl="3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 </a:t>
            </a:r>
            <a:r>
              <a:rPr lang="ko-KR" altLang="en-US" i="1" dirty="0">
                <a:solidFill>
                  <a:srgbClr val="FF0000"/>
                </a:solidFill>
              </a:rPr>
              <a:t>게임은 게임 시나리오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캐릭터디자인 첨부가 필수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000"/>
                </a:solidFill>
              </a:rPr>
              <a:t>기업체와 연계할 경우 기업에서 수행 내용 등 포함해서 작성하되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기업에서 개발하는 내용은 표시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B4BA4F-B9B3-5908-045B-541A6DBB9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7107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F4B23-4D59-8104-C65D-C97E71AC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5902424" cy="563562"/>
          </a:xfrm>
        </p:spPr>
        <p:txBody>
          <a:bodyPr/>
          <a:lstStyle/>
          <a:p>
            <a:r>
              <a:rPr lang="ko-KR" altLang="en-US" dirty="0"/>
              <a:t>주제 개요 </a:t>
            </a:r>
            <a:r>
              <a:rPr lang="en-US" altLang="ko-KR" dirty="0"/>
              <a:t>(1)</a:t>
            </a:r>
            <a:br>
              <a:rPr lang="en-US" altLang="ko-KR" dirty="0"/>
            </a:b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예</a:t>
            </a:r>
            <a:r>
              <a:rPr lang="en-US" altLang="ko-KR" sz="1600" dirty="0">
                <a:solidFill>
                  <a:srgbClr val="FF0000"/>
                </a:solidFill>
              </a:rPr>
              <a:t>) AI</a:t>
            </a:r>
            <a:r>
              <a:rPr lang="ko-KR" altLang="en-US" sz="1600" dirty="0" err="1">
                <a:solidFill>
                  <a:srgbClr val="FF0000"/>
                </a:solidFill>
              </a:rPr>
              <a:t>수학튜터시스템의</a:t>
            </a:r>
            <a:r>
              <a:rPr lang="ko-KR" altLang="en-US" sz="1600" dirty="0">
                <a:solidFill>
                  <a:srgbClr val="FF0000"/>
                </a:solidFill>
              </a:rPr>
              <a:t> 개요</a:t>
            </a:r>
            <a:r>
              <a:rPr lang="en-US" altLang="ko-KR" sz="1600" dirty="0">
                <a:solidFill>
                  <a:srgbClr val="FF0000"/>
                </a:solidFill>
              </a:rPr>
              <a:t>(1)</a:t>
            </a:r>
            <a:endParaRPr lang="ko-KR" altLang="en-US" sz="1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058E96-9455-4DFE-2F16-398D3592A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제안주제의 특징</a:t>
            </a:r>
            <a:r>
              <a:rPr lang="en-US" altLang="ko-KR" dirty="0"/>
              <a:t>(</a:t>
            </a:r>
            <a:r>
              <a:rPr lang="ko-KR" altLang="en-US" dirty="0"/>
              <a:t>혹은 주요기능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예</a:t>
            </a:r>
            <a:r>
              <a:rPr lang="en-US" altLang="ko-KR" dirty="0">
                <a:solidFill>
                  <a:srgbClr val="FF0000"/>
                </a:solidFill>
              </a:rPr>
              <a:t>: AI</a:t>
            </a:r>
            <a:r>
              <a:rPr lang="ko-KR" altLang="en-US" dirty="0" err="1">
                <a:solidFill>
                  <a:srgbClr val="FF0000"/>
                </a:solidFill>
              </a:rPr>
              <a:t>수학튜터시스템의</a:t>
            </a:r>
            <a:r>
              <a:rPr lang="ko-KR" altLang="en-US" dirty="0">
                <a:solidFill>
                  <a:srgbClr val="FF0000"/>
                </a:solidFill>
              </a:rPr>
              <a:t> 특징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가이드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  <a:r>
              <a:rPr lang="ko-KR" altLang="en-US" i="1" dirty="0">
                <a:solidFill>
                  <a:srgbClr val="FF0808"/>
                </a:solidFill>
              </a:rPr>
              <a:t>연구동기와 제안주제의 개요의 내용을 달성하기 위한 주요 특징과 주요기능 설명 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예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  <a:r>
              <a:rPr lang="ko-KR" altLang="en-US" i="1" dirty="0">
                <a:solidFill>
                  <a:srgbClr val="FF0808"/>
                </a:solidFill>
              </a:rPr>
              <a:t>특징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ko-KR" altLang="en-US" i="1" dirty="0" err="1">
                <a:solidFill>
                  <a:srgbClr val="FF0808"/>
                </a:solidFill>
              </a:rPr>
              <a:t>수학논리적추론모델</a:t>
            </a:r>
            <a:r>
              <a:rPr lang="en-US" altLang="ko-KR" i="1" dirty="0">
                <a:solidFill>
                  <a:srgbClr val="FF0808"/>
                </a:solidFill>
              </a:rPr>
              <a:t>(ABC)</a:t>
            </a:r>
            <a:r>
              <a:rPr lang="ko-KR" altLang="en-US" i="1" dirty="0">
                <a:solidFill>
                  <a:srgbClr val="FF0808"/>
                </a:solidFill>
              </a:rPr>
              <a:t>를 </a:t>
            </a:r>
            <a:r>
              <a:rPr lang="en-US" altLang="ko-KR" i="1" dirty="0">
                <a:solidFill>
                  <a:srgbClr val="FF0808"/>
                </a:solidFill>
              </a:rPr>
              <a:t>llama </a:t>
            </a:r>
            <a:r>
              <a:rPr lang="ko-KR" altLang="en-US" i="1" dirty="0">
                <a:solidFill>
                  <a:srgbClr val="FF0808"/>
                </a:solidFill>
              </a:rPr>
              <a:t>와 결합하여 수학논리모델을 구성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808"/>
                </a:solidFill>
              </a:rPr>
              <a:t>개인 맞춤형 </a:t>
            </a:r>
            <a:r>
              <a:rPr lang="ko-KR" altLang="en-US" i="1" dirty="0" err="1">
                <a:solidFill>
                  <a:srgbClr val="FF0808"/>
                </a:solidFill>
              </a:rPr>
              <a:t>수학튜터</a:t>
            </a:r>
            <a:r>
              <a:rPr lang="ko-KR" altLang="en-US" i="1" dirty="0">
                <a:solidFill>
                  <a:srgbClr val="FF0808"/>
                </a:solidFill>
              </a:rPr>
              <a:t> 서비스 제공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808"/>
                </a:solidFill>
              </a:rPr>
              <a:t>학생의 수학능력 분석능력</a:t>
            </a:r>
            <a:r>
              <a:rPr lang="en-US" altLang="ko-KR" i="1" dirty="0">
                <a:solidFill>
                  <a:srgbClr val="FF0808"/>
                </a:solidFill>
              </a:rPr>
              <a:t>: </a:t>
            </a:r>
            <a:r>
              <a:rPr lang="ko-KR" altLang="en-US" i="1" dirty="0">
                <a:solidFill>
                  <a:srgbClr val="FF0808"/>
                </a:solidFill>
              </a:rPr>
              <a:t> 결과 제공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808"/>
                </a:solidFill>
              </a:rPr>
              <a:t>수학문제 출제 기능</a:t>
            </a:r>
            <a:r>
              <a:rPr lang="en-US" altLang="ko-KR" i="1" dirty="0">
                <a:solidFill>
                  <a:srgbClr val="FF0808"/>
                </a:solidFill>
              </a:rPr>
              <a:t>:  </a:t>
            </a:r>
            <a:r>
              <a:rPr lang="ko-KR" altLang="en-US" i="1" dirty="0">
                <a:solidFill>
                  <a:srgbClr val="FF0808"/>
                </a:solidFill>
              </a:rPr>
              <a:t>문제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해답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해설을 함께 제공함</a:t>
            </a:r>
            <a:r>
              <a:rPr lang="en-US" altLang="ko-KR" i="1" dirty="0">
                <a:solidFill>
                  <a:srgbClr val="FF0808"/>
                </a:solidFill>
              </a:rPr>
              <a:t>.</a:t>
            </a:r>
          </a:p>
          <a:p>
            <a:pPr lvl="2">
              <a:defRPr/>
            </a:pPr>
            <a:r>
              <a:rPr lang="ko-KR" altLang="en-US" i="1" dirty="0">
                <a:solidFill>
                  <a:srgbClr val="FF0808"/>
                </a:solidFill>
              </a:rPr>
              <a:t>학생의 답에 기반한 보완학습이 필요한 주제와 학습순서를 제시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</a:rPr>
              <a:t>기대효과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  <a:r>
              <a:rPr lang="ko-KR" altLang="en-US" i="1" dirty="0">
                <a:solidFill>
                  <a:srgbClr val="FF0000"/>
                </a:solidFill>
              </a:rPr>
              <a:t>주제를 통해서 얻고자 하는지 기대효과 서술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예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  <a:r>
              <a:rPr lang="ko-KR" altLang="en-US" i="1" dirty="0">
                <a:solidFill>
                  <a:srgbClr val="FF0000"/>
                </a:solidFill>
              </a:rPr>
              <a:t>비싼 수학과외를 대체할 수 있는 저렴한 개인 맞춤형 </a:t>
            </a:r>
            <a:r>
              <a:rPr lang="ko-KR" altLang="en-US" i="1" dirty="0" err="1">
                <a:solidFill>
                  <a:srgbClr val="FF0000"/>
                </a:solidFill>
              </a:rPr>
              <a:t>수학튜터</a:t>
            </a:r>
            <a:r>
              <a:rPr lang="ko-KR" altLang="en-US" i="1" dirty="0">
                <a:solidFill>
                  <a:srgbClr val="FF0000"/>
                </a:solidFill>
              </a:rPr>
              <a:t> 서비스를 제공하여 고등학생들의 학습기회를 확대하고자 함</a:t>
            </a:r>
            <a:r>
              <a:rPr lang="en-US" altLang="ko-KR" i="1" dirty="0">
                <a:solidFill>
                  <a:srgbClr val="FF0000"/>
                </a:solidFill>
              </a:rPr>
              <a:t>.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1">
              <a:defRPr/>
            </a:pPr>
            <a:endParaRPr lang="en-US" altLang="ko-KR" i="1" dirty="0">
              <a:solidFill>
                <a:srgbClr val="FF0808"/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208701-4C65-ACA3-CE6F-1690BD675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184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9A1EC69-E1DF-AC82-E9E5-9DEF8122A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전략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F9F93E0-6B6C-93A6-43CC-0CE6C04E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개발 전략 </a:t>
            </a:r>
            <a:endParaRPr lang="en-US" altLang="ko-KR" dirty="0"/>
          </a:p>
          <a:p>
            <a:pPr lvl="1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가이드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  <a:r>
              <a:rPr lang="ko-KR" altLang="en-US" i="1" dirty="0">
                <a:solidFill>
                  <a:srgbClr val="FF0808"/>
                </a:solidFill>
              </a:rPr>
              <a:t>핵심기술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데이터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서비스플랫폼 등 개발 관련 주요전략 제시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1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[</a:t>
            </a:r>
            <a:r>
              <a:rPr lang="ko-KR" altLang="en-US" i="1" dirty="0">
                <a:solidFill>
                  <a:srgbClr val="FF0808"/>
                </a:solidFill>
              </a:rPr>
              <a:t>예</a:t>
            </a:r>
            <a:r>
              <a:rPr lang="en-US" altLang="ko-KR" i="1" dirty="0">
                <a:solidFill>
                  <a:srgbClr val="FF0808"/>
                </a:solidFill>
              </a:rPr>
              <a:t>] </a:t>
            </a:r>
          </a:p>
          <a:p>
            <a:pPr lvl="2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(</a:t>
            </a:r>
            <a:r>
              <a:rPr lang="ko-KR" altLang="en-US" i="1" dirty="0">
                <a:solidFill>
                  <a:srgbClr val="FF0808"/>
                </a:solidFill>
              </a:rPr>
              <a:t>핵심기술</a:t>
            </a:r>
            <a:r>
              <a:rPr lang="en-US" altLang="ko-KR" i="1" dirty="0">
                <a:solidFill>
                  <a:srgbClr val="FF0808"/>
                </a:solidFill>
              </a:rPr>
              <a:t>) AI</a:t>
            </a:r>
            <a:r>
              <a:rPr lang="ko-KR" altLang="en-US" i="1" dirty="0">
                <a:solidFill>
                  <a:srgbClr val="FF0808"/>
                </a:solidFill>
              </a:rPr>
              <a:t>수학기능</a:t>
            </a:r>
            <a:r>
              <a:rPr lang="en-US" altLang="ko-KR" i="1" dirty="0">
                <a:solidFill>
                  <a:srgbClr val="FF0808"/>
                </a:solidFill>
              </a:rPr>
              <a:t>:</a:t>
            </a:r>
            <a:r>
              <a:rPr lang="ko-KR" altLang="en-US" i="1" dirty="0">
                <a:solidFill>
                  <a:srgbClr val="FF0808"/>
                </a:solidFill>
              </a:rPr>
              <a:t>공개된 </a:t>
            </a:r>
            <a:r>
              <a:rPr lang="en-US" altLang="ko-KR" i="1" dirty="0">
                <a:solidFill>
                  <a:srgbClr val="FF0808"/>
                </a:solidFill>
              </a:rPr>
              <a:t>ABC</a:t>
            </a:r>
            <a:r>
              <a:rPr lang="ko-KR" altLang="en-US" i="1" dirty="0">
                <a:solidFill>
                  <a:srgbClr val="FF0808"/>
                </a:solidFill>
              </a:rPr>
              <a:t>모델을 </a:t>
            </a:r>
            <a:r>
              <a:rPr lang="en-US" altLang="ko-KR" i="1" dirty="0">
                <a:solidFill>
                  <a:srgbClr val="FF0808"/>
                </a:solidFill>
              </a:rPr>
              <a:t>llama</a:t>
            </a:r>
            <a:r>
              <a:rPr lang="ko-KR" altLang="en-US" i="1" dirty="0">
                <a:solidFill>
                  <a:srgbClr val="FF0808"/>
                </a:solidFill>
              </a:rPr>
              <a:t>와 결합한 생성형 모델 구성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(</a:t>
            </a:r>
            <a:r>
              <a:rPr lang="ko-KR" altLang="en-US" i="1" dirty="0">
                <a:solidFill>
                  <a:srgbClr val="FF0808"/>
                </a:solidFill>
              </a:rPr>
              <a:t>데이터 확보</a:t>
            </a:r>
            <a:r>
              <a:rPr lang="en-US" altLang="ko-KR" i="1" dirty="0">
                <a:solidFill>
                  <a:srgbClr val="FF0808"/>
                </a:solidFill>
              </a:rPr>
              <a:t>) </a:t>
            </a:r>
            <a:r>
              <a:rPr lang="ko-KR" altLang="en-US" i="1" dirty="0">
                <a:solidFill>
                  <a:srgbClr val="FF0808"/>
                </a:solidFill>
              </a:rPr>
              <a:t>고등학교 수학참고서 </a:t>
            </a:r>
            <a:r>
              <a:rPr lang="en-US" altLang="ko-KR" i="1" dirty="0">
                <a:solidFill>
                  <a:srgbClr val="FF0808"/>
                </a:solidFill>
              </a:rPr>
              <a:t>3</a:t>
            </a:r>
            <a:r>
              <a:rPr lang="ko-KR" altLang="en-US" i="1" dirty="0">
                <a:solidFill>
                  <a:srgbClr val="FF0808"/>
                </a:solidFill>
              </a:rPr>
              <a:t>종의 방정식 주제만을 스캔하여</a:t>
            </a:r>
            <a:r>
              <a:rPr lang="en-US" altLang="ko-KR" i="1" dirty="0">
                <a:solidFill>
                  <a:srgbClr val="FF0808"/>
                </a:solidFill>
              </a:rPr>
              <a:t>, </a:t>
            </a:r>
            <a:r>
              <a:rPr lang="ko-KR" altLang="en-US" i="1" dirty="0">
                <a:solidFill>
                  <a:srgbClr val="FF0808"/>
                </a:solidFill>
              </a:rPr>
              <a:t>학습데이터로 활용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(</a:t>
            </a:r>
            <a:r>
              <a:rPr lang="ko-KR" altLang="en-US" i="1" dirty="0">
                <a:solidFill>
                  <a:srgbClr val="FF0808"/>
                </a:solidFill>
              </a:rPr>
              <a:t>학습서버</a:t>
            </a:r>
            <a:r>
              <a:rPr lang="en-US" altLang="ko-KR" i="1" dirty="0">
                <a:solidFill>
                  <a:srgbClr val="FF0808"/>
                </a:solidFill>
              </a:rPr>
              <a:t>): </a:t>
            </a:r>
            <a:r>
              <a:rPr lang="ko-KR" altLang="en-US" i="1" dirty="0">
                <a:solidFill>
                  <a:srgbClr val="FF0808"/>
                </a:solidFill>
              </a:rPr>
              <a:t>구글 </a:t>
            </a:r>
            <a:r>
              <a:rPr lang="en-US" altLang="ko-KR" i="1" dirty="0">
                <a:solidFill>
                  <a:srgbClr val="FF0808"/>
                </a:solidFill>
              </a:rPr>
              <a:t>collab </a:t>
            </a:r>
            <a:r>
              <a:rPr lang="ko-KR" altLang="en-US" i="1" dirty="0">
                <a:solidFill>
                  <a:srgbClr val="FF0808"/>
                </a:solidFill>
              </a:rPr>
              <a:t>혹은 </a:t>
            </a:r>
            <a:r>
              <a:rPr lang="en-US" altLang="ko-KR" i="1" dirty="0">
                <a:solidFill>
                  <a:srgbClr val="FF0808"/>
                </a:solidFill>
              </a:rPr>
              <a:t>AWS</a:t>
            </a:r>
            <a:r>
              <a:rPr lang="ko-KR" altLang="en-US" i="1" dirty="0">
                <a:solidFill>
                  <a:srgbClr val="FF0808"/>
                </a:solidFill>
              </a:rPr>
              <a:t> 서버 등을 검토하여 선택 활용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(</a:t>
            </a:r>
            <a:r>
              <a:rPr lang="ko-KR" altLang="en-US" i="1" dirty="0">
                <a:solidFill>
                  <a:srgbClr val="FF0808"/>
                </a:solidFill>
              </a:rPr>
              <a:t>서비스 플랫폼</a:t>
            </a:r>
            <a:r>
              <a:rPr lang="en-US" altLang="ko-KR" i="1" dirty="0">
                <a:solidFill>
                  <a:srgbClr val="FF0808"/>
                </a:solidFill>
              </a:rPr>
              <a:t>) </a:t>
            </a:r>
            <a:r>
              <a:rPr lang="ko-KR" altLang="en-US" i="1" dirty="0">
                <a:solidFill>
                  <a:srgbClr val="FF0808"/>
                </a:solidFill>
              </a:rPr>
              <a:t>반응형 웹으로 </a:t>
            </a:r>
            <a:r>
              <a:rPr lang="en-US" altLang="ko-KR" i="1" dirty="0">
                <a:solidFill>
                  <a:srgbClr val="FF0808"/>
                </a:solidFill>
              </a:rPr>
              <a:t>PC</a:t>
            </a:r>
            <a:r>
              <a:rPr lang="ko-KR" altLang="en-US" i="1" dirty="0">
                <a:solidFill>
                  <a:srgbClr val="FF0808"/>
                </a:solidFill>
              </a:rPr>
              <a:t>와 폰에서 모두 </a:t>
            </a:r>
            <a:r>
              <a:rPr lang="en-US" altLang="ko-KR" i="1" dirty="0">
                <a:solidFill>
                  <a:srgbClr val="FF0808"/>
                </a:solidFill>
              </a:rPr>
              <a:t> </a:t>
            </a:r>
            <a:r>
              <a:rPr lang="ko-KR" altLang="en-US" i="1" dirty="0">
                <a:solidFill>
                  <a:srgbClr val="FF0808"/>
                </a:solidFill>
              </a:rPr>
              <a:t>구동 가능 </a:t>
            </a:r>
            <a:endParaRPr lang="en-US" altLang="ko-KR" i="1" dirty="0">
              <a:solidFill>
                <a:srgbClr val="FF0808"/>
              </a:solidFill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808"/>
                </a:solidFill>
              </a:rPr>
              <a:t>(AI</a:t>
            </a:r>
            <a:r>
              <a:rPr lang="ko-KR" altLang="en-US" i="1" dirty="0">
                <a:solidFill>
                  <a:srgbClr val="FF0808"/>
                </a:solidFill>
              </a:rPr>
              <a:t>오류해결</a:t>
            </a:r>
            <a:r>
              <a:rPr lang="en-US" altLang="ko-KR" i="1" dirty="0">
                <a:solidFill>
                  <a:srgbClr val="FF0808"/>
                </a:solidFill>
              </a:rPr>
              <a:t>) </a:t>
            </a:r>
            <a:r>
              <a:rPr lang="ko-KR" altLang="en-US" i="1" dirty="0" err="1">
                <a:solidFill>
                  <a:srgbClr val="FF0808"/>
                </a:solidFill>
              </a:rPr>
              <a:t>휴먼튜터</a:t>
            </a:r>
            <a:r>
              <a:rPr lang="ko-KR" altLang="en-US" i="1" dirty="0">
                <a:solidFill>
                  <a:srgbClr val="FF0808"/>
                </a:solidFill>
              </a:rPr>
              <a:t> 개입 기능을 포함</a:t>
            </a:r>
            <a:endParaRPr lang="en-US" altLang="ko-KR" i="1" dirty="0">
              <a:solidFill>
                <a:srgbClr val="FF0808"/>
              </a:solidFill>
            </a:endParaRPr>
          </a:p>
          <a:p>
            <a:pPr marL="0" indent="0">
              <a:buNone/>
              <a:defRPr/>
            </a:pPr>
            <a:endParaRPr lang="en-US" altLang="ko-KR" sz="1000" dirty="0"/>
          </a:p>
        </p:txBody>
      </p:sp>
      <p:sp>
        <p:nvSpPr>
          <p:cNvPr id="13316" name="슬라이드 번호 개체 틀 37">
            <a:extLst>
              <a:ext uri="{FF2B5EF4-FFF2-40B4-BE49-F238E27FC236}">
                <a16:creationId xmlns:a16="http://schemas.microsoft.com/office/drawing/2014/main" id="{83B80424-A1BC-D643-A43E-60A929686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2A977C-6F83-4556-AA4D-24BF162A7EA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20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60C04-E57D-0E7F-9B30-E1FF170F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CCEA6-A678-F6FE-90B9-A3A32DD0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sz="1600" dirty="0"/>
              <a:t>성능 목표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1400" dirty="0">
                <a:solidFill>
                  <a:srgbClr val="FF0000"/>
                </a:solidFill>
              </a:rPr>
              <a:t>[</a:t>
            </a:r>
            <a:r>
              <a:rPr lang="ko-KR" altLang="en-US" sz="1400" dirty="0">
                <a:solidFill>
                  <a:srgbClr val="FF0000"/>
                </a:solidFill>
              </a:rPr>
              <a:t>가이드</a:t>
            </a:r>
            <a:r>
              <a:rPr lang="en-US" altLang="ko-KR" sz="1400" dirty="0">
                <a:solidFill>
                  <a:srgbClr val="FF0000"/>
                </a:solidFill>
              </a:rPr>
              <a:t>] </a:t>
            </a:r>
            <a:r>
              <a:rPr lang="ko-KR" altLang="en-US" sz="1400" dirty="0">
                <a:solidFill>
                  <a:srgbClr val="FF0000"/>
                </a:solidFill>
              </a:rPr>
              <a:t>성능에 대한 구체적인 </a:t>
            </a:r>
            <a:r>
              <a:rPr lang="ko-KR" altLang="en-US" sz="1400" u="sng" dirty="0">
                <a:solidFill>
                  <a:srgbClr val="FF0000"/>
                </a:solidFill>
              </a:rPr>
              <a:t>정량적 지표를 자체적으로 설정하여 작성</a:t>
            </a:r>
            <a:endParaRPr lang="en-US" altLang="ko-KR" sz="1400" u="sng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400" dirty="0">
                <a:solidFill>
                  <a:srgbClr val="FF0000"/>
                </a:solidFill>
              </a:rPr>
              <a:t>성능평가를 위해서 시험구성도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시험방법 제시 필수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400" dirty="0">
                <a:solidFill>
                  <a:srgbClr val="FF0000"/>
                </a:solidFill>
              </a:rPr>
              <a:t>최종 완성되었을 때 성능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사양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기능</a:t>
            </a:r>
            <a:r>
              <a:rPr lang="en-US" altLang="ko-KR" sz="1400" dirty="0">
                <a:solidFill>
                  <a:srgbClr val="FF0000"/>
                </a:solidFill>
              </a:rPr>
              <a:t>, SW</a:t>
            </a:r>
            <a:r>
              <a:rPr lang="ko-KR" altLang="en-US" sz="1400" dirty="0">
                <a:solidFill>
                  <a:srgbClr val="FF0000"/>
                </a:solidFill>
              </a:rPr>
              <a:t>품질평가 항목 등을 가능한 정량적으로 나타내어 작성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>
                <a:solidFill>
                  <a:srgbClr val="FF0000"/>
                </a:solidFill>
              </a:rPr>
              <a:t>예시</a:t>
            </a:r>
            <a:r>
              <a:rPr lang="en-US" altLang="ko-KR" sz="1600" dirty="0">
                <a:solidFill>
                  <a:srgbClr val="FF0000"/>
                </a:solidFill>
              </a:rPr>
              <a:t>] </a:t>
            </a:r>
          </a:p>
          <a:p>
            <a:pPr lvl="2">
              <a:defRPr/>
            </a:pPr>
            <a:r>
              <a:rPr lang="ko-KR" altLang="en-US" sz="1400" dirty="0">
                <a:solidFill>
                  <a:srgbClr val="FF0000"/>
                </a:solidFill>
              </a:rPr>
              <a:t>해답의 정확도</a:t>
            </a:r>
            <a:r>
              <a:rPr lang="en-US" altLang="ko-KR" sz="1400" dirty="0">
                <a:solidFill>
                  <a:srgbClr val="FF0000"/>
                </a:solidFill>
              </a:rPr>
              <a:t>: 99% </a:t>
            </a:r>
          </a:p>
          <a:p>
            <a:pPr lvl="3">
              <a:defRPr/>
            </a:pPr>
            <a:r>
              <a:rPr lang="ko-KR" altLang="en-US" sz="1200" dirty="0">
                <a:solidFill>
                  <a:srgbClr val="FF0000"/>
                </a:solidFill>
              </a:rPr>
              <a:t>학습하지 않은 다른 참고서의 방정식 문제 </a:t>
            </a:r>
            <a:r>
              <a:rPr lang="en-US" altLang="ko-KR" sz="1200" dirty="0">
                <a:solidFill>
                  <a:srgbClr val="FF0000"/>
                </a:solidFill>
              </a:rPr>
              <a:t>100</a:t>
            </a:r>
            <a:r>
              <a:rPr lang="ko-KR" altLang="en-US" sz="1200" dirty="0">
                <a:solidFill>
                  <a:srgbClr val="FF0000"/>
                </a:solidFill>
              </a:rPr>
              <a:t>건을 추출하여 테스트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400" dirty="0">
                <a:solidFill>
                  <a:srgbClr val="FF0000"/>
                </a:solidFill>
              </a:rPr>
              <a:t>응답 속도</a:t>
            </a:r>
            <a:r>
              <a:rPr lang="en-US" altLang="ko-KR" sz="1400" dirty="0">
                <a:solidFill>
                  <a:srgbClr val="FF0000"/>
                </a:solidFill>
              </a:rPr>
              <a:t>: 1</a:t>
            </a:r>
            <a:r>
              <a:rPr lang="ko-KR" altLang="en-US" sz="1400" dirty="0">
                <a:solidFill>
                  <a:srgbClr val="FF0000"/>
                </a:solidFill>
              </a:rPr>
              <a:t>분 이내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>
                <a:solidFill>
                  <a:srgbClr val="FF0000"/>
                </a:solidFill>
              </a:rPr>
              <a:t>예시</a:t>
            </a:r>
            <a:r>
              <a:rPr lang="en-US" altLang="ko-KR" sz="1600" dirty="0">
                <a:solidFill>
                  <a:srgbClr val="FF0000"/>
                </a:solidFill>
              </a:rPr>
              <a:t>: </a:t>
            </a:r>
            <a:r>
              <a:rPr lang="ko-KR" altLang="en-US" sz="1600" dirty="0">
                <a:solidFill>
                  <a:srgbClr val="FF0000"/>
                </a:solidFill>
              </a:rPr>
              <a:t>타 주제</a:t>
            </a:r>
            <a:r>
              <a:rPr lang="en-US" altLang="ko-KR" sz="1600" dirty="0">
                <a:solidFill>
                  <a:srgbClr val="FF0000"/>
                </a:solidFill>
              </a:rPr>
              <a:t>]</a:t>
            </a:r>
          </a:p>
          <a:p>
            <a:pPr lvl="2">
              <a:defRPr/>
            </a:pP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1. </a:t>
            </a:r>
            <a:r>
              <a:rPr lang="ko-KR" altLang="en-US" sz="1300" b="0" dirty="0" err="1">
                <a:solidFill>
                  <a:srgbClr val="FF0000"/>
                </a:solidFill>
                <a:latin typeface="HWPserif"/>
              </a:rPr>
              <a:t>드론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  비행 거리 및 속도 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: 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 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50m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를 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10</a:t>
            </a:r>
            <a:r>
              <a:rPr lang="ko-KR" altLang="en-US" sz="1300" b="0" dirty="0" err="1">
                <a:solidFill>
                  <a:srgbClr val="FF0000"/>
                </a:solidFill>
                <a:latin typeface="HWPserif"/>
              </a:rPr>
              <a:t>초이내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 비행</a:t>
            </a:r>
            <a:endParaRPr lang="en-US" altLang="ko-KR" sz="1300" b="0" dirty="0">
              <a:solidFill>
                <a:srgbClr val="FF0000"/>
              </a:solidFill>
              <a:latin typeface="HWPserif"/>
            </a:endParaRPr>
          </a:p>
          <a:p>
            <a:pPr lvl="3">
              <a:defRPr/>
            </a:pPr>
            <a:r>
              <a:rPr lang="ko-KR" altLang="en-US" sz="1100" b="0" dirty="0">
                <a:solidFill>
                  <a:srgbClr val="FF0000"/>
                </a:solidFill>
                <a:latin typeface="HWPserif"/>
              </a:rPr>
              <a:t>시험방법 </a:t>
            </a:r>
            <a:r>
              <a:rPr lang="en-US" altLang="ko-KR" sz="1100" b="0" dirty="0">
                <a:solidFill>
                  <a:srgbClr val="FF0000"/>
                </a:solidFill>
                <a:latin typeface="HWPserif"/>
              </a:rPr>
              <a:t>:  </a:t>
            </a:r>
            <a:r>
              <a:rPr lang="ko-KR" altLang="en-US" sz="1100" b="0" dirty="0">
                <a:solidFill>
                  <a:srgbClr val="FF0000"/>
                </a:solidFill>
                <a:latin typeface="HWPserif"/>
              </a:rPr>
              <a:t>실내에서 시험 비행을 </a:t>
            </a:r>
            <a:r>
              <a:rPr lang="en-US" altLang="ko-KR" sz="1100" b="0" dirty="0">
                <a:solidFill>
                  <a:srgbClr val="FF0000"/>
                </a:solidFill>
                <a:latin typeface="HWPserif"/>
              </a:rPr>
              <a:t>10</a:t>
            </a:r>
            <a:r>
              <a:rPr lang="ko-KR" altLang="en-US" sz="1100" b="0" dirty="0">
                <a:solidFill>
                  <a:srgbClr val="FF0000"/>
                </a:solidFill>
                <a:latin typeface="HWPserif"/>
              </a:rPr>
              <a:t>회 이상 실시하여 평균값으로 측정</a:t>
            </a:r>
            <a:endParaRPr lang="en-US" altLang="ko-KR" sz="1100" b="0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en-US" altLang="ko-KR" sz="1300" dirty="0">
                <a:solidFill>
                  <a:srgbClr val="FF0000"/>
                </a:solidFill>
                <a:latin typeface="HWPserif"/>
              </a:rPr>
              <a:t>2. 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플랫폼 웹페이지 및 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SW 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반응속도 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: 2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초 이내</a:t>
            </a:r>
            <a:endParaRPr lang="en-US" altLang="ko-KR" sz="1300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3. 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동시접속자수 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: 5</a:t>
            </a:r>
            <a:r>
              <a:rPr lang="ko-KR" altLang="en-US" sz="1300" b="0" dirty="0" err="1">
                <a:solidFill>
                  <a:srgbClr val="FF0000"/>
                </a:solidFill>
                <a:latin typeface="HWPserif"/>
              </a:rPr>
              <a:t>분동안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 최대 </a:t>
            </a:r>
            <a:r>
              <a:rPr lang="en-US" altLang="ko-KR" sz="1300" b="0" dirty="0">
                <a:solidFill>
                  <a:srgbClr val="FF0000"/>
                </a:solidFill>
                <a:latin typeface="HWPserif"/>
              </a:rPr>
              <a:t>1000</a:t>
            </a:r>
            <a:r>
              <a:rPr lang="ko-KR" altLang="en-US" sz="1300" b="0" dirty="0">
                <a:solidFill>
                  <a:srgbClr val="FF0000"/>
                </a:solidFill>
                <a:latin typeface="HWPserif"/>
              </a:rPr>
              <a:t>명</a:t>
            </a:r>
            <a:endParaRPr lang="en-US" altLang="ko-KR" sz="13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ko-KR" altLang="en-US" sz="1800" dirty="0"/>
              <a:t>기타 목표 </a:t>
            </a:r>
            <a:r>
              <a:rPr lang="en-US" altLang="ko-KR" sz="1800" dirty="0"/>
              <a:t>(</a:t>
            </a:r>
            <a:r>
              <a:rPr lang="ko-KR" altLang="en-US" sz="1800" dirty="0"/>
              <a:t>선택</a:t>
            </a:r>
            <a:r>
              <a:rPr lang="en-US" altLang="ko-KR" sz="1800" dirty="0"/>
              <a:t>) </a:t>
            </a:r>
          </a:p>
          <a:p>
            <a:pPr lvl="1">
              <a:defRPr/>
            </a:pP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>
                <a:solidFill>
                  <a:srgbClr val="FF0000"/>
                </a:solidFill>
              </a:rPr>
              <a:t>가이드</a:t>
            </a:r>
            <a:r>
              <a:rPr lang="en-US" altLang="ko-KR" sz="1600" dirty="0">
                <a:solidFill>
                  <a:srgbClr val="FF0000"/>
                </a:solidFill>
              </a:rPr>
              <a:t>] </a:t>
            </a:r>
            <a:r>
              <a:rPr lang="ko-KR" altLang="en-US" sz="1600" dirty="0">
                <a:solidFill>
                  <a:srgbClr val="FF0000"/>
                </a:solidFill>
              </a:rPr>
              <a:t>성능 이외에 필요한 서비스 범위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  <a:r>
              <a:rPr lang="ko-KR" altLang="en-US" sz="1600" dirty="0">
                <a:solidFill>
                  <a:srgbClr val="FF0000"/>
                </a:solidFill>
              </a:rPr>
              <a:t> 데이터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콘텐츠 등의 목표  제시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</a:p>
          <a:p>
            <a:pPr lvl="1">
              <a:defRPr/>
            </a:pPr>
            <a:r>
              <a:rPr lang="en-US" altLang="ko-KR" sz="1600" dirty="0">
                <a:solidFill>
                  <a:srgbClr val="FF0000"/>
                </a:solidFill>
              </a:rPr>
              <a:t>[</a:t>
            </a:r>
            <a:r>
              <a:rPr lang="ko-KR" altLang="en-US" sz="1600" dirty="0">
                <a:solidFill>
                  <a:srgbClr val="FF0000"/>
                </a:solidFill>
              </a:rPr>
              <a:t>예시</a:t>
            </a:r>
            <a:r>
              <a:rPr lang="en-US" altLang="ko-KR" sz="1600" dirty="0">
                <a:solidFill>
                  <a:srgbClr val="FF0000"/>
                </a:solidFill>
              </a:rPr>
              <a:t>] </a:t>
            </a:r>
          </a:p>
          <a:p>
            <a:pPr lvl="2">
              <a:defRPr/>
            </a:pP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학습데이터</a:t>
            </a:r>
            <a:r>
              <a:rPr lang="en-US" altLang="ko-KR" sz="1300" dirty="0">
                <a:solidFill>
                  <a:srgbClr val="FF0000"/>
                </a:solidFill>
                <a:latin typeface="HWPserif"/>
              </a:rPr>
              <a:t>: 100</a:t>
            </a:r>
            <a:r>
              <a:rPr lang="ko-KR" altLang="en-US" sz="1300" dirty="0" err="1">
                <a:solidFill>
                  <a:srgbClr val="FF0000"/>
                </a:solidFill>
                <a:latin typeface="HWPserif"/>
              </a:rPr>
              <a:t>만건</a:t>
            </a: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 이상</a:t>
            </a:r>
            <a:endParaRPr lang="en-US" altLang="ko-KR" sz="1300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서비스 범위</a:t>
            </a:r>
            <a:r>
              <a:rPr lang="en-US" altLang="ko-KR" sz="1300" dirty="0">
                <a:solidFill>
                  <a:srgbClr val="FF0000"/>
                </a:solidFill>
                <a:latin typeface="HWPserif"/>
              </a:rPr>
              <a:t>:</a:t>
            </a: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 고등학교 방정식 </a:t>
            </a:r>
            <a:endParaRPr lang="en-US" altLang="ko-KR" sz="1300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문제의 수</a:t>
            </a:r>
            <a:r>
              <a:rPr lang="en-US" altLang="ko-KR" sz="1300" dirty="0">
                <a:solidFill>
                  <a:srgbClr val="FF0000"/>
                </a:solidFill>
                <a:latin typeface="HWPserif"/>
              </a:rPr>
              <a:t>:</a:t>
            </a: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 생성 문제의 수 </a:t>
            </a:r>
            <a:r>
              <a:rPr lang="en-US" altLang="ko-KR" sz="1300" dirty="0">
                <a:solidFill>
                  <a:srgbClr val="FF0000"/>
                </a:solidFill>
                <a:latin typeface="HWPserif"/>
              </a:rPr>
              <a:t>100</a:t>
            </a:r>
            <a:r>
              <a:rPr lang="ko-KR" altLang="en-US" sz="1300" dirty="0">
                <a:solidFill>
                  <a:srgbClr val="FF0000"/>
                </a:solidFill>
                <a:latin typeface="HWPserif"/>
              </a:rPr>
              <a:t>건 이상 </a:t>
            </a:r>
            <a:endParaRPr lang="en-US" altLang="ko-KR" sz="1300" dirty="0">
              <a:solidFill>
                <a:srgbClr val="FF0000"/>
              </a:solidFill>
              <a:latin typeface="HWPserif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3EFBEF-C35F-0654-A343-3D6B1A8FCC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1586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9A1EC69-E1DF-AC82-E9E5-9DEF8122A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요구사항</a:t>
            </a:r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F9F93E0-6B6C-93A6-43CC-0CE6C04E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80728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요구사항</a:t>
            </a:r>
            <a:endParaRPr lang="en-US" altLang="ko-KR" dirty="0"/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  <a:r>
              <a:rPr lang="ko-KR" altLang="en-US" i="1" dirty="0">
                <a:solidFill>
                  <a:srgbClr val="FF0000"/>
                </a:solidFill>
              </a:rPr>
              <a:t>다음 관점 중 적합한 것을 취사 선택하여 서술 </a:t>
            </a:r>
            <a:r>
              <a:rPr lang="en-US" altLang="ko-KR" i="1" dirty="0">
                <a:solidFill>
                  <a:srgbClr val="FF0000"/>
                </a:solidFill>
              </a:rPr>
              <a:t>(</a:t>
            </a:r>
            <a:r>
              <a:rPr lang="ko-KR" altLang="en-US" i="1" dirty="0" err="1">
                <a:solidFill>
                  <a:srgbClr val="FF0000"/>
                </a:solidFill>
              </a:rPr>
              <a:t>복수개</a:t>
            </a:r>
            <a:r>
              <a:rPr lang="ko-KR" altLang="en-US" i="1" dirty="0">
                <a:solidFill>
                  <a:srgbClr val="FF0000"/>
                </a:solidFill>
              </a:rPr>
              <a:t> 가능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</a:p>
          <a:p>
            <a:pPr lvl="2">
              <a:defRPr/>
            </a:pPr>
            <a:r>
              <a:rPr lang="ko-KR" altLang="en-US" i="1" dirty="0">
                <a:solidFill>
                  <a:srgbClr val="FF0000"/>
                </a:solidFill>
              </a:rPr>
              <a:t>사용자</a:t>
            </a:r>
            <a:r>
              <a:rPr lang="en-US" altLang="ko-KR" i="1" dirty="0">
                <a:solidFill>
                  <a:srgbClr val="FF0000"/>
                </a:solidFill>
              </a:rPr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관리자</a:t>
            </a:r>
            <a:r>
              <a:rPr lang="en-US" altLang="ko-KR" i="1" dirty="0">
                <a:solidFill>
                  <a:srgbClr val="FF0000"/>
                </a:solidFill>
              </a:rPr>
              <a:t>,</a:t>
            </a:r>
            <a:r>
              <a:rPr lang="ko-KR" altLang="en-US" i="1" dirty="0">
                <a:solidFill>
                  <a:srgbClr val="FF0000"/>
                </a:solidFill>
              </a:rPr>
              <a:t> 중간사용자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운영자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최종사용자 등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  <a:r>
              <a:rPr lang="ko-KR" altLang="en-US" i="1" dirty="0">
                <a:solidFill>
                  <a:srgbClr val="FF0000"/>
                </a:solidFill>
              </a:rPr>
              <a:t>의 관점에 따른 기능 구성  관점 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600" b="0" i="1" dirty="0">
                <a:solidFill>
                  <a:srgbClr val="FF0000"/>
                </a:solidFill>
                <a:latin typeface="HWPserif"/>
              </a:rPr>
              <a:t>기능 특징기준 분류관점</a:t>
            </a:r>
            <a:endParaRPr lang="en-US" altLang="ko-KR" sz="1600" b="0" i="1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000"/>
                </a:solidFill>
                <a:latin typeface="HWPserif"/>
              </a:rPr>
              <a:t>UX flow </a:t>
            </a:r>
            <a:r>
              <a:rPr lang="ko-KR" altLang="en-US" i="1" dirty="0">
                <a:solidFill>
                  <a:srgbClr val="FF0000"/>
                </a:solidFill>
                <a:latin typeface="HWPserif"/>
              </a:rPr>
              <a:t>관점 </a:t>
            </a:r>
            <a:endParaRPr lang="en-US" altLang="ko-KR" i="1" dirty="0">
              <a:solidFill>
                <a:srgbClr val="FF0000"/>
              </a:solidFill>
              <a:latin typeface="HWPserif"/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000"/>
                </a:solidFill>
                <a:latin typeface="HWPserif"/>
              </a:rPr>
              <a:t>기타 관점</a:t>
            </a:r>
            <a:endParaRPr lang="en-US" altLang="ko-KR" dirty="0"/>
          </a:p>
        </p:txBody>
      </p:sp>
      <p:sp>
        <p:nvSpPr>
          <p:cNvPr id="13316" name="슬라이드 번호 개체 틀 37">
            <a:extLst>
              <a:ext uri="{FF2B5EF4-FFF2-40B4-BE49-F238E27FC236}">
                <a16:creationId xmlns:a16="http://schemas.microsoft.com/office/drawing/2014/main" id="{83B80424-A1BC-D643-A43E-60A929686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2A977C-6F83-4556-AA4D-24BF162A7EA9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01A17327-6E61-378B-D034-C0AF0536A8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개념적 설계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60F0B87E-C464-C5F3-EDFC-4972E1465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87257"/>
            <a:ext cx="8229600" cy="4716462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서비스 시나리오</a:t>
            </a:r>
            <a:endParaRPr lang="en-US" altLang="ko-KR" dirty="0"/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</a:p>
          <a:p>
            <a:pPr lvl="2">
              <a:defRPr/>
            </a:pPr>
            <a:r>
              <a:rPr lang="ko-KR" altLang="en-US" i="1" dirty="0">
                <a:solidFill>
                  <a:srgbClr val="FF0000"/>
                </a:solidFill>
              </a:rPr>
              <a:t>개발결과 예상되는 데모 시나리오가 동작하는 흐름을 그림</a:t>
            </a:r>
            <a:r>
              <a:rPr lang="en-US" altLang="ko-KR" i="1" dirty="0">
                <a:solidFill>
                  <a:srgbClr val="FF0000"/>
                </a:solidFill>
              </a:rPr>
              <a:t>, Figma </a:t>
            </a:r>
            <a:r>
              <a:rPr lang="ko-KR" altLang="en-US" i="1" dirty="0">
                <a:solidFill>
                  <a:srgbClr val="FF0000"/>
                </a:solidFill>
              </a:rPr>
              <a:t>같은 </a:t>
            </a:r>
            <a:r>
              <a:rPr lang="en-US" altLang="ko-KR" i="1" dirty="0">
                <a:solidFill>
                  <a:srgbClr val="FF0000"/>
                </a:solidFill>
              </a:rPr>
              <a:t>Rapid Prototype</a:t>
            </a:r>
            <a:r>
              <a:rPr lang="ko-KR" altLang="en-US" i="1" dirty="0">
                <a:solidFill>
                  <a:srgbClr val="FF0000"/>
                </a:solidFill>
              </a:rPr>
              <a:t>도구를 선택하여 제시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i="1" dirty="0">
                <a:solidFill>
                  <a:srgbClr val="FF0000"/>
                </a:solidFill>
              </a:rPr>
              <a:t>개발시스템 구성도에 포함된 구성요소들과</a:t>
            </a:r>
            <a:r>
              <a:rPr lang="en-US" altLang="ko-KR" i="1" dirty="0">
                <a:solidFill>
                  <a:srgbClr val="FF0000"/>
                </a:solidFill>
              </a:rPr>
              <a:t> </a:t>
            </a:r>
            <a:r>
              <a:rPr lang="ko-KR" altLang="en-US" i="1" dirty="0">
                <a:solidFill>
                  <a:srgbClr val="FF0000"/>
                </a:solidFill>
              </a:rPr>
              <a:t>사용자 사이에 발생하는 역할 흐름을 도식화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예시</a:t>
            </a:r>
            <a:r>
              <a:rPr lang="en-US" altLang="ko-KR" i="1" dirty="0">
                <a:solidFill>
                  <a:srgbClr val="FF0000"/>
                </a:solidFill>
              </a:rPr>
              <a:t>: </a:t>
            </a:r>
            <a:r>
              <a:rPr lang="ko-KR" altLang="en-US" i="1" dirty="0">
                <a:solidFill>
                  <a:srgbClr val="FF0000"/>
                </a:solidFill>
              </a:rPr>
              <a:t>타 주제</a:t>
            </a:r>
            <a:r>
              <a:rPr lang="en-US" altLang="ko-KR" i="1" dirty="0">
                <a:solidFill>
                  <a:srgbClr val="FF0000"/>
                </a:solidFill>
              </a:rPr>
              <a:t>]</a:t>
            </a:r>
            <a:endParaRPr lang="ko-KR" altLang="en-US" i="1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ko-KR" dirty="0"/>
              <a:t>	</a:t>
            </a:r>
            <a:endParaRPr lang="ko-KR" altLang="en-US" dirty="0"/>
          </a:p>
        </p:txBody>
      </p:sp>
      <p:grpSp>
        <p:nvGrpSpPr>
          <p:cNvPr id="15364" name="Group 37">
            <a:extLst>
              <a:ext uri="{FF2B5EF4-FFF2-40B4-BE49-F238E27FC236}">
                <a16:creationId xmlns:a16="http://schemas.microsoft.com/office/drawing/2014/main" id="{937C8727-7F33-6136-EECE-58E82BC011B1}"/>
              </a:ext>
            </a:extLst>
          </p:cNvPr>
          <p:cNvGrpSpPr>
            <a:grpSpLocks/>
          </p:cNvGrpSpPr>
          <p:nvPr/>
        </p:nvGrpSpPr>
        <p:grpSpPr bwMode="auto">
          <a:xfrm>
            <a:off x="755080" y="2924944"/>
            <a:ext cx="7671940" cy="3385369"/>
            <a:chOff x="385" y="799"/>
            <a:chExt cx="5082" cy="217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99E15B-5CFB-BC85-C2C5-FC78BDF18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981"/>
              <a:ext cx="949" cy="10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" name="tower">
              <a:extLst>
                <a:ext uri="{FF2B5EF4-FFF2-40B4-BE49-F238E27FC236}">
                  <a16:creationId xmlns:a16="http://schemas.microsoft.com/office/drawing/2014/main" id="{501F526F-D369-DB38-456E-C7D90D25FBF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2698" y="1116"/>
              <a:ext cx="632" cy="683"/>
            </a:xfrm>
            <a:custGeom>
              <a:avLst/>
              <a:gdLst>
                <a:gd name="T0" fmla="*/ 0 w 21600"/>
                <a:gd name="T1" fmla="*/ 2184 h 21600"/>
                <a:gd name="T2" fmla="*/ 6664 w 21600"/>
                <a:gd name="T3" fmla="*/ 0 h 21600"/>
                <a:gd name="T4" fmla="*/ 10800 w 21600"/>
                <a:gd name="T5" fmla="*/ 0 h 21600"/>
                <a:gd name="T6" fmla="*/ 21600 w 21600"/>
                <a:gd name="T7" fmla="*/ 0 h 21600"/>
                <a:gd name="T8" fmla="*/ 21600 w 21600"/>
                <a:gd name="T9" fmla="*/ 11649 h 21600"/>
                <a:gd name="T10" fmla="*/ 21600 w 21600"/>
                <a:gd name="T11" fmla="*/ 19416 h 21600"/>
                <a:gd name="T12" fmla="*/ 15166 w 21600"/>
                <a:gd name="T13" fmla="*/ 21600 h 21600"/>
                <a:gd name="T14" fmla="*/ 10570 w 21600"/>
                <a:gd name="T15" fmla="*/ 21600 h 21600"/>
                <a:gd name="T16" fmla="*/ 0 w 21600"/>
                <a:gd name="T17" fmla="*/ 21600 h 21600"/>
                <a:gd name="T18" fmla="*/ 0 w 21600"/>
                <a:gd name="T19" fmla="*/ 11528 h 21600"/>
                <a:gd name="T20" fmla="*/ 459 w 21600"/>
                <a:gd name="T21" fmla="*/ 22540 h 21600"/>
                <a:gd name="T22" fmla="*/ 21485 w 21600"/>
                <a:gd name="T23" fmla="*/ 270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251C06-521D-284E-9F29-519A02A12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799"/>
              <a:ext cx="953" cy="18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 b="1">
                  <a:solidFill>
                    <a:schemeClr val="tx1">
                      <a:lumMod val="50000"/>
                    </a:schemeClr>
                  </a:solidFill>
                </a:rPr>
                <a:t>KPU </a:t>
              </a:r>
              <a:r>
                <a:rPr lang="ko-KR" altLang="en-US" sz="1050" b="1">
                  <a:solidFill>
                    <a:schemeClr val="tx1">
                      <a:lumMod val="50000"/>
                    </a:schemeClr>
                  </a:solidFill>
                </a:rPr>
                <a:t>자재 회사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04D570-6D1E-25AD-7F6F-50F7ECBB4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842"/>
              <a:ext cx="816" cy="1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100">
                  <a:solidFill>
                    <a:schemeClr val="tx1">
                      <a:lumMod val="50000"/>
                    </a:schemeClr>
                  </a:solidFill>
                </a:rPr>
                <a:t> </a:t>
              </a:r>
              <a:r>
                <a:rPr lang="en-US" altLang="ko-KR" sz="1100" b="1">
                  <a:solidFill>
                    <a:schemeClr val="tx1">
                      <a:lumMod val="50000"/>
                    </a:schemeClr>
                  </a:solidFill>
                </a:rPr>
                <a:t>SyncML </a:t>
              </a:r>
              <a:r>
                <a:rPr lang="ko-KR" altLang="en-US" sz="1100" b="1">
                  <a:solidFill>
                    <a:schemeClr val="tx1">
                      <a:lumMod val="50000"/>
                    </a:schemeClr>
                  </a:solidFill>
                </a:rPr>
                <a:t>서버</a:t>
              </a: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58F141E8-41A3-A9BD-EB1C-4582D438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523"/>
              <a:ext cx="1222" cy="454"/>
            </a:xfrm>
            <a:prstGeom prst="can">
              <a:avLst>
                <a:gd name="adj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200" b="1">
                  <a:solidFill>
                    <a:schemeClr val="tx1">
                      <a:lumMod val="50000"/>
                    </a:schemeClr>
                  </a:solidFill>
                </a:rPr>
                <a:t>재고 </a:t>
              </a:r>
              <a:r>
                <a:rPr lang="en-US" altLang="ko-KR" sz="1200" b="1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</a:p>
          </p:txBody>
        </p:sp>
        <p:grpSp>
          <p:nvGrpSpPr>
            <p:cNvPr id="15371" name="Group 9">
              <a:extLst>
                <a:ext uri="{FF2B5EF4-FFF2-40B4-BE49-F238E27FC236}">
                  <a16:creationId xmlns:a16="http://schemas.microsoft.com/office/drawing/2014/main" id="{13AEF43C-11AA-212A-2227-FF4807EA0F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0" y="981"/>
              <a:ext cx="553" cy="749"/>
              <a:chOff x="3150" y="799"/>
              <a:chExt cx="553" cy="749"/>
            </a:xfrm>
          </p:grpSpPr>
          <p:grpSp>
            <p:nvGrpSpPr>
              <p:cNvPr id="15395" name="Group 10">
                <a:extLst>
                  <a:ext uri="{FF2B5EF4-FFF2-40B4-BE49-F238E27FC236}">
                    <a16:creationId xmlns:a16="http://schemas.microsoft.com/office/drawing/2014/main" id="{725E60E9-A200-A498-88B2-53658B3D12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0" y="799"/>
                <a:ext cx="317" cy="749"/>
                <a:chOff x="1655" y="890"/>
                <a:chExt cx="317" cy="749"/>
              </a:xfrm>
            </p:grpSpPr>
            <p:pic>
              <p:nvPicPr>
                <p:cNvPr id="15397" name="Picture 11" descr="사람">
                  <a:extLst>
                    <a:ext uri="{FF2B5EF4-FFF2-40B4-BE49-F238E27FC236}">
                      <a16:creationId xmlns:a16="http://schemas.microsoft.com/office/drawing/2014/main" id="{3FAD804A-0869-6681-CF04-3C9B361D4B6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01" y="1026"/>
                  <a:ext cx="227" cy="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7" name="Rectangle 12">
                  <a:extLst>
                    <a:ext uri="{FF2B5EF4-FFF2-40B4-BE49-F238E27FC236}">
                      <a16:creationId xmlns:a16="http://schemas.microsoft.com/office/drawing/2014/main" id="{A96E9E33-5BC7-B140-7CD1-07CA793C2D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55" y="890"/>
                  <a:ext cx="317" cy="13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latinLnBrk="1" hangingPunct="1">
                    <a:defRPr/>
                  </a:pPr>
                  <a:r>
                    <a:rPr lang="en-US" altLang="ko-KR" sz="1100">
                      <a:solidFill>
                        <a:schemeClr val="tx1">
                          <a:lumMod val="50000"/>
                        </a:schemeClr>
                      </a:solidFill>
                    </a:rPr>
                    <a:t>A</a:t>
                  </a:r>
                  <a:r>
                    <a:rPr lang="ko-KR" altLang="en-US" sz="1100">
                      <a:solidFill>
                        <a:schemeClr val="tx1">
                          <a:lumMod val="50000"/>
                        </a:schemeClr>
                      </a:solidFill>
                    </a:rPr>
                    <a:t>사원</a:t>
                  </a:r>
                  <a:r>
                    <a:rPr lang="ko-KR" altLang="en-US" sz="1050">
                      <a:solidFill>
                        <a:schemeClr val="tx1">
                          <a:lumMod val="50000"/>
                        </a:schemeClr>
                      </a:solidFill>
                    </a:rPr>
                    <a:t> </a:t>
                  </a:r>
                </a:p>
              </p:txBody>
            </p:sp>
          </p:grpSp>
          <p:pic>
            <p:nvPicPr>
              <p:cNvPr id="15396" name="Picture 13" descr="MCj03121780000[1]">
                <a:extLst>
                  <a:ext uri="{FF2B5EF4-FFF2-40B4-BE49-F238E27FC236}">
                    <a16:creationId xmlns:a16="http://schemas.microsoft.com/office/drawing/2014/main" id="{3126A8A9-CBDC-466E-ABA6-17F0BD3CB7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8" y="1116"/>
                <a:ext cx="23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6E24B79D-51AC-6158-BA41-35A0BAD52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1298"/>
              <a:ext cx="498" cy="227"/>
            </a:xfrm>
            <a:prstGeom prst="rightArrow">
              <a:avLst>
                <a:gd name="adj1" fmla="val 50000"/>
                <a:gd name="adj2" fmla="val 54846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D55D8B4F-3EB9-D90E-C095-655934982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4" y="1117"/>
              <a:ext cx="581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sp>
          <p:nvSpPr>
            <p:cNvPr id="13" name="AutoShape 16">
              <a:extLst>
                <a:ext uri="{FF2B5EF4-FFF2-40B4-BE49-F238E27FC236}">
                  <a16:creationId xmlns:a16="http://schemas.microsoft.com/office/drawing/2014/main" id="{AC571A71-C866-3ABC-E3A8-4F538C4CA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298"/>
              <a:ext cx="454" cy="227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4" name="Rectangle 17">
              <a:extLst>
                <a:ext uri="{FF2B5EF4-FFF2-40B4-BE49-F238E27FC236}">
                  <a16:creationId xmlns:a16="http://schemas.microsoft.com/office/drawing/2014/main" id="{A5B6551F-BE39-2537-8D91-095D373A2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1526"/>
              <a:ext cx="576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Client</a:t>
              </a:r>
            </a:p>
          </p:txBody>
        </p:sp>
        <p:pic>
          <p:nvPicPr>
            <p:cNvPr id="15376" name="Picture 18" descr="1">
              <a:extLst>
                <a:ext uri="{FF2B5EF4-FFF2-40B4-BE49-F238E27FC236}">
                  <a16:creationId xmlns:a16="http://schemas.microsoft.com/office/drawing/2014/main" id="{D8C752BC-156A-4678-20F5-7D9D85A0D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981"/>
              <a:ext cx="1270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AutoShape 19">
              <a:extLst>
                <a:ext uri="{FF2B5EF4-FFF2-40B4-BE49-F238E27FC236}">
                  <a16:creationId xmlns:a16="http://schemas.microsoft.com/office/drawing/2014/main" id="{3299949F-88BC-5591-AE0F-7A7B15CE14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57" y="2229"/>
              <a:ext cx="366" cy="226"/>
            </a:xfrm>
            <a:prstGeom prst="leftArrow">
              <a:avLst>
                <a:gd name="adj1" fmla="val 50000"/>
                <a:gd name="adj2" fmla="val 39978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7" name="AutoShape 20">
              <a:extLst>
                <a:ext uri="{FF2B5EF4-FFF2-40B4-BE49-F238E27FC236}">
                  <a16:creationId xmlns:a16="http://schemas.microsoft.com/office/drawing/2014/main" id="{4F6D6674-DBC2-2C00-DEA5-40B6CC825A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80" y="2114"/>
              <a:ext cx="318" cy="227"/>
            </a:xfrm>
            <a:prstGeom prst="rightArrow">
              <a:avLst>
                <a:gd name="adj1" fmla="val 50000"/>
                <a:gd name="adj2" fmla="val 35022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8" name="Rectangle 21">
              <a:extLst>
                <a:ext uri="{FF2B5EF4-FFF2-40B4-BE49-F238E27FC236}">
                  <a16:creationId xmlns:a16="http://schemas.microsoft.com/office/drawing/2014/main" id="{FB92CECB-851B-9051-A4AE-2AE0F7D8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889"/>
              <a:ext cx="772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050">
                  <a:solidFill>
                    <a:schemeClr val="tx1">
                      <a:lumMod val="50000"/>
                    </a:schemeClr>
                  </a:solidFill>
                </a:rPr>
                <a:t>인터넷 판매</a:t>
              </a:r>
            </a:p>
          </p:txBody>
        </p:sp>
        <p:sp>
          <p:nvSpPr>
            <p:cNvPr id="19" name="AutoShape 22">
              <a:extLst>
                <a:ext uri="{FF2B5EF4-FFF2-40B4-BE49-F238E27FC236}">
                  <a16:creationId xmlns:a16="http://schemas.microsoft.com/office/drawing/2014/main" id="{4B0F57C6-5BCE-82C4-3E4E-DCD82DA01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298"/>
              <a:ext cx="499" cy="227"/>
            </a:xfrm>
            <a:prstGeom prst="leftArrow">
              <a:avLst>
                <a:gd name="adj1" fmla="val 50000"/>
                <a:gd name="adj2" fmla="val 54956"/>
              </a:avLst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0" name="AutoShape 23">
              <a:extLst>
                <a:ext uri="{FF2B5EF4-FFF2-40B4-BE49-F238E27FC236}">
                  <a16:creationId xmlns:a16="http://schemas.microsoft.com/office/drawing/2014/main" id="{1D1452BA-8FF0-1158-1B31-BA527B9C8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1298"/>
              <a:ext cx="453" cy="227"/>
            </a:xfrm>
            <a:prstGeom prst="rightArrow">
              <a:avLst>
                <a:gd name="adj1" fmla="val 50000"/>
                <a:gd name="adj2" fmla="val 49890"/>
              </a:avLst>
            </a:prstGeom>
            <a:solidFill>
              <a:srgbClr val="FF3300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5E7ACBDA-BE20-5F87-E3CF-672CD6BE9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" y="1117"/>
              <a:ext cx="580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sp>
          <p:nvSpPr>
            <p:cNvPr id="22" name="Text Box 25">
              <a:extLst>
                <a:ext uri="{FF2B5EF4-FFF2-40B4-BE49-F238E27FC236}">
                  <a16:creationId xmlns:a16="http://schemas.microsoft.com/office/drawing/2014/main" id="{ACCF08FB-85BD-F825-C06E-142D84739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2160"/>
              <a:ext cx="581" cy="19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 Sync</a:t>
              </a:r>
            </a:p>
          </p:txBody>
        </p:sp>
        <p:grpSp>
          <p:nvGrpSpPr>
            <p:cNvPr id="15384" name="Group 26">
              <a:extLst>
                <a:ext uri="{FF2B5EF4-FFF2-40B4-BE49-F238E27FC236}">
                  <a16:creationId xmlns:a16="http://schemas.microsoft.com/office/drawing/2014/main" id="{E43168C3-0F29-2308-1C6C-8DB5484D8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4" y="1072"/>
              <a:ext cx="733" cy="652"/>
              <a:chOff x="4731" y="890"/>
              <a:chExt cx="733" cy="652"/>
            </a:xfrm>
          </p:grpSpPr>
          <p:pic>
            <p:nvPicPr>
              <p:cNvPr id="15391" name="Picture 27" descr="MCj03435550000[1]">
                <a:extLst>
                  <a:ext uri="{FF2B5EF4-FFF2-40B4-BE49-F238E27FC236}">
                    <a16:creationId xmlns:a16="http://schemas.microsoft.com/office/drawing/2014/main" id="{78391BE6-C377-3350-A7CC-1E4BCFAB73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47" y="981"/>
                <a:ext cx="272" cy="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Text Box 28">
                <a:extLst>
                  <a:ext uri="{FF2B5EF4-FFF2-40B4-BE49-F238E27FC236}">
                    <a16:creationId xmlns:a16="http://schemas.microsoft.com/office/drawing/2014/main" id="{94AC711A-F314-20EF-AA37-FF67E19DB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31" y="893"/>
                <a:ext cx="324" cy="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1" latinLnBrk="1" hangingPunct="1">
                  <a:defRPr/>
                </a:pPr>
                <a:r>
                  <a:rPr lang="ko-KR" altLang="en-US" sz="1100">
                    <a:solidFill>
                      <a:schemeClr val="tx1">
                        <a:lumMod val="50000"/>
                      </a:schemeClr>
                    </a:solidFill>
                  </a:rPr>
                  <a:t>판매</a:t>
                </a:r>
              </a:p>
            </p:txBody>
          </p:sp>
          <p:sp>
            <p:nvSpPr>
              <p:cNvPr id="32" name="AutoShape 29">
                <a:extLst>
                  <a:ext uri="{FF2B5EF4-FFF2-40B4-BE49-F238E27FC236}">
                    <a16:creationId xmlns:a16="http://schemas.microsoft.com/office/drawing/2014/main" id="{7B5F3359-C31F-6296-677B-DDBEA1D4C1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9" y="1117"/>
                <a:ext cx="317" cy="182"/>
              </a:xfrm>
              <a:prstGeom prst="rightArrow">
                <a:avLst>
                  <a:gd name="adj1" fmla="val 50000"/>
                  <a:gd name="adj2" fmla="val 43544"/>
                </a:avLst>
              </a:prstGeom>
              <a:solidFill>
                <a:schemeClr val="accent1"/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latinLnBrk="1" hangingPunct="1">
                  <a:defRPr/>
                </a:pPr>
                <a:endParaRPr lang="ko-KR" altLang="en-US" sz="110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3" name="Text Box 30">
                <a:extLst>
                  <a:ext uri="{FF2B5EF4-FFF2-40B4-BE49-F238E27FC236}">
                    <a16:creationId xmlns:a16="http://schemas.microsoft.com/office/drawing/2014/main" id="{82B6ACB6-F8A9-BA0A-AF09-418ABAC87A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0" y="1344"/>
                <a:ext cx="324" cy="198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1" latinLnBrk="1" hangingPunct="1">
                  <a:defRPr/>
                </a:pPr>
                <a:r>
                  <a:rPr lang="ko-KR" altLang="en-US" sz="1100">
                    <a:solidFill>
                      <a:schemeClr val="tx1">
                        <a:lumMod val="50000"/>
                      </a:schemeClr>
                    </a:solidFill>
                  </a:rPr>
                  <a:t>고객</a:t>
                </a:r>
              </a:p>
            </p:txBody>
          </p:sp>
        </p:grp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id="{2218E55B-9ABA-BF47-2085-E8CAE08C6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2615"/>
              <a:ext cx="820" cy="27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Change Log</a:t>
              </a:r>
            </a:p>
          </p:txBody>
        </p:sp>
        <p:sp>
          <p:nvSpPr>
            <p:cNvPr id="25" name="Line 32">
              <a:extLst>
                <a:ext uri="{FF2B5EF4-FFF2-40B4-BE49-F238E27FC236}">
                  <a16:creationId xmlns:a16="http://schemas.microsoft.com/office/drawing/2014/main" id="{C8ED92BE-132F-DBE6-7477-3DC0D75676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75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6" name="Rectangle 33">
              <a:extLst>
                <a:ext uri="{FF2B5EF4-FFF2-40B4-BE49-F238E27FC236}">
                  <a16:creationId xmlns:a16="http://schemas.microsoft.com/office/drawing/2014/main" id="{5FCF902D-1FA1-5904-6388-5213360ED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" y="1933"/>
              <a:ext cx="591" cy="18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en-US" altLang="ko-KR" sz="1100">
                  <a:solidFill>
                    <a:schemeClr val="tx1">
                      <a:lumMod val="50000"/>
                    </a:schemeClr>
                  </a:solidFill>
                </a:rPr>
                <a:t>Change Log</a:t>
              </a: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id="{DF1ED71B-45F7-ABB3-1A9C-9642C7A6C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170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endParaRPr lang="ko-KR" altLang="en-US" sz="11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28" name="AutoShape 35">
              <a:extLst>
                <a:ext uri="{FF2B5EF4-FFF2-40B4-BE49-F238E27FC236}">
                  <a16:creationId xmlns:a16="http://schemas.microsoft.com/office/drawing/2014/main" id="{F04D2A18-B95B-CDEF-DA9E-9AB64E4FD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845"/>
              <a:ext cx="726" cy="204"/>
            </a:xfrm>
            <a:prstGeom prst="wedgeRectCallout">
              <a:avLst>
                <a:gd name="adj1" fmla="val -42560"/>
                <a:gd name="adj2" fmla="val 159903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100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  <a:r>
                <a:rPr lang="ko-KR" altLang="en-US" sz="1100">
                  <a:solidFill>
                    <a:schemeClr val="tx1">
                      <a:lumMod val="50000"/>
                    </a:schemeClr>
                  </a:solidFill>
                </a:rPr>
                <a:t>내용 변동</a:t>
              </a:r>
            </a:p>
          </p:txBody>
        </p:sp>
        <p:sp>
          <p:nvSpPr>
            <p:cNvPr id="29" name="AutoShape 36">
              <a:extLst>
                <a:ext uri="{FF2B5EF4-FFF2-40B4-BE49-F238E27FC236}">
                  <a16:creationId xmlns:a16="http://schemas.microsoft.com/office/drawing/2014/main" id="{F01022B1-658C-5EEF-9ED7-2BCB7DE871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1338" y="2251"/>
              <a:ext cx="817" cy="181"/>
            </a:xfrm>
            <a:prstGeom prst="wedgeRectCallout">
              <a:avLst>
                <a:gd name="adj1" fmla="val 26620"/>
                <a:gd name="adj2" fmla="val -257736"/>
              </a:avLst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latinLnBrk="1" hangingPunct="1">
                <a:defRPr/>
              </a:pPr>
              <a:r>
                <a:rPr lang="en-US" altLang="ko-KR" sz="1050">
                  <a:solidFill>
                    <a:schemeClr val="tx1">
                      <a:lumMod val="50000"/>
                    </a:schemeClr>
                  </a:solidFill>
                </a:rPr>
                <a:t>DB</a:t>
              </a:r>
              <a:r>
                <a:rPr lang="ko-KR" altLang="en-US" sz="1050">
                  <a:solidFill>
                    <a:schemeClr val="tx1">
                      <a:lumMod val="50000"/>
                    </a:schemeClr>
                  </a:solidFill>
                </a:rPr>
                <a:t>내용 변동</a:t>
              </a:r>
            </a:p>
          </p:txBody>
        </p:sp>
      </p:grpSp>
      <p:sp>
        <p:nvSpPr>
          <p:cNvPr id="15365" name="슬라이드 번호 개체 틀 37">
            <a:extLst>
              <a:ext uri="{FF2B5EF4-FFF2-40B4-BE49-F238E27FC236}">
                <a16:creationId xmlns:a16="http://schemas.microsoft.com/office/drawing/2014/main" id="{A1477F9A-C037-E902-76C8-09C61CE9D4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87FB7-CA3F-4FCD-9E24-5C9F311CFED7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23CA0DD5-08E0-7AD5-1280-D39E9A946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개념적 설계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FE86C1BA-0AF8-A9A1-FC0D-0F3AA9254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11315"/>
            <a:ext cx="8229600" cy="471646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 </a:t>
            </a:r>
            <a:r>
              <a:rPr lang="ko-KR" altLang="en-US" dirty="0"/>
              <a:t>개발시스템 구성도</a:t>
            </a:r>
            <a:r>
              <a:rPr lang="en-US" altLang="ko-KR" dirty="0"/>
              <a:t>(</a:t>
            </a:r>
            <a:r>
              <a:rPr lang="ko-KR" altLang="en-US" dirty="0"/>
              <a:t> 또는 개념도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</a:t>
            </a:r>
          </a:p>
          <a:p>
            <a:pPr lvl="2">
              <a:defRPr/>
            </a:pPr>
            <a:r>
              <a:rPr lang="ko-KR" altLang="en-US" sz="1400" i="1" dirty="0">
                <a:solidFill>
                  <a:srgbClr val="FF0000"/>
                </a:solidFill>
              </a:rPr>
              <a:t>전체 시스템의 구성을 설명하는 구성도</a:t>
            </a:r>
            <a:r>
              <a:rPr lang="en-US" altLang="ko-KR" sz="1400" i="1" dirty="0">
                <a:solidFill>
                  <a:srgbClr val="FF0000"/>
                </a:solidFill>
              </a:rPr>
              <a:t>, </a:t>
            </a:r>
            <a:r>
              <a:rPr lang="ko-KR" altLang="en-US" sz="1400" i="1" dirty="0">
                <a:solidFill>
                  <a:srgbClr val="FF0000"/>
                </a:solidFill>
              </a:rPr>
              <a:t>개념도 등으로 작성</a:t>
            </a:r>
            <a:endParaRPr lang="en-US" altLang="ko-KR" sz="1400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400" i="1" dirty="0">
                <a:solidFill>
                  <a:srgbClr val="FF0000"/>
                </a:solidFill>
              </a:rPr>
              <a:t>하드웨어</a:t>
            </a:r>
            <a:r>
              <a:rPr lang="en-US" altLang="ko-KR" sz="1400" i="1" dirty="0">
                <a:solidFill>
                  <a:srgbClr val="FF0000"/>
                </a:solidFill>
              </a:rPr>
              <a:t>, </a:t>
            </a:r>
            <a:r>
              <a:rPr lang="ko-KR" altLang="en-US" sz="1400" i="1" dirty="0">
                <a:solidFill>
                  <a:srgbClr val="FF0000"/>
                </a:solidFill>
              </a:rPr>
              <a:t>소프트웨어를 포함한 전체 시스템 구성도를 그림으로 기술</a:t>
            </a:r>
            <a:endParaRPr lang="en-US" altLang="ko-KR" sz="1400" i="1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예시</a:t>
            </a:r>
            <a:r>
              <a:rPr lang="en-US" altLang="ko-KR" dirty="0">
                <a:solidFill>
                  <a:srgbClr val="FF0000"/>
                </a:solidFill>
              </a:rPr>
              <a:t>:</a:t>
            </a:r>
            <a:r>
              <a:rPr lang="ko-KR" altLang="en-US" dirty="0">
                <a:solidFill>
                  <a:srgbClr val="FF0000"/>
                </a:solidFill>
              </a:rPr>
              <a:t>타 주제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  <a:r>
              <a:rPr lang="ko-KR" altLang="en-US" dirty="0">
                <a:solidFill>
                  <a:srgbClr val="FF0000"/>
                </a:solidFill>
              </a:rPr>
              <a:t>물리적 구조도와 기능적 구조도를 작성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ko-KR" sz="1600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14340" name="슬라이드 번호 개체 틀 37">
            <a:extLst>
              <a:ext uri="{FF2B5EF4-FFF2-40B4-BE49-F238E27FC236}">
                <a16:creationId xmlns:a16="http://schemas.microsoft.com/office/drawing/2014/main" id="{DCB3B9A4-FE74-1BF7-AC70-F449B57DE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B10B64-A5C6-47ED-8C8D-013534774815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41" name="그림 2">
            <a:extLst>
              <a:ext uri="{FF2B5EF4-FFF2-40B4-BE49-F238E27FC236}">
                <a16:creationId xmlns:a16="http://schemas.microsoft.com/office/drawing/2014/main" id="{7BF8E92A-9B5C-C887-96D6-87ADD354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7" y="2708920"/>
            <a:ext cx="6080125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9BFAFDC9-338F-9592-2A27-3FFB5E29F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개념적 설계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2AD248D4-0AA1-253B-E410-1E3481AC89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77420"/>
            <a:ext cx="8229600" cy="4716463"/>
          </a:xfrm>
        </p:spPr>
        <p:txBody>
          <a:bodyPr/>
          <a:lstStyle/>
          <a:p>
            <a:r>
              <a:rPr lang="ko-KR" altLang="en-US" sz="1800" dirty="0"/>
              <a:t>핵심기능 동작</a:t>
            </a:r>
            <a:r>
              <a:rPr lang="en-US" altLang="ko-KR" sz="1800" dirty="0"/>
              <a:t> </a:t>
            </a:r>
            <a:r>
              <a:rPr lang="ko-KR" altLang="en-US" sz="1800" dirty="0"/>
              <a:t>설계</a:t>
            </a:r>
            <a:endParaRPr lang="en-US" altLang="ko-KR" sz="1800" dirty="0"/>
          </a:p>
          <a:p>
            <a:pPr lvl="1"/>
            <a:r>
              <a:rPr lang="en-US" altLang="ko-KR" sz="1600" i="1" dirty="0">
                <a:solidFill>
                  <a:srgbClr val="FF0000"/>
                </a:solidFill>
              </a:rPr>
              <a:t>[</a:t>
            </a:r>
            <a:r>
              <a:rPr lang="ko-KR" altLang="en-US" sz="1600" i="1" dirty="0">
                <a:solidFill>
                  <a:srgbClr val="FF0000"/>
                </a:solidFill>
              </a:rPr>
              <a:t>가이드</a:t>
            </a:r>
            <a:r>
              <a:rPr lang="en-US" altLang="ko-KR" sz="1600" i="1" dirty="0">
                <a:solidFill>
                  <a:srgbClr val="FF0000"/>
                </a:solidFill>
              </a:rPr>
              <a:t>] </a:t>
            </a:r>
            <a:r>
              <a:rPr lang="ko-KR" altLang="en-US" sz="1600" i="1" dirty="0">
                <a:solidFill>
                  <a:srgbClr val="FF0000"/>
                </a:solidFill>
              </a:rPr>
              <a:t>주제 내용에  따라  아래에서 택하여 핵심기능의 동작흐름  설명</a:t>
            </a:r>
            <a:endParaRPr lang="en-US" altLang="ko-KR" sz="1600" i="1" dirty="0">
              <a:solidFill>
                <a:srgbClr val="FF0000"/>
              </a:solidFill>
            </a:endParaRPr>
          </a:p>
          <a:p>
            <a:pPr lvl="2"/>
            <a:r>
              <a:rPr lang="en-US" altLang="ko-KR" sz="1400" i="1" u="sng" dirty="0">
                <a:solidFill>
                  <a:srgbClr val="FF0000"/>
                </a:solidFill>
              </a:rPr>
              <a:t>(</a:t>
            </a:r>
            <a:r>
              <a:rPr lang="ko-KR" altLang="en-US" sz="1400" i="1" u="sng" dirty="0" err="1">
                <a:solidFill>
                  <a:srgbClr val="FF0000"/>
                </a:solidFill>
              </a:rPr>
              <a:t>택</a:t>
            </a:r>
            <a:r>
              <a:rPr lang="en-US" altLang="ko-KR" sz="1400" i="1" u="sng" dirty="0">
                <a:solidFill>
                  <a:srgbClr val="FF0000"/>
                </a:solidFill>
              </a:rPr>
              <a:t>1) </a:t>
            </a:r>
            <a:r>
              <a:rPr lang="ko-KR" altLang="en-US" sz="1400" i="1" u="sng" dirty="0" err="1">
                <a:solidFill>
                  <a:srgbClr val="FF0000"/>
                </a:solidFill>
              </a:rPr>
              <a:t>세부모듈구성</a:t>
            </a:r>
            <a:r>
              <a:rPr lang="ko-KR" altLang="en-US" sz="1400" i="1" u="sng" dirty="0">
                <a:solidFill>
                  <a:srgbClr val="FF0000"/>
                </a:solidFill>
              </a:rPr>
              <a:t> 및 연동 개념도</a:t>
            </a:r>
            <a:r>
              <a:rPr lang="en-US" altLang="ko-KR" sz="1400" i="1" u="sng" dirty="0">
                <a:solidFill>
                  <a:srgbClr val="FF0000"/>
                </a:solidFill>
              </a:rPr>
              <a:t>: </a:t>
            </a:r>
            <a:r>
              <a:rPr lang="ko-KR" altLang="en-US" sz="1400" i="1" u="sng" dirty="0">
                <a:solidFill>
                  <a:srgbClr val="FF0000"/>
                </a:solidFill>
              </a:rPr>
              <a:t>핵심기능을 위한 세부 모듈을 구성하고</a:t>
            </a:r>
            <a:r>
              <a:rPr lang="en-US" altLang="ko-KR" sz="1400" i="1" u="sng" dirty="0">
                <a:solidFill>
                  <a:srgbClr val="FF0000"/>
                </a:solidFill>
              </a:rPr>
              <a:t>, </a:t>
            </a:r>
            <a:r>
              <a:rPr lang="ko-KR" altLang="en-US" sz="1400" i="1" u="sng" dirty="0">
                <a:solidFill>
                  <a:srgbClr val="FF0000"/>
                </a:solidFill>
              </a:rPr>
              <a:t>모듈간 연동흐름을 표현</a:t>
            </a:r>
            <a:endParaRPr lang="en-US" altLang="ko-KR" sz="1400" i="1" u="sng" dirty="0">
              <a:solidFill>
                <a:srgbClr val="FF0000"/>
              </a:solidFill>
            </a:endParaRPr>
          </a:p>
          <a:p>
            <a:pPr lvl="3"/>
            <a:r>
              <a:rPr lang="ko-KR" altLang="en-US" sz="1200" i="1" dirty="0">
                <a:solidFill>
                  <a:srgbClr val="FF0000"/>
                </a:solidFill>
              </a:rPr>
              <a:t>시스템 구성도와 차이점</a:t>
            </a:r>
            <a:r>
              <a:rPr lang="en-US" altLang="ko-KR" sz="1200" i="1" dirty="0">
                <a:solidFill>
                  <a:srgbClr val="FF0000"/>
                </a:solidFill>
              </a:rPr>
              <a:t>: </a:t>
            </a:r>
          </a:p>
          <a:p>
            <a:pPr lvl="4"/>
            <a:r>
              <a:rPr lang="ko-KR" altLang="en-US" sz="1200" i="1" dirty="0">
                <a:solidFill>
                  <a:srgbClr val="FF0000"/>
                </a:solidFill>
              </a:rPr>
              <a:t>시스템구성도</a:t>
            </a:r>
            <a:r>
              <a:rPr lang="en-US" altLang="ko-KR" sz="1200" i="1" dirty="0">
                <a:solidFill>
                  <a:srgbClr val="FF0000"/>
                </a:solidFill>
              </a:rPr>
              <a:t>: </a:t>
            </a:r>
            <a:r>
              <a:rPr lang="ko-KR" altLang="en-US" sz="1200" i="1" dirty="0">
                <a:solidFill>
                  <a:srgbClr val="FF0000"/>
                </a:solidFill>
              </a:rPr>
              <a:t>전체 시스템의 구성 및 구조와 작동 흐름을 표시</a:t>
            </a:r>
            <a:endParaRPr lang="en-US" altLang="ko-KR" sz="1200" i="1" dirty="0">
              <a:solidFill>
                <a:srgbClr val="FF0000"/>
              </a:solidFill>
            </a:endParaRPr>
          </a:p>
          <a:p>
            <a:pPr lvl="4"/>
            <a:r>
              <a:rPr lang="ko-KR" altLang="en-US" sz="1200" i="1" dirty="0">
                <a:solidFill>
                  <a:srgbClr val="FF0000"/>
                </a:solidFill>
              </a:rPr>
              <a:t>핵심기능 구성도</a:t>
            </a:r>
            <a:r>
              <a:rPr lang="en-US" altLang="ko-KR" sz="1200" i="1" dirty="0">
                <a:solidFill>
                  <a:srgbClr val="FF0000"/>
                </a:solidFill>
              </a:rPr>
              <a:t>: </a:t>
            </a:r>
            <a:r>
              <a:rPr lang="ko-KR" altLang="en-US" sz="1200" i="1" dirty="0">
                <a:solidFill>
                  <a:srgbClr val="FF0000"/>
                </a:solidFill>
              </a:rPr>
              <a:t>개발 난제의 해결방법을 추가 설명하거나 혹은 핵심기능 구현을 위한 세부 모듈의 구성과  연동방식을 설명 </a:t>
            </a:r>
            <a:endParaRPr lang="en-US" altLang="ko-KR" sz="1200" i="1" dirty="0">
              <a:solidFill>
                <a:srgbClr val="FF0000"/>
              </a:solidFill>
            </a:endParaRPr>
          </a:p>
          <a:p>
            <a:pPr lvl="2"/>
            <a:r>
              <a:rPr lang="en-US" altLang="ko-KR" sz="1400" i="1" dirty="0">
                <a:solidFill>
                  <a:srgbClr val="FF0000"/>
                </a:solidFill>
              </a:rPr>
              <a:t>(</a:t>
            </a:r>
            <a:r>
              <a:rPr lang="ko-KR" altLang="en-US" sz="1400" i="1" dirty="0" err="1">
                <a:solidFill>
                  <a:srgbClr val="FF0000"/>
                </a:solidFill>
              </a:rPr>
              <a:t>택</a:t>
            </a:r>
            <a:r>
              <a:rPr lang="en-US" altLang="ko-KR" sz="1400" i="1" dirty="0">
                <a:solidFill>
                  <a:srgbClr val="FF0000"/>
                </a:solidFill>
              </a:rPr>
              <a:t>2) </a:t>
            </a:r>
            <a:r>
              <a:rPr lang="ko-KR" altLang="en-US" sz="1400" i="1" dirty="0">
                <a:solidFill>
                  <a:srgbClr val="FF0000"/>
                </a:solidFill>
              </a:rPr>
              <a:t>핵심기능을 위한 알고리즘의 설명을 위한 그림과 설명</a:t>
            </a:r>
            <a:endParaRPr lang="en-US" altLang="ko-KR" sz="1400" i="1" dirty="0">
              <a:solidFill>
                <a:srgbClr val="FF0000"/>
              </a:solidFill>
            </a:endParaRPr>
          </a:p>
          <a:p>
            <a:pPr lvl="2"/>
            <a:r>
              <a:rPr lang="en-US" altLang="ko-KR" sz="1400" i="1" dirty="0">
                <a:solidFill>
                  <a:srgbClr val="FF0000"/>
                </a:solidFill>
              </a:rPr>
              <a:t>(</a:t>
            </a:r>
            <a:r>
              <a:rPr lang="ko-KR" altLang="en-US" sz="1400" i="1" dirty="0" err="1">
                <a:solidFill>
                  <a:srgbClr val="FF0000"/>
                </a:solidFill>
              </a:rPr>
              <a:t>택</a:t>
            </a:r>
            <a:r>
              <a:rPr lang="en-US" altLang="ko-KR" sz="1400" i="1" dirty="0">
                <a:solidFill>
                  <a:srgbClr val="FF0000"/>
                </a:solidFill>
              </a:rPr>
              <a:t>3) </a:t>
            </a:r>
            <a:r>
              <a:rPr lang="ko-KR" altLang="en-US" sz="1400" i="1" dirty="0">
                <a:solidFill>
                  <a:srgbClr val="FF0000"/>
                </a:solidFill>
              </a:rPr>
              <a:t>핵심기능의 내용에 따라 적합한 다른 표현방법 도입 가능 </a:t>
            </a:r>
            <a:endParaRPr lang="en-US" altLang="ko-KR" sz="1400" i="1" dirty="0">
              <a:solidFill>
                <a:srgbClr val="FF0000"/>
              </a:solidFill>
            </a:endParaRPr>
          </a:p>
          <a:p>
            <a:pPr lvl="1"/>
            <a:r>
              <a:rPr lang="en-US" altLang="ko-KR" sz="1600" i="1" dirty="0">
                <a:solidFill>
                  <a:srgbClr val="FF0000"/>
                </a:solidFill>
              </a:rPr>
              <a:t>[</a:t>
            </a:r>
            <a:r>
              <a:rPr lang="ko-KR" altLang="en-US" sz="1600" i="1" dirty="0">
                <a:solidFill>
                  <a:srgbClr val="FF0000"/>
                </a:solidFill>
              </a:rPr>
              <a:t>예시</a:t>
            </a:r>
            <a:r>
              <a:rPr lang="en-US" altLang="ko-KR" sz="1600" i="1" dirty="0">
                <a:solidFill>
                  <a:srgbClr val="FF0000"/>
                </a:solidFill>
              </a:rPr>
              <a:t>] SNS</a:t>
            </a:r>
            <a:r>
              <a:rPr lang="ko-KR" altLang="en-US" sz="1600" i="1" dirty="0">
                <a:solidFill>
                  <a:srgbClr val="FF0000"/>
                </a:solidFill>
              </a:rPr>
              <a:t>메신저에서 미디어</a:t>
            </a:r>
            <a:r>
              <a:rPr lang="en-US" altLang="ko-KR" sz="1600" i="1" dirty="0">
                <a:solidFill>
                  <a:srgbClr val="FF0000"/>
                </a:solidFill>
              </a:rPr>
              <a:t> </a:t>
            </a:r>
            <a:r>
              <a:rPr lang="ko-KR" altLang="en-US" sz="1600" i="1" dirty="0">
                <a:solidFill>
                  <a:srgbClr val="FF0000"/>
                </a:solidFill>
              </a:rPr>
              <a:t>공유재생 기능을 위한 모듈구성 및 </a:t>
            </a:r>
            <a:r>
              <a:rPr lang="en-US" altLang="ko-KR" sz="1600" i="1" dirty="0">
                <a:solidFill>
                  <a:srgbClr val="FF0000"/>
                </a:solidFill>
              </a:rPr>
              <a:t>P2P</a:t>
            </a:r>
            <a:r>
              <a:rPr lang="ko-KR" altLang="en-US" sz="1600" i="1" dirty="0">
                <a:solidFill>
                  <a:srgbClr val="FF0000"/>
                </a:solidFill>
              </a:rPr>
              <a:t>방식 의 연동개념도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dirty="0"/>
              <a:t>	</a:t>
            </a:r>
            <a:endParaRPr lang="ko-KR" altLang="en-US" sz="1800" dirty="0"/>
          </a:p>
        </p:txBody>
      </p:sp>
      <p:grpSp>
        <p:nvGrpSpPr>
          <p:cNvPr id="16388" name="그룹 3">
            <a:extLst>
              <a:ext uri="{FF2B5EF4-FFF2-40B4-BE49-F238E27FC236}">
                <a16:creationId xmlns:a16="http://schemas.microsoft.com/office/drawing/2014/main" id="{ED82F3E4-E80B-9AFC-E784-B1DC0A31E817}"/>
              </a:ext>
            </a:extLst>
          </p:cNvPr>
          <p:cNvGrpSpPr>
            <a:grpSpLocks/>
          </p:cNvGrpSpPr>
          <p:nvPr/>
        </p:nvGrpSpPr>
        <p:grpSpPr bwMode="auto">
          <a:xfrm>
            <a:off x="1835696" y="4262475"/>
            <a:ext cx="4370859" cy="1687483"/>
            <a:chOff x="2051050" y="2276475"/>
            <a:chExt cx="6819900" cy="3971925"/>
          </a:xfrm>
        </p:grpSpPr>
        <p:pic>
          <p:nvPicPr>
            <p:cNvPr id="16390" name="Picture 4" descr="BD18185_">
              <a:extLst>
                <a:ext uri="{FF2B5EF4-FFF2-40B4-BE49-F238E27FC236}">
                  <a16:creationId xmlns:a16="http://schemas.microsoft.com/office/drawing/2014/main" id="{7394C98D-B85B-2D5E-4900-69860E71E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6100" y="2563813"/>
              <a:ext cx="2278063" cy="1439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270AD5BA-5F9D-2B34-67FD-65DB111EE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091" y="2921245"/>
              <a:ext cx="1659543" cy="794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ko-KR" sz="2400" dirty="0">
                  <a:solidFill>
                    <a:schemeClr val="tx2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Network</a:t>
              </a:r>
            </a:p>
            <a:p>
              <a:pPr algn="ctr" eaLnBrk="1" latinLnBrk="1" hangingPunct="1">
                <a:defRPr/>
              </a:pPr>
              <a:r>
                <a:rPr lang="en-US" altLang="ko-KR" dirty="0">
                  <a:solidFill>
                    <a:schemeClr val="tx2">
                      <a:lumMod val="75000"/>
                    </a:schemeClr>
                  </a:solidFill>
                  <a:latin typeface="휴먼엑스포" pitchFamily="2" charset="-127"/>
                  <a:ea typeface="휴먼엑스포" pitchFamily="2" charset="-127"/>
                </a:rPr>
                <a:t>P2P</a:t>
              </a: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C24F71CA-74B4-4EFF-B015-33A0B028B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050" y="2276475"/>
              <a:ext cx="1800124" cy="2067895"/>
            </a:xfrm>
            <a:prstGeom prst="flowChartProcess">
              <a:avLst/>
            </a:prstGeom>
            <a:solidFill>
              <a:srgbClr val="FFCC00">
                <a:alpha val="50000"/>
              </a:srgbClr>
            </a:solidFill>
            <a:ln w="9525" algn="ctr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508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latinLnBrk="1" hangingPunct="1">
                <a:defRPr/>
              </a:pPr>
              <a:r>
                <a:rPr lang="en-US" altLang="ko-KR" sz="1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Messenger</a:t>
              </a:r>
            </a:p>
            <a:p>
              <a:pPr algn="ctr" eaLnBrk="1" latinLnBrk="1" hangingPunct="1">
                <a:defRPr/>
              </a:pPr>
              <a:r>
                <a:rPr lang="en-US" altLang="ko-KR" sz="1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Client</a:t>
              </a:r>
            </a:p>
            <a:p>
              <a:pPr algn="ctr" eaLnBrk="1" latinLnBrk="1" hangingPunct="1">
                <a:defRPr/>
              </a:pPr>
              <a:endParaRPr lang="en-US" altLang="ko-KR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en-US" altLang="ko-KR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ko-KR" altLang="en-US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</p:txBody>
        </p:sp>
        <p:sp>
          <p:nvSpPr>
            <p:cNvPr id="16393" name="Rectangle 7">
              <a:extLst>
                <a:ext uri="{FF2B5EF4-FFF2-40B4-BE49-F238E27FC236}">
                  <a16:creationId xmlns:a16="http://schemas.microsoft.com/office/drawing/2014/main" id="{33FE55F8-32FC-D0F2-EBB4-9055E9D3C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288" y="3767138"/>
              <a:ext cx="161131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미디어 재생기</a:t>
              </a:r>
            </a:p>
          </p:txBody>
        </p:sp>
        <p:sp>
          <p:nvSpPr>
            <p:cNvPr id="16394" name="Line 8">
              <a:extLst>
                <a:ext uri="{FF2B5EF4-FFF2-40B4-BE49-F238E27FC236}">
                  <a16:creationId xmlns:a16="http://schemas.microsoft.com/office/drawing/2014/main" id="{4219BA2C-B591-AC24-F4A7-2F937D38C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38" y="3787775"/>
              <a:ext cx="2952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5" name="Line 9">
              <a:extLst>
                <a:ext uri="{FF2B5EF4-FFF2-40B4-BE49-F238E27FC236}">
                  <a16:creationId xmlns:a16="http://schemas.microsoft.com/office/drawing/2014/main" id="{B645DAB6-3E34-4BA2-101E-2CA7CCE9E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738" y="2708275"/>
              <a:ext cx="29527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6" name="Line 10">
              <a:extLst>
                <a:ext uri="{FF2B5EF4-FFF2-40B4-BE49-F238E27FC236}">
                  <a16:creationId xmlns:a16="http://schemas.microsoft.com/office/drawing/2014/main" id="{A6F147DB-64B3-64F7-C7E9-CA8FA844B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438" y="4376738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7" name="Line 11">
              <a:extLst>
                <a:ext uri="{FF2B5EF4-FFF2-40B4-BE49-F238E27FC236}">
                  <a16:creationId xmlns:a16="http://schemas.microsoft.com/office/drawing/2014/main" id="{FB9A33CA-75C8-1978-4560-B0B7B871A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9925" y="4341813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8" name="Line 12">
              <a:extLst>
                <a:ext uri="{FF2B5EF4-FFF2-40B4-BE49-F238E27FC236}">
                  <a16:creationId xmlns:a16="http://schemas.microsoft.com/office/drawing/2014/main" id="{D2753EA2-C313-8CE1-6DDB-8D525EF86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8425" y="4364038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399" name="Line 13">
              <a:extLst>
                <a:ext uri="{FF2B5EF4-FFF2-40B4-BE49-F238E27FC236}">
                  <a16:creationId xmlns:a16="http://schemas.microsoft.com/office/drawing/2014/main" id="{3DE659A7-F236-48E1-22A2-31A2C017D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6913" y="4341813"/>
              <a:ext cx="0" cy="431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E6B86746-5A7A-B21D-E66E-2FC0BB8A8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631" y="2276475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전송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30B715D5-8930-DA34-649F-E6170E925F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044" y="3854558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전송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95B856AF-8E83-EFEC-72C7-EA657630C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044" y="2276475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수락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62730A79-C767-6D80-8F27-78F6A280B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1777" y="3854558"/>
              <a:ext cx="641187" cy="366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800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수락</a:t>
              </a:r>
            </a:p>
          </p:txBody>
        </p:sp>
        <p:sp>
          <p:nvSpPr>
            <p:cNvPr id="19" name="AutoShape 18">
              <a:extLst>
                <a:ext uri="{FF2B5EF4-FFF2-40B4-BE49-F238E27FC236}">
                  <a16:creationId xmlns:a16="http://schemas.microsoft.com/office/drawing/2014/main" id="{E64F11CF-CDFB-3DB0-95D2-EC299F1D4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0490" y="4800340"/>
              <a:ext cx="1446957" cy="144806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녹음</a:t>
              </a: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</a:t>
              </a: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저장</a:t>
              </a:r>
            </a:p>
          </p:txBody>
        </p: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A2FBB1B1-D9E0-2574-C95C-8C0BA5A2F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5986" y="4800340"/>
              <a:ext cx="1446957" cy="1448060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latinLnBrk="1" hangingPunct="1">
                <a:defRPr/>
              </a:pP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녹음</a:t>
              </a: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, </a:t>
              </a:r>
              <a:r>
                <a:rPr lang="ko-KR" altLang="en-US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저장</a:t>
              </a:r>
            </a:p>
          </p:txBody>
        </p:sp>
        <p:sp>
          <p:nvSpPr>
            <p:cNvPr id="16406" name="Rectangle 20">
              <a:extLst>
                <a:ext uri="{FF2B5EF4-FFF2-40B4-BE49-F238E27FC236}">
                  <a16:creationId xmlns:a16="http://schemas.microsoft.com/office/drawing/2014/main" id="{0D5BF8E0-83D5-B45B-224F-D310CCAB7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638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 dirty="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채 </a:t>
              </a:r>
              <a:r>
                <a:rPr lang="ko-KR" altLang="en-US" sz="1400" dirty="0" err="1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팅</a:t>
              </a:r>
              <a:endParaRPr lang="ko-KR" altLang="en-US" sz="1400" dirty="0">
                <a:solidFill>
                  <a:schemeClr val="bg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endParaRPr>
            </a:p>
          </p:txBody>
        </p:sp>
        <p:sp>
          <p:nvSpPr>
            <p:cNvPr id="16407" name="Rectangle 21">
              <a:extLst>
                <a:ext uri="{FF2B5EF4-FFF2-40B4-BE49-F238E27FC236}">
                  <a16:creationId xmlns:a16="http://schemas.microsoft.com/office/drawing/2014/main" id="{DE4DB7D5-2021-411F-EC58-72761AE1B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8788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400" dirty="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P2P</a:t>
              </a:r>
            </a:p>
          </p:txBody>
        </p:sp>
        <p:sp>
          <p:nvSpPr>
            <p:cNvPr id="23" name="AutoShape 22">
              <a:extLst>
                <a:ext uri="{FF2B5EF4-FFF2-40B4-BE49-F238E27FC236}">
                  <a16:creationId xmlns:a16="http://schemas.microsoft.com/office/drawing/2014/main" id="{72270745-FDE3-B918-5078-87A47265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826" y="2276475"/>
              <a:ext cx="1800124" cy="2067895"/>
            </a:xfrm>
            <a:prstGeom prst="flowChartProcess">
              <a:avLst/>
            </a:prstGeom>
            <a:solidFill>
              <a:srgbClr val="FFCC00">
                <a:alpha val="50000"/>
              </a:srgbClr>
            </a:solidFill>
            <a:ln w="9525" algn="ctr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150800" prstMaterial="legacyMatte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Messenger</a:t>
              </a:r>
            </a:p>
            <a:p>
              <a:pPr algn="ctr" eaLnBrk="1" latinLnBrk="1" hangingPunct="1">
                <a:defRPr/>
              </a:pPr>
              <a:r>
                <a:rPr lang="en-US" altLang="ko-KR" sz="1800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휴먼엑스포" pitchFamily="2" charset="-127"/>
                  <a:ea typeface="휴먼엑스포" pitchFamily="2" charset="-127"/>
                </a:rPr>
                <a:t>Client</a:t>
              </a: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en-US" altLang="ko-KR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  <a:p>
              <a:pPr algn="ctr" eaLnBrk="1" latinLnBrk="1" hangingPunct="1">
                <a:defRPr/>
              </a:pPr>
              <a:endParaRPr lang="ko-KR" altLang="en-US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휴먼엑스포" pitchFamily="2" charset="-127"/>
                <a:ea typeface="휴먼엑스포" pitchFamily="2" charset="-127"/>
              </a:endParaRPr>
            </a:p>
          </p:txBody>
        </p:sp>
        <p:sp>
          <p:nvSpPr>
            <p:cNvPr id="16409" name="Rectangle 23">
              <a:extLst>
                <a:ext uri="{FF2B5EF4-FFF2-40B4-BE49-F238E27FC236}">
                  <a16:creationId xmlns:a16="http://schemas.microsoft.com/office/drawing/2014/main" id="{BA5B06C8-4F7A-AAC6-11E4-AF18758B3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2963" y="3767138"/>
              <a:ext cx="161131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600" dirty="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미디어 재생기</a:t>
              </a:r>
            </a:p>
          </p:txBody>
        </p:sp>
        <p:sp>
          <p:nvSpPr>
            <p:cNvPr id="16410" name="Rectangle 24">
              <a:extLst>
                <a:ext uri="{FF2B5EF4-FFF2-40B4-BE49-F238E27FC236}">
                  <a16:creationId xmlns:a16="http://schemas.microsoft.com/office/drawing/2014/main" id="{41FB47DA-D349-B304-6E3A-BD766ADB7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9313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채 팅</a:t>
              </a:r>
            </a:p>
          </p:txBody>
        </p:sp>
        <p:sp>
          <p:nvSpPr>
            <p:cNvPr id="16411" name="Rectangle 25">
              <a:extLst>
                <a:ext uri="{FF2B5EF4-FFF2-40B4-BE49-F238E27FC236}">
                  <a16:creationId xmlns:a16="http://schemas.microsoft.com/office/drawing/2014/main" id="{5962E4AE-EE0F-5CB5-5DAD-1DC1CFC74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8463" y="3284538"/>
              <a:ext cx="792162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400">
                  <a:solidFill>
                    <a:schemeClr val="bg1"/>
                  </a:solidFill>
                  <a:latin typeface="휴먼엑스포" panose="02030504000101010101" pitchFamily="18" charset="-127"/>
                  <a:ea typeface="휴먼엑스포" panose="02030504000101010101" pitchFamily="18" charset="-127"/>
                </a:rPr>
                <a:t>P2P</a:t>
              </a:r>
            </a:p>
          </p:txBody>
        </p:sp>
      </p:grpSp>
      <p:sp>
        <p:nvSpPr>
          <p:cNvPr id="16389" name="슬라이드 번호 개체 틀 26">
            <a:extLst>
              <a:ext uri="{FF2B5EF4-FFF2-40B4-BE49-F238E27FC236}">
                <a16:creationId xmlns:a16="http://schemas.microsoft.com/office/drawing/2014/main" id="{8D42B973-D386-6F78-FCB8-E3DEFF795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0D36726-070E-444C-88A5-643D8C8693A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3788401-D1FD-4655-83C2-4ED29E55A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260350"/>
            <a:ext cx="4648200" cy="563562"/>
          </a:xfrm>
        </p:spPr>
        <p:txBody>
          <a:bodyPr/>
          <a:lstStyle/>
          <a:p>
            <a:r>
              <a:rPr lang="ko-KR" altLang="en-US" dirty="0"/>
              <a:t>개발 도구 및 산출물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EF3D-B416-FDF9-08F0-6A25F71B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7607"/>
            <a:ext cx="8229600" cy="5249863"/>
          </a:xfrm>
        </p:spPr>
        <p:txBody>
          <a:bodyPr/>
          <a:lstStyle/>
          <a:p>
            <a:pPr>
              <a:defRPr/>
            </a:pPr>
            <a:r>
              <a:rPr lang="ko-KR" altLang="en-US" sz="1600" dirty="0"/>
              <a:t>개발 도구 및 환경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1400" dirty="0">
                <a:solidFill>
                  <a:srgbClr val="FF0000"/>
                </a:solidFill>
              </a:rPr>
              <a:t>[</a:t>
            </a:r>
            <a:r>
              <a:rPr lang="ko-KR" altLang="en-US" sz="1400" dirty="0">
                <a:solidFill>
                  <a:srgbClr val="FF0000"/>
                </a:solidFill>
              </a:rPr>
              <a:t>가이드</a:t>
            </a:r>
            <a:r>
              <a:rPr lang="en-US" altLang="ko-KR" sz="1400" dirty="0">
                <a:solidFill>
                  <a:srgbClr val="FF0000"/>
                </a:solidFill>
              </a:rPr>
              <a:t>] </a:t>
            </a:r>
          </a:p>
          <a:p>
            <a:pPr lvl="2">
              <a:defRPr/>
            </a:pPr>
            <a:r>
              <a:rPr lang="ko-KR" altLang="en-US" sz="1200" dirty="0">
                <a:solidFill>
                  <a:srgbClr val="FF0000"/>
                </a:solidFill>
              </a:rPr>
              <a:t>개발에 활용하는 언어를 포함한 다양한 리소스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ko-KR" altLang="en-US" sz="1200" dirty="0">
                <a:solidFill>
                  <a:srgbClr val="FF0000"/>
                </a:solidFill>
              </a:rPr>
              <a:t>다음과 같은 내용들 중에서 필요한 내용을 선택하여 표로 작성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457200" lvl="1" indent="0">
              <a:buNone/>
              <a:defRPr/>
            </a:pPr>
            <a:endParaRPr lang="en-US" altLang="ko-KR" sz="1400" b="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ko-KR" altLang="en-US" sz="1600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69BF7EAC-A798-6CE0-8AC3-D65FFB0A6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DD834-B27C-4F74-A641-E3051AC5544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988B9C-7C7D-08A2-6F09-26D5D8217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78947"/>
              </p:ext>
            </p:extLst>
          </p:nvPr>
        </p:nvGraphicFramePr>
        <p:xfrm>
          <a:off x="791580" y="1858010"/>
          <a:ext cx="7560840" cy="4386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646">
                  <a:extLst>
                    <a:ext uri="{9D8B030D-6E8A-4147-A177-3AD203B41FA5}">
                      <a16:colId xmlns:a16="http://schemas.microsoft.com/office/drawing/2014/main" val="3732509453"/>
                    </a:ext>
                  </a:extLst>
                </a:gridCol>
                <a:gridCol w="2810858">
                  <a:extLst>
                    <a:ext uri="{9D8B030D-6E8A-4147-A177-3AD203B41FA5}">
                      <a16:colId xmlns:a16="http://schemas.microsoft.com/office/drawing/2014/main" val="3079600285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1537258065"/>
                    </a:ext>
                  </a:extLst>
                </a:gridCol>
              </a:tblGrid>
              <a:tr h="337012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 도구 및 환경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예시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추가 작업 사항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필요 시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35081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개발 언어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)JAVA, XML, CSS, Python 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634784"/>
                  </a:ext>
                </a:extLst>
              </a:tr>
              <a:tr h="5193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서버</a:t>
                      </a:r>
                      <a:r>
                        <a:rPr lang="en-US" altLang="ko-KR" sz="1000" dirty="0"/>
                        <a:t>HW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혹은 클라우드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Nvidia  GPU  RX2080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AWS: EC2, S3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GCP: Firebase 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EC2: </a:t>
                      </a:r>
                      <a:r>
                        <a:rPr lang="ko-KR" altLang="en-US" sz="1000" dirty="0"/>
                        <a:t>웹서버 설치 및 보안처리</a:t>
                      </a:r>
                      <a:r>
                        <a:rPr lang="en-US" altLang="ko-KR" sz="1000" dirty="0"/>
                        <a:t>(https)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Firebase:</a:t>
                      </a:r>
                      <a:r>
                        <a:rPr lang="ko-KR" altLang="en-US" sz="1000" dirty="0" err="1"/>
                        <a:t>앱알람을</a:t>
                      </a:r>
                      <a:r>
                        <a:rPr lang="ko-KR" altLang="en-US" sz="1000" dirty="0"/>
                        <a:t> 위한 설정 및 </a:t>
                      </a:r>
                      <a:r>
                        <a:rPr lang="en-US" altLang="ko-KR" sz="1000" dirty="0"/>
                        <a:t>DB</a:t>
                      </a:r>
                      <a:r>
                        <a:rPr lang="ko-KR" altLang="en-US" sz="1000" dirty="0"/>
                        <a:t>설계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164138"/>
                  </a:ext>
                </a:extLst>
              </a:tr>
              <a:tr h="9556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서비스플랫폼</a:t>
                      </a:r>
                      <a:r>
                        <a:rPr lang="en-US" altLang="ko-KR" sz="1000" dirty="0"/>
                        <a:t>: </a:t>
                      </a:r>
                      <a:r>
                        <a:rPr lang="ko-KR" altLang="en-US" sz="1000" dirty="0"/>
                        <a:t>외부에서 제공하는 </a:t>
                      </a:r>
                      <a:r>
                        <a:rPr lang="en-US" altLang="ko-KR" sz="1000" dirty="0"/>
                        <a:t>API</a:t>
                      </a:r>
                      <a:r>
                        <a:rPr lang="ko-KR" altLang="en-US" sz="1000" dirty="0"/>
                        <a:t>서비스나 설치하는 서버 </a:t>
                      </a:r>
                      <a:r>
                        <a:rPr lang="en-US" altLang="ko-KR" sz="1000" dirty="0"/>
                        <a:t>(AI</a:t>
                      </a:r>
                      <a:r>
                        <a:rPr lang="ko-KR" altLang="en-US" sz="1000" dirty="0"/>
                        <a:t>모델제외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(Rest API) 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/>
                        <a:t>에</a:t>
                      </a:r>
                      <a:r>
                        <a:rPr lang="en-US" altLang="ko-KR" sz="1000" dirty="0"/>
                        <a:t>) google </a:t>
                      </a:r>
                      <a:r>
                        <a:rPr lang="en-US" altLang="ko-KR" sz="1000" dirty="0" err="1"/>
                        <a:t>youtbue</a:t>
                      </a:r>
                      <a:r>
                        <a:rPr lang="en-US" altLang="ko-KR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서버</a:t>
                      </a:r>
                      <a:r>
                        <a:rPr lang="en-US" altLang="ko-KR" sz="1000" dirty="0"/>
                        <a:t>)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Web Server: nginx </a:t>
                      </a:r>
                      <a:r>
                        <a:rPr lang="en-US" altLang="ko-KR" sz="1000" dirty="0" err="1"/>
                        <a:t>ver</a:t>
                      </a:r>
                      <a:r>
                        <a:rPr lang="en-US" altLang="ko-KR" sz="1000" dirty="0"/>
                        <a:t>#.#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Streaming Sever: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 err="1"/>
                        <a:t>DBServer</a:t>
                      </a:r>
                      <a:r>
                        <a:rPr lang="en-US" altLang="ko-KR" sz="1000" dirty="0"/>
                        <a:t>: MySQL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14414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SDK/</a:t>
                      </a:r>
                      <a:r>
                        <a:rPr lang="ko-KR" altLang="en-US" sz="1000" dirty="0"/>
                        <a:t>라이브러리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다운로드 받아 사용하는 라이브러리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94942"/>
                  </a:ext>
                </a:extLst>
              </a:tr>
              <a:tr h="8102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모델</a:t>
                      </a:r>
                      <a:r>
                        <a:rPr lang="en-US" altLang="ko-KR" sz="1000" dirty="0"/>
                        <a:t>(ML/AI</a:t>
                      </a:r>
                      <a:r>
                        <a:rPr lang="ko-KR" altLang="en-US" sz="1000" dirty="0"/>
                        <a:t>모델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다운로드 설치형</a:t>
                      </a:r>
                      <a:r>
                        <a:rPr lang="en-US" altLang="ko-KR" sz="1000" dirty="0"/>
                        <a:t>)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- (</a:t>
                      </a:r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) Scikit-Learn, yolo, llama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(Rest API)</a:t>
                      </a:r>
                    </a:p>
                    <a:p>
                      <a:pPr latinLnBrk="1"/>
                      <a:r>
                        <a:rPr lang="en-US" altLang="ko-KR" sz="1000" dirty="0"/>
                        <a:t>- </a:t>
                      </a:r>
                      <a:r>
                        <a:rPr lang="en-US" altLang="ko-KR" sz="1000" dirty="0" err="1"/>
                        <a:t>openai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 err="1"/>
                        <a:t>api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683808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) data.go.kr </a:t>
                      </a:r>
                      <a:r>
                        <a:rPr lang="ko-KR" altLang="en-US" sz="1000" dirty="0"/>
                        <a:t>의 행정구역데이터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091666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하드웨어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예</a:t>
                      </a:r>
                      <a:r>
                        <a:rPr lang="en-US" altLang="ko-KR" sz="1000" dirty="0"/>
                        <a:t>) </a:t>
                      </a:r>
                      <a:r>
                        <a:rPr lang="ko-KR" altLang="en-US" sz="1000" dirty="0" err="1"/>
                        <a:t>아두이노보드</a:t>
                      </a:r>
                      <a:r>
                        <a:rPr lang="en-US" altLang="ko-KR" sz="1000" dirty="0"/>
                        <a:t>, Nvidia </a:t>
                      </a:r>
                      <a:r>
                        <a:rPr lang="ko-KR" altLang="en-US" sz="1000" dirty="0" err="1"/>
                        <a:t>젯슨보드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11243"/>
                  </a:ext>
                </a:extLst>
              </a:tr>
              <a:tr h="33701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786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5B7AFBEF-67FD-559A-9658-8744ED1DB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도구 및 산출물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CD324FB7-4793-6856-A8DC-82610753B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2437" y="877420"/>
            <a:ext cx="8229600" cy="5019675"/>
          </a:xfrm>
        </p:spPr>
        <p:txBody>
          <a:bodyPr/>
          <a:lstStyle/>
          <a:p>
            <a:r>
              <a:rPr lang="en-US" altLang="ko-KR" dirty="0"/>
              <a:t>GitHub 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  <a:hlinkClick r:id="rId2"/>
              </a:rPr>
              <a:t>https://github.com/</a:t>
            </a:r>
            <a:r>
              <a:rPr lang="en-US" altLang="ko-KR" dirty="0">
                <a:solidFill>
                  <a:srgbClr val="0000FF"/>
                </a:solidFill>
              </a:rPr>
              <a:t>TUK-CE/capstone/2023/???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21508" name="슬라이드 번호 개체 틀 3">
            <a:extLst>
              <a:ext uri="{FF2B5EF4-FFF2-40B4-BE49-F238E27FC236}">
                <a16:creationId xmlns:a16="http://schemas.microsoft.com/office/drawing/2014/main" id="{09B995E7-252D-9016-6AA3-C3E3B5A32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EEB0C8-9AD1-4FD4-9D5A-55BF8A5E0491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1509" name="그림 4">
            <a:extLst>
              <a:ext uri="{FF2B5EF4-FFF2-40B4-BE49-F238E27FC236}">
                <a16:creationId xmlns:a16="http://schemas.microsoft.com/office/drawing/2014/main" id="{5DDAEF34-01D1-71F8-19D5-A4A2BC30E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00213"/>
            <a:ext cx="8296275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2564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3788401-D1FD-4655-83C2-4ED29E55A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도구 및 산출물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EEF3D-B416-FDF9-08F0-6A25F71B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895350"/>
            <a:ext cx="8229600" cy="5249863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 </a:t>
            </a:r>
            <a:r>
              <a:rPr lang="ko-KR" altLang="en-US" dirty="0"/>
              <a:t>개발 예상 결과물</a:t>
            </a:r>
            <a:endParaRPr lang="en-US" altLang="ko-KR" dirty="0"/>
          </a:p>
          <a:p>
            <a:pPr marL="685800" lvl="1">
              <a:buFont typeface="Wingdings" panose="05000000000000000000" pitchFamily="2" charset="2"/>
              <a:buChar char="ü"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  <a:r>
              <a:rPr lang="ko-KR" altLang="en-US" i="1" dirty="0">
                <a:solidFill>
                  <a:srgbClr val="FF0000"/>
                </a:solidFill>
              </a:rPr>
              <a:t>예상되는 최종 결과물</a:t>
            </a:r>
            <a:r>
              <a:rPr lang="en-US" altLang="ko-KR" i="1" dirty="0">
                <a:solidFill>
                  <a:srgbClr val="FF0000"/>
                </a:solidFill>
              </a:rPr>
              <a:t>/</a:t>
            </a:r>
            <a:r>
              <a:rPr lang="ko-KR" altLang="en-US" i="1" dirty="0">
                <a:solidFill>
                  <a:srgbClr val="FF0000"/>
                </a:solidFill>
              </a:rPr>
              <a:t>성과물 형태를 제시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하드웨어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소프트웨어</a:t>
            </a:r>
            <a:r>
              <a:rPr lang="en-US" altLang="ko-KR" i="1" dirty="0">
                <a:solidFill>
                  <a:srgbClr val="FF0000"/>
                </a:solidFill>
              </a:rPr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서버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미들웨어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앱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펌웨어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  <a:r>
              <a:rPr lang="ko-KR" altLang="en-US" i="1" dirty="0">
                <a:solidFill>
                  <a:srgbClr val="FF0000"/>
                </a:solidFill>
              </a:rPr>
              <a:t> 등을 작성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정제된 데이터셋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생성된</a:t>
            </a:r>
            <a:r>
              <a:rPr lang="en-US" altLang="ko-KR" i="1" dirty="0">
                <a:solidFill>
                  <a:srgbClr val="FF0000"/>
                </a:solidFill>
              </a:rPr>
              <a:t>  AI/ML</a:t>
            </a:r>
            <a:r>
              <a:rPr lang="ko-KR" altLang="en-US" i="1" dirty="0">
                <a:solidFill>
                  <a:srgbClr val="FF0000"/>
                </a:solidFill>
              </a:rPr>
              <a:t>모델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/>
            <a:r>
              <a:rPr lang="ko-KR" altLang="en-US" i="1" dirty="0">
                <a:solidFill>
                  <a:srgbClr val="FF0000"/>
                </a:solidFill>
              </a:rPr>
              <a:t>기타</a:t>
            </a:r>
            <a:r>
              <a:rPr lang="en-US" altLang="ko-KR" i="1" dirty="0">
                <a:solidFill>
                  <a:srgbClr val="FF0000"/>
                </a:solidFill>
              </a:rPr>
              <a:t>: </a:t>
            </a:r>
            <a:r>
              <a:rPr lang="ko-KR" altLang="en-US" i="1" dirty="0">
                <a:solidFill>
                  <a:srgbClr val="FF0000"/>
                </a:solidFill>
              </a:rPr>
              <a:t>의미 있다고 생각되는 결과물 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/>
            <a:endParaRPr lang="en-US" altLang="ko-KR" i="1" dirty="0">
              <a:solidFill>
                <a:srgbClr val="FF0000"/>
              </a:solidFill>
            </a:endParaRPr>
          </a:p>
          <a:p>
            <a:r>
              <a:rPr lang="ko-KR" altLang="en-US" i="1" dirty="0">
                <a:solidFill>
                  <a:schemeClr val="tx1"/>
                </a:solidFill>
              </a:rPr>
              <a:t>산출물 활용 계획</a:t>
            </a:r>
            <a:r>
              <a:rPr lang="en-US" altLang="ko-KR" i="1" dirty="0">
                <a:solidFill>
                  <a:schemeClr val="tx1"/>
                </a:solidFill>
              </a:rPr>
              <a:t> (</a:t>
            </a:r>
            <a:r>
              <a:rPr lang="ko-KR" altLang="en-US" i="1" dirty="0">
                <a:solidFill>
                  <a:schemeClr val="tx1"/>
                </a:solidFill>
              </a:rPr>
              <a:t>선택</a:t>
            </a:r>
            <a:r>
              <a:rPr lang="en-US" altLang="ko-KR" i="1" dirty="0">
                <a:solidFill>
                  <a:schemeClr val="tx1"/>
                </a:solidFill>
              </a:rPr>
              <a:t>) </a:t>
            </a:r>
          </a:p>
          <a:p>
            <a:pPr lvl="1"/>
            <a:r>
              <a:rPr lang="ko-KR" altLang="en-US" i="1" dirty="0">
                <a:solidFill>
                  <a:srgbClr val="FF0000"/>
                </a:solidFill>
              </a:rPr>
              <a:t>논문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특허</a:t>
            </a:r>
            <a:r>
              <a:rPr lang="en-US" altLang="ko-KR" i="1" dirty="0">
                <a:solidFill>
                  <a:srgbClr val="FF0000"/>
                </a:solidFill>
              </a:rPr>
              <a:t>, </a:t>
            </a:r>
            <a:r>
              <a:rPr lang="ko-KR" altLang="en-US" i="1" dirty="0">
                <a:solidFill>
                  <a:srgbClr val="FF0000"/>
                </a:solidFill>
              </a:rPr>
              <a:t>기술이전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/>
            <a:r>
              <a:rPr lang="ko-KR" altLang="en-US" i="1" dirty="0">
                <a:solidFill>
                  <a:srgbClr val="FF0000"/>
                </a:solidFill>
              </a:rPr>
              <a:t>외부경진대회</a:t>
            </a:r>
            <a:r>
              <a:rPr lang="en-US" altLang="ko-KR" i="1" dirty="0">
                <a:solidFill>
                  <a:srgbClr val="FF0000"/>
                </a:solidFill>
              </a:rPr>
              <a:t> </a:t>
            </a:r>
            <a:r>
              <a:rPr lang="ko-KR" altLang="en-US" i="1" dirty="0">
                <a:solidFill>
                  <a:srgbClr val="FF0000"/>
                </a:solidFill>
              </a:rPr>
              <a:t>출품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/>
            <a:r>
              <a:rPr lang="ko-KR" altLang="en-US" i="1" dirty="0">
                <a:solidFill>
                  <a:srgbClr val="FF0000"/>
                </a:solidFill>
              </a:rPr>
              <a:t>창업 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/>
            <a:r>
              <a:rPr lang="ko-KR" altLang="en-US" i="1" dirty="0">
                <a:solidFill>
                  <a:srgbClr val="FF0000"/>
                </a:solidFill>
              </a:rPr>
              <a:t>기타 등등 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/>
            <a:endParaRPr lang="en-US" altLang="ko-KR" i="1" dirty="0">
              <a:solidFill>
                <a:srgbClr val="FF0000"/>
              </a:solidFill>
            </a:endParaRPr>
          </a:p>
          <a:p>
            <a:pPr lvl="2"/>
            <a:endParaRPr lang="ko-KR" altLang="en-US" i="1" dirty="0">
              <a:solidFill>
                <a:srgbClr val="FF0000"/>
              </a:solidFill>
            </a:endParaRPr>
          </a:p>
          <a:p>
            <a:pPr lvl="1">
              <a:defRPr/>
            </a:pPr>
            <a:endParaRPr lang="en-US" altLang="ko-KR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ko-KR" altLang="en-US" dirty="0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69BF7EAC-A798-6CE0-8AC3-D65FFB0A6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6DD834-B27C-4F74-A641-E3051AC5544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671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2AB9F043-D31F-47A8-73BF-0E1777F1E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업무 분담</a:t>
            </a:r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E279144B-5A91-BE4D-7841-198777D8F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r>
              <a:rPr lang="ko-KR" altLang="en-US" dirty="0"/>
              <a:t>팀원 별로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WPserif"/>
              </a:rPr>
              <a:t>팀원들이 각각 어떤 역할을 수행할 계획인지를 구체적으로 작성한다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WPserif"/>
              </a:rPr>
              <a:t>.</a:t>
            </a:r>
            <a:endParaRPr lang="en-US" altLang="ko-KR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	(</a:t>
            </a:r>
            <a:r>
              <a:rPr lang="ko-KR" altLang="en-US" dirty="0"/>
              <a:t>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4" name="Group 37">
            <a:extLst>
              <a:ext uri="{FF2B5EF4-FFF2-40B4-BE49-F238E27FC236}">
                <a16:creationId xmlns:a16="http://schemas.microsoft.com/office/drawing/2014/main" id="{E4FF04D1-9DE5-C4E9-5073-1EF707C499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3461086"/>
              </p:ext>
            </p:extLst>
          </p:nvPr>
        </p:nvGraphicFramePr>
        <p:xfrm>
          <a:off x="1403648" y="2132856"/>
          <a:ext cx="6950075" cy="3948113"/>
        </p:xfrm>
        <a:graphic>
          <a:graphicData uri="http://schemas.openxmlformats.org/drawingml/2006/table">
            <a:tbl>
              <a:tblPr/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0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_1 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_2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팀원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_3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이름</a:t>
                      </a:r>
                    </a:p>
                  </a:txBody>
                  <a:tcPr marL="94282" marR="94282" marT="49019" marB="4901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1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자료수집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UPnP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규약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OSGi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규약  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신호 규약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신호변경 알고리즘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데이터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전기신호 범위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149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설      계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신호변화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-&gt; 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전기신호로 변환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Interface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884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구      현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 입력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환경 설정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X10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연결 </a:t>
                      </a:r>
                      <a:r>
                        <a:rPr kumimoji="1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매커니즘</a:t>
                      </a:r>
                      <a:endParaRPr kumimoji="1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아날로그 신호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-&gt;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전기신호로 변환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전기신호 범위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할당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VoiceWare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디지털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신호화 구현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Interface </a:t>
                      </a: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매커니즘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882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테스트</a:t>
                      </a:r>
                    </a:p>
                  </a:txBody>
                  <a:tcPr marL="94282" marR="94282" marT="49019" marB="4901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장비 작동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 테스트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원격 작동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제어 테스트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Char char="v"/>
                        <a:tabLst/>
                      </a:pP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통합테스트 </a:t>
                      </a:r>
                      <a:r>
                        <a:rPr kumimoji="1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/ </a:t>
                      </a:r>
                      <a:r>
                        <a:rPr kumimoji="1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유지보수</a:t>
                      </a:r>
                    </a:p>
                  </a:txBody>
                  <a:tcPr marL="94282" marR="94282" marT="49019" marB="4901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490" name="슬라이드 번호 개체 틀 4">
            <a:extLst>
              <a:ext uri="{FF2B5EF4-FFF2-40B4-BE49-F238E27FC236}">
                <a16:creationId xmlns:a16="http://schemas.microsoft.com/office/drawing/2014/main" id="{D1EA3765-E3A4-07BB-2C95-690EA4107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3E404C-0FCF-434C-9A41-4E08033E5494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86092C5B-97F4-F4F2-511D-FE58B5BF8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캡스톤디자인</a:t>
            </a:r>
            <a:r>
              <a:rPr lang="ko-KR" altLang="en-US" dirty="0"/>
              <a:t> 수행일정</a:t>
            </a:r>
          </a:p>
        </p:txBody>
      </p:sp>
      <p:sp>
        <p:nvSpPr>
          <p:cNvPr id="20485" name="슬라이드 번호 개체 틀 4">
            <a:extLst>
              <a:ext uri="{FF2B5EF4-FFF2-40B4-BE49-F238E27FC236}">
                <a16:creationId xmlns:a16="http://schemas.microsoft.com/office/drawing/2014/main" id="{4321D6EB-20DA-9447-9D6D-8EBD2BCE3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023F69-5D2F-421F-BC3D-A3D8D0DA4EB3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C091350-AB3B-EC48-97B2-BE466DB6F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80395"/>
              </p:ext>
            </p:extLst>
          </p:nvPr>
        </p:nvGraphicFramePr>
        <p:xfrm>
          <a:off x="695325" y="1693939"/>
          <a:ext cx="8008321" cy="4801428"/>
        </p:xfrm>
        <a:graphic>
          <a:graphicData uri="http://schemas.openxmlformats.org/drawingml/2006/table">
            <a:tbl>
              <a:tblPr/>
              <a:tblGrid>
                <a:gridCol w="691795">
                  <a:extLst>
                    <a:ext uri="{9D8B030D-6E8A-4147-A177-3AD203B41FA5}">
                      <a16:colId xmlns:a16="http://schemas.microsoft.com/office/drawing/2014/main" val="1406002434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626326835"/>
                    </a:ext>
                  </a:extLst>
                </a:gridCol>
                <a:gridCol w="490896">
                  <a:extLst>
                    <a:ext uri="{9D8B030D-6E8A-4147-A177-3AD203B41FA5}">
                      <a16:colId xmlns:a16="http://schemas.microsoft.com/office/drawing/2014/main" val="3063156856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2112101089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676767415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3480642625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2937524118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2194971894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2401372792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517571210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3827002081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3488773034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2292496243"/>
                    </a:ext>
                  </a:extLst>
                </a:gridCol>
                <a:gridCol w="346880">
                  <a:extLst>
                    <a:ext uri="{9D8B030D-6E8A-4147-A177-3AD203B41FA5}">
                      <a16:colId xmlns:a16="http://schemas.microsoft.com/office/drawing/2014/main" val="1748423234"/>
                    </a:ext>
                  </a:extLst>
                </a:gridCol>
                <a:gridCol w="1281758">
                  <a:extLst>
                    <a:ext uri="{9D8B030D-6E8A-4147-A177-3AD203B41FA5}">
                      <a16:colId xmlns:a16="http://schemas.microsoft.com/office/drawing/2014/main" val="762984771"/>
                    </a:ext>
                  </a:extLst>
                </a:gridCol>
              </a:tblGrid>
              <a:tr h="1187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dirty="0">
                          <a:effectLst/>
                        </a:rPr>
                        <a:t>항 목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dirty="0">
                          <a:effectLst/>
                        </a:rPr>
                        <a:t>추진 사항 </a:t>
                      </a:r>
                      <a:r>
                        <a:rPr lang="en-US" altLang="ko-KR" sz="800" b="1" dirty="0">
                          <a:effectLst/>
                        </a:rPr>
                        <a:t>(</a:t>
                      </a:r>
                      <a:r>
                        <a:rPr lang="ko-KR" altLang="en-US" sz="800" b="1" dirty="0">
                          <a:effectLst/>
                        </a:rPr>
                        <a:t>담당</a:t>
                      </a:r>
                      <a:r>
                        <a:rPr lang="en-US" altLang="ko-KR" sz="800" b="1" dirty="0">
                          <a:effectLst/>
                        </a:rPr>
                        <a:t>)</a:t>
                      </a:r>
                      <a:endParaRPr lang="ko-KR" altLang="en-US" sz="800" b="1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~11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12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01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02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>
                          <a:effectLst/>
                        </a:rPr>
                        <a:t>03</a:t>
                      </a:r>
                      <a:r>
                        <a:rPr lang="ko-KR" altLang="en-US" sz="800" b="1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>
                          <a:effectLst/>
                        </a:rPr>
                        <a:t>04</a:t>
                      </a:r>
                      <a:r>
                        <a:rPr lang="ko-KR" altLang="en-US" sz="800" b="1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>
                          <a:effectLst/>
                        </a:rPr>
                        <a:t>05</a:t>
                      </a:r>
                      <a:r>
                        <a:rPr lang="ko-KR" altLang="en-US" sz="800" b="1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>
                          <a:effectLst/>
                        </a:rPr>
                        <a:t>06</a:t>
                      </a:r>
                      <a:r>
                        <a:rPr lang="ko-KR" altLang="en-US" sz="800" b="1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>
                          <a:effectLst/>
                        </a:rPr>
                        <a:t>07</a:t>
                      </a:r>
                      <a:r>
                        <a:rPr lang="ko-KR" altLang="en-US" sz="800" b="1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08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09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800" b="1" dirty="0">
                          <a:effectLst/>
                        </a:rPr>
                        <a:t>10</a:t>
                      </a:r>
                      <a:r>
                        <a:rPr lang="ko-KR" altLang="en-US" sz="800" b="1" dirty="0">
                          <a:effectLst/>
                        </a:rPr>
                        <a:t>월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800" b="1" dirty="0">
                          <a:effectLst/>
                        </a:rPr>
                        <a:t>진도 및 주요 잔여사항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043945"/>
                  </a:ext>
                </a:extLst>
              </a:tr>
              <a:tr h="147295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요구사항 정의 및 분석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</a:t>
                      </a:r>
                      <a:r>
                        <a:rPr lang="ko-KR" altLang="en-US" sz="800" dirty="0">
                          <a:effectLst/>
                        </a:rPr>
                        <a:t>팀 구성 및 주제 선정 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 </a:t>
                      </a:r>
                      <a:r>
                        <a:rPr lang="ko-KR" altLang="en-US" sz="800" dirty="0">
                          <a:effectLst/>
                        </a:rPr>
                        <a:t>요구사항 명세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홍길동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계획기간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altLang="ko-KR" sz="800" dirty="0">
                          <a:effectLst/>
                        </a:rPr>
                        <a:t>100%</a:t>
                      </a: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altLang="ko-KR" sz="800" dirty="0">
                          <a:effectLst/>
                        </a:rPr>
                        <a:t>80%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- </a:t>
                      </a:r>
                      <a:r>
                        <a:rPr lang="ko-KR" altLang="en-US" sz="800" dirty="0">
                          <a:effectLst/>
                        </a:rPr>
                        <a:t>잔여사항 서술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8624"/>
                  </a:ext>
                </a:extLst>
              </a:tr>
              <a:tr h="1708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실제 수행기간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676631"/>
                  </a:ext>
                </a:extLst>
              </a:tr>
              <a:tr h="118789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시스템설계 및 상세설계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 </a:t>
                      </a:r>
                      <a:r>
                        <a:rPr lang="ko-KR" altLang="en-US" sz="800" dirty="0">
                          <a:effectLst/>
                        </a:rPr>
                        <a:t>개념적 설계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</a:t>
                      </a:r>
                      <a:r>
                        <a:rPr lang="ko-KR" altLang="en-US" sz="800" dirty="0">
                          <a:effectLst/>
                        </a:rPr>
                        <a:t>상세 설계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altLang="ko-KR" sz="800" dirty="0">
                          <a:effectLst/>
                        </a:rPr>
                        <a:t>80%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- </a:t>
                      </a:r>
                      <a:r>
                        <a:rPr lang="ko-KR" altLang="en-US" sz="800" dirty="0">
                          <a:effectLst/>
                        </a:rPr>
                        <a:t>잔여사항 서술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2. 60%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- </a:t>
                      </a:r>
                      <a:r>
                        <a:rPr lang="ko-KR" altLang="en-US" sz="800" dirty="0">
                          <a:effectLst/>
                        </a:rPr>
                        <a:t>잔여사항 서술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34620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084089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712298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020848"/>
                  </a:ext>
                </a:extLst>
              </a:tr>
              <a:tr h="118789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ML/AI</a:t>
                      </a:r>
                      <a:r>
                        <a:rPr lang="ko-KR" altLang="en-US" sz="800" dirty="0">
                          <a:effectLst/>
                        </a:rPr>
                        <a:t>모델개발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1.</a:t>
                      </a:r>
                      <a:r>
                        <a:rPr lang="ko-KR" altLang="en-US" sz="800" dirty="0">
                          <a:effectLst/>
                        </a:rPr>
                        <a:t>데이터수집</a:t>
                      </a:r>
                      <a:r>
                        <a:rPr lang="en-US" altLang="ko-KR" sz="800" dirty="0">
                          <a:effectLst/>
                        </a:rPr>
                        <a:t>/</a:t>
                      </a:r>
                      <a:r>
                        <a:rPr lang="ko-KR" altLang="en-US" sz="800" dirty="0">
                          <a:effectLst/>
                        </a:rPr>
                        <a:t>정제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2.</a:t>
                      </a:r>
                      <a:r>
                        <a:rPr lang="ko-KR" altLang="en-US" sz="800" dirty="0">
                          <a:effectLst/>
                        </a:rPr>
                        <a:t>모델개발 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 err="1">
                          <a:effectLst/>
                        </a:rPr>
                        <a:t>혼길순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1. 100%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2. 50%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-  </a:t>
                      </a:r>
                      <a:r>
                        <a:rPr lang="ko-KR" altLang="en-US" sz="800" dirty="0">
                          <a:effectLst/>
                        </a:rPr>
                        <a:t>잔여사항 서술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605683"/>
                  </a:ext>
                </a:extLst>
              </a:tr>
              <a:tr h="1993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519037"/>
                  </a:ext>
                </a:extLst>
              </a:tr>
              <a:tr h="118789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학습 및 구현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ko-KR" altLang="en-US" sz="800" dirty="0" err="1">
                          <a:effectLst/>
                        </a:rPr>
                        <a:t>백엔드</a:t>
                      </a:r>
                      <a:r>
                        <a:rPr lang="ko-KR" altLang="en-US" sz="800" dirty="0">
                          <a:effectLst/>
                        </a:rPr>
                        <a:t> 개발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홍길동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ko-KR" altLang="en-US" sz="800" dirty="0">
                          <a:effectLst/>
                        </a:rPr>
                        <a:t>프론트 개발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이영희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ko-KR" altLang="en-US" sz="800" dirty="0">
                          <a:effectLst/>
                        </a:rPr>
                        <a:t>앱 개발 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김철수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1. 100%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2. 100%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3. 100% </a:t>
                      </a: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842339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80113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314460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28342"/>
                  </a:ext>
                </a:extLst>
              </a:tr>
              <a:tr h="118789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시험 및  </a:t>
                      </a:r>
                      <a:r>
                        <a:rPr lang="ko-KR" altLang="en-US" sz="800" dirty="0" err="1">
                          <a:effectLst/>
                        </a:rPr>
                        <a:t>종합시연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데모</a:t>
                      </a:r>
                      <a:r>
                        <a:rPr lang="en-US" altLang="ko-KR" sz="800" dirty="0">
                          <a:effectLst/>
                        </a:rPr>
                        <a:t>) </a:t>
                      </a:r>
                      <a:r>
                        <a:rPr lang="ko-KR" altLang="en-US" sz="800" dirty="0">
                          <a:effectLst/>
                        </a:rPr>
                        <a:t>준비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 </a:t>
                      </a:r>
                      <a:r>
                        <a:rPr lang="ko-KR" altLang="en-US" sz="800" dirty="0" err="1">
                          <a:effectLst/>
                        </a:rPr>
                        <a:t>유니트</a:t>
                      </a:r>
                      <a:r>
                        <a:rPr lang="ko-KR" altLang="en-US" sz="800" dirty="0">
                          <a:effectLst/>
                        </a:rPr>
                        <a:t> 시험 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홍길동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 </a:t>
                      </a:r>
                      <a:r>
                        <a:rPr lang="ko-KR" altLang="en-US" sz="800" dirty="0">
                          <a:effectLst/>
                        </a:rPr>
                        <a:t>시스템 통합시험 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3.</a:t>
                      </a:r>
                      <a:r>
                        <a:rPr lang="ko-KR" altLang="en-US" sz="800" dirty="0" err="1">
                          <a:effectLst/>
                        </a:rPr>
                        <a:t>종합시연</a:t>
                      </a:r>
                      <a:r>
                        <a:rPr lang="ko-KR" altLang="en-US" sz="800" dirty="0">
                          <a:effectLst/>
                        </a:rPr>
                        <a:t> 준비</a:t>
                      </a:r>
                      <a:endParaRPr lang="en-US" altLang="ko-KR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1.0% 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2.0%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3.0%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90590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643276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86181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407478"/>
                  </a:ext>
                </a:extLst>
              </a:tr>
              <a:tr h="179418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산출물 작성 및 제출  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 </a:t>
                      </a:r>
                      <a:r>
                        <a:rPr lang="ko-KR" altLang="en-US" sz="800" dirty="0">
                          <a:effectLst/>
                        </a:rPr>
                        <a:t>졸업작품 중간 보고서 작성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 - </a:t>
                      </a:r>
                      <a:r>
                        <a:rPr lang="ko-KR" altLang="en-US" sz="800" dirty="0">
                          <a:effectLst/>
                        </a:rPr>
                        <a:t>중간보고서</a:t>
                      </a:r>
                      <a:r>
                        <a:rPr lang="en-US" altLang="ko-KR" sz="800" dirty="0">
                          <a:effectLst/>
                        </a:rPr>
                        <a:t>,  (</a:t>
                      </a:r>
                      <a:r>
                        <a:rPr lang="ko-KR" altLang="en-US" sz="800" dirty="0">
                          <a:effectLst/>
                        </a:rPr>
                        <a:t>이영희</a:t>
                      </a:r>
                      <a:r>
                        <a:rPr lang="en-US" altLang="ko-KR" sz="800" dirty="0">
                          <a:effectLst/>
                        </a:rPr>
                        <a:t>)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 - </a:t>
                      </a:r>
                      <a:r>
                        <a:rPr lang="ko-KR" altLang="en-US" sz="800" dirty="0">
                          <a:effectLst/>
                        </a:rPr>
                        <a:t>사용자 매뉴얼 작성</a:t>
                      </a:r>
                      <a:r>
                        <a:rPr lang="en-US" altLang="ko-KR" sz="800" dirty="0">
                          <a:effectLst/>
                        </a:rPr>
                        <a:t>  (</a:t>
                      </a:r>
                      <a:r>
                        <a:rPr lang="ko-KR" altLang="en-US" sz="800" dirty="0" err="1">
                          <a:effectLst/>
                        </a:rPr>
                        <a:t>홍길순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 </a:t>
                      </a:r>
                      <a:r>
                        <a:rPr lang="ko-KR" altLang="en-US" sz="800" dirty="0">
                          <a:effectLst/>
                        </a:rPr>
                        <a:t>논문작성 및 학회</a:t>
                      </a:r>
                      <a:r>
                        <a:rPr lang="en-US" altLang="ko-KR" sz="800" dirty="0">
                          <a:effectLst/>
                        </a:rPr>
                        <a:t>/</a:t>
                      </a:r>
                      <a:r>
                        <a:rPr lang="ko-KR" altLang="en-US" sz="800" dirty="0">
                          <a:effectLst/>
                        </a:rPr>
                        <a:t>저널 제출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4. </a:t>
                      </a:r>
                      <a:r>
                        <a:rPr lang="ko-KR" altLang="en-US" sz="800" dirty="0">
                          <a:effectLst/>
                        </a:rPr>
                        <a:t>기타</a:t>
                      </a:r>
                      <a:r>
                        <a:rPr lang="en-US" altLang="ko-KR" sz="800" dirty="0">
                          <a:effectLst/>
                        </a:rPr>
                        <a:t>: </a:t>
                      </a:r>
                      <a:r>
                        <a:rPr lang="ko-KR" altLang="en-US" sz="800" dirty="0">
                          <a:effectLst/>
                        </a:rPr>
                        <a:t>특허출원</a:t>
                      </a:r>
                      <a:r>
                        <a:rPr lang="en-US" altLang="ko-KR" sz="800" dirty="0">
                          <a:effectLst/>
                        </a:rPr>
                        <a:t> </a:t>
                      </a:r>
                      <a:r>
                        <a:rPr lang="ko-KR" altLang="en-US" sz="800" dirty="0">
                          <a:effectLst/>
                        </a:rPr>
                        <a:t>등</a:t>
                      </a:r>
                      <a:endParaRPr lang="en-US" altLang="ko-KR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1.0% 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2.0%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3.0%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4.0%</a:t>
                      </a: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266983"/>
                  </a:ext>
                </a:extLst>
              </a:tr>
              <a:tr h="179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40001"/>
                  </a:ext>
                </a:extLst>
              </a:tr>
              <a:tr h="179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702401"/>
                  </a:ext>
                </a:extLst>
              </a:tr>
              <a:tr h="1794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401568"/>
                  </a:ext>
                </a:extLst>
              </a:tr>
              <a:tr h="118789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공학대전 등 행사참가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ko-KR" altLang="en-US" sz="800" dirty="0">
                          <a:effectLst/>
                        </a:rPr>
                        <a:t>공학대전 준비</a:t>
                      </a:r>
                      <a:endParaRPr lang="en-US" altLang="ko-KR" sz="800" dirty="0">
                        <a:effectLst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 - </a:t>
                      </a:r>
                      <a:r>
                        <a:rPr lang="ko-KR" altLang="en-US" sz="800" dirty="0">
                          <a:effectLst/>
                        </a:rPr>
                        <a:t>동영상 제작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홍길동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 - </a:t>
                      </a:r>
                      <a:r>
                        <a:rPr lang="ko-KR" altLang="en-US" sz="800" dirty="0">
                          <a:effectLst/>
                        </a:rPr>
                        <a:t>판넬 제작 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홍길동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effectLst/>
                        </a:rPr>
                        <a:t>2.</a:t>
                      </a:r>
                      <a:r>
                        <a:rPr lang="ko-KR" altLang="en-US" sz="800" dirty="0">
                          <a:effectLst/>
                        </a:rPr>
                        <a:t>기술대전 참가</a:t>
                      </a: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전체</a:t>
                      </a:r>
                      <a:r>
                        <a:rPr lang="en-US" altLang="ko-KR" sz="800" dirty="0">
                          <a:effectLst/>
                        </a:rPr>
                        <a:t>)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3. </a:t>
                      </a:r>
                      <a:r>
                        <a:rPr lang="ko-KR" altLang="en-US" sz="800" dirty="0">
                          <a:effectLst/>
                        </a:rPr>
                        <a:t>경진대회</a:t>
                      </a:r>
                      <a:r>
                        <a:rPr lang="en-US" altLang="ko-KR" sz="800" dirty="0">
                          <a:effectLst/>
                        </a:rPr>
                        <a:t>/</a:t>
                      </a:r>
                      <a:r>
                        <a:rPr lang="ko-KR" altLang="en-US" sz="800" dirty="0">
                          <a:effectLst/>
                        </a:rPr>
                        <a:t>전시회</a:t>
                      </a:r>
                      <a:r>
                        <a:rPr lang="en-US" altLang="ko-KR" sz="800" dirty="0">
                          <a:effectLst/>
                        </a:rPr>
                        <a:t>/</a:t>
                      </a:r>
                      <a:r>
                        <a:rPr lang="ko-KR" altLang="en-US" sz="800" dirty="0" err="1">
                          <a:effectLst/>
                        </a:rPr>
                        <a:t>캡스톤</a:t>
                      </a:r>
                      <a:r>
                        <a:rPr lang="ko-KR" altLang="en-US" sz="800" dirty="0">
                          <a:effectLst/>
                        </a:rPr>
                        <a:t> 등  참가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(</a:t>
                      </a:r>
                      <a:r>
                        <a:rPr lang="ko-KR" altLang="en-US" sz="800" dirty="0">
                          <a:effectLst/>
                        </a:rPr>
                        <a:t>개발결과를 활용한 참가</a:t>
                      </a:r>
                      <a:r>
                        <a:rPr lang="en-US" altLang="ko-KR" sz="800" dirty="0">
                          <a:effectLst/>
                        </a:rPr>
                        <a:t>)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1.0% 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2.0%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185131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589843"/>
                  </a:ext>
                </a:extLst>
              </a:tr>
              <a:tr h="1187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814826"/>
                  </a:ext>
                </a:extLst>
              </a:tr>
              <a:tr h="2607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756310"/>
                  </a:ext>
                </a:extLst>
              </a:tr>
              <a:tr h="165315"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800" dirty="0">
                          <a:effectLst/>
                        </a:rPr>
                        <a:t>졸업작품 최종 보고서 작성 및 최종산출물 제출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</a:t>
                      </a:r>
                      <a:r>
                        <a:rPr lang="ko-KR" altLang="en-US" sz="800" dirty="0">
                          <a:effectLst/>
                        </a:rPr>
                        <a:t>졸업작품 최종보고서 작성 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2.</a:t>
                      </a:r>
                      <a:r>
                        <a:rPr lang="ko-KR" altLang="en-US" sz="800" dirty="0">
                          <a:effectLst/>
                        </a:rPr>
                        <a:t>최종 산출물 제출</a:t>
                      </a:r>
                      <a:br>
                        <a:rPr lang="en-US" altLang="ko-KR" sz="800" dirty="0">
                          <a:effectLst/>
                        </a:rPr>
                      </a:br>
                      <a:r>
                        <a:rPr lang="en-US" altLang="ko-KR" sz="800" dirty="0">
                          <a:effectLst/>
                        </a:rPr>
                        <a:t>- </a:t>
                      </a:r>
                      <a:r>
                        <a:rPr lang="ko-KR" altLang="en-US" sz="800" dirty="0">
                          <a:effectLst/>
                        </a:rPr>
                        <a:t>문서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사용법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프로그램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개발환경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데모 동영상 등</a:t>
                      </a:r>
                      <a:endParaRPr lang="en-US" altLang="ko-KR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1.0%  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800" dirty="0">
                          <a:effectLst/>
                        </a:rPr>
                        <a:t>2.0%</a:t>
                      </a: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92561"/>
                  </a:ext>
                </a:extLst>
              </a:tr>
              <a:tr h="165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961042"/>
                  </a:ext>
                </a:extLst>
              </a:tr>
              <a:tr h="165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206765"/>
                  </a:ext>
                </a:extLst>
              </a:tr>
              <a:tr h="1653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11703" marR="11703" marT="11703" marB="117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502301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B652AA70-F236-0F96-3123-3558674B0E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3905" y="769470"/>
            <a:ext cx="8398073" cy="1008112"/>
          </a:xfrm>
        </p:spPr>
        <p:txBody>
          <a:bodyPr/>
          <a:lstStyle/>
          <a:p>
            <a:r>
              <a:rPr lang="en-US" altLang="ko-KR" sz="1200" dirty="0">
                <a:solidFill>
                  <a:srgbClr val="FF0000"/>
                </a:solidFill>
              </a:rPr>
              <a:t>[</a:t>
            </a:r>
            <a:r>
              <a:rPr lang="ko-KR" altLang="en-US" sz="1200" dirty="0">
                <a:solidFill>
                  <a:srgbClr val="FF0000"/>
                </a:solidFill>
              </a:rPr>
              <a:t>가이드</a:t>
            </a:r>
            <a:r>
              <a:rPr lang="en-US" altLang="ko-KR" sz="1200" dirty="0">
                <a:solidFill>
                  <a:srgbClr val="FF0000"/>
                </a:solidFill>
              </a:rPr>
              <a:t>] </a:t>
            </a:r>
            <a:r>
              <a:rPr lang="ko-KR" altLang="en-US" sz="1200" dirty="0">
                <a:solidFill>
                  <a:srgbClr val="FF0000"/>
                </a:solidFill>
              </a:rPr>
              <a:t>개발 일정을 구체적으로 제시하고 월별로 작성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lvl="1"/>
            <a:r>
              <a:rPr lang="ko-KR" altLang="en-US" sz="1100" dirty="0">
                <a:solidFill>
                  <a:srgbClr val="FF0000"/>
                </a:solidFill>
              </a:rPr>
              <a:t>설계 내용과 일치하게 작성하고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담당 팀원이름도 명시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1"/>
            <a:r>
              <a:rPr lang="ko-KR" altLang="en-US" sz="1100" dirty="0">
                <a:solidFill>
                  <a:srgbClr val="FF0000"/>
                </a:solidFill>
              </a:rPr>
              <a:t>발표 시점 기준</a:t>
            </a:r>
            <a:r>
              <a:rPr lang="en-US" altLang="ko-KR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>
                <a:solidFill>
                  <a:srgbClr val="FF0000"/>
                </a:solidFill>
              </a:rPr>
              <a:t>진행율과 주여 잔여사항 기술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[</a:t>
            </a:r>
            <a:r>
              <a:rPr lang="ko-KR" altLang="en-US" sz="1200" dirty="0">
                <a:solidFill>
                  <a:srgbClr val="FF0000"/>
                </a:solidFill>
              </a:rPr>
              <a:t>예시</a:t>
            </a:r>
            <a:r>
              <a:rPr lang="en-US" altLang="ko-KR" sz="1200" dirty="0">
                <a:solidFill>
                  <a:srgbClr val="FF0000"/>
                </a:solidFill>
              </a:rPr>
              <a:t>] </a:t>
            </a:r>
            <a:r>
              <a:rPr lang="ko-KR" altLang="en-US" sz="1200" dirty="0" err="1">
                <a:solidFill>
                  <a:srgbClr val="FF0000"/>
                </a:solidFill>
              </a:rPr>
              <a:t>각팀의</a:t>
            </a:r>
            <a:r>
              <a:rPr lang="ko-KR" altLang="en-US" sz="1200" dirty="0">
                <a:solidFill>
                  <a:srgbClr val="FF0000"/>
                </a:solidFill>
              </a:rPr>
              <a:t> 상황에 맞게 변형하여 계획하기 바람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91C206C3-3E4C-8FE6-DB4D-514CF72C4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문헌</a:t>
            </a:r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4A2E4356-DF66-E1FC-1595-A5778992C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5473" y="1187417"/>
            <a:ext cx="8229600" cy="2288282"/>
          </a:xfrm>
        </p:spPr>
        <p:txBody>
          <a:bodyPr/>
          <a:lstStyle/>
          <a:p>
            <a:r>
              <a:rPr lang="ko-KR" altLang="en-US" dirty="0"/>
              <a:t>보고서 작성 및 작품 개발시에 참조한 논문</a:t>
            </a:r>
            <a:r>
              <a:rPr lang="en-US" altLang="ko-KR" dirty="0"/>
              <a:t>, </a:t>
            </a:r>
            <a:r>
              <a:rPr lang="ko-KR" altLang="en-US" dirty="0"/>
              <a:t>서적 및 인터넷 사이트를 아래 형식에 맞추어 작성</a:t>
            </a:r>
            <a:endParaRPr lang="en-US" altLang="ko-KR" dirty="0"/>
          </a:p>
          <a:p>
            <a:pPr marL="361950" indent="-361950">
              <a:buNone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HWPserif"/>
              </a:rPr>
              <a:t>     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- 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 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web 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페이지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논문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단행본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HWPserif"/>
              </a:rPr>
              <a:t>, </a:t>
            </a:r>
            <a:r>
              <a:rPr lang="ko-KR" altLang="en-US" sz="1600" b="0" i="0" dirty="0">
                <a:solidFill>
                  <a:srgbClr val="000000"/>
                </a:solidFill>
                <a:effectLst/>
                <a:latin typeface="HWPserif"/>
              </a:rPr>
              <a:t>특허 등 다양하고 본문의 해당되는 부분에 참고문헌 번호를 넣어서 본문의 해당 부분을 작성하는데 참고한 문서가 참고문헌 몇 번인지를 알 수 있도록 한다</a:t>
            </a:r>
            <a:endParaRPr lang="en-US" altLang="ko-KR" sz="1600" b="0" i="0" dirty="0">
              <a:solidFill>
                <a:srgbClr val="000000"/>
              </a:solidFill>
              <a:effectLst/>
              <a:latin typeface="HWPserif"/>
            </a:endParaRPr>
          </a:p>
          <a:p>
            <a:pPr marL="361950" indent="-361950">
              <a:buNone/>
            </a:pPr>
            <a:r>
              <a:rPr lang="en-US" altLang="ko-KR" sz="1600" b="0" dirty="0">
                <a:solidFill>
                  <a:srgbClr val="000000"/>
                </a:solidFill>
                <a:latin typeface="HWPserif"/>
              </a:rPr>
              <a:t>   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2533" name="슬라이드 번호 개체 틀 4">
            <a:extLst>
              <a:ext uri="{FF2B5EF4-FFF2-40B4-BE49-F238E27FC236}">
                <a16:creationId xmlns:a16="http://schemas.microsoft.com/office/drawing/2014/main" id="{C87ED17C-563D-C8DE-8D76-DE443154C4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AEEAC1-8524-459C-B62B-B74A411CE930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2B1A8-6785-E9FF-E8DE-127827E08964}"/>
              </a:ext>
            </a:extLst>
          </p:cNvPr>
          <p:cNvSpPr txBox="1"/>
          <p:nvPr/>
        </p:nvSpPr>
        <p:spPr>
          <a:xfrm>
            <a:off x="548927" y="2996952"/>
            <a:ext cx="7744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38375" indent="-2238375"/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논문을 참조한 경우 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 저자명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논문 제목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,” 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논문지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게재된 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논문지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 권수와 호수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논문 페이지번호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게재년도의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 순서로 기술</a:t>
            </a:r>
            <a:endParaRPr lang="ko-KR" altLang="en-US" b="1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CA5EEE-0DB0-C1D1-C394-821F4D88E514}"/>
              </a:ext>
            </a:extLst>
          </p:cNvPr>
          <p:cNvSpPr txBox="1"/>
          <p:nvPr/>
        </p:nvSpPr>
        <p:spPr>
          <a:xfrm>
            <a:off x="1164429" y="3630377"/>
            <a:ext cx="7344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졸업작품 개선 방안에 관한 연구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,” </a:t>
            </a:r>
            <a:r>
              <a:rPr lang="ko-KR" altLang="en-US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한국공학대논문지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, 13(8), pp. </a:t>
            </a:r>
            <a:r>
              <a:rPr lang="en-US" altLang="ko-KR" i="1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1561- 1570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, 2022.08.</a:t>
            </a:r>
            <a:endParaRPr lang="ko-KR" altLang="en-US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56A1AE-6428-77CD-0317-124D8495AFEE}"/>
              </a:ext>
            </a:extLst>
          </p:cNvPr>
          <p:cNvSpPr txBox="1"/>
          <p:nvPr/>
        </p:nvSpPr>
        <p:spPr>
          <a:xfrm>
            <a:off x="548927" y="4204114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81300" indent="-2781300"/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단행본</a:t>
            </a:r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책</a:t>
            </a:r>
            <a:r>
              <a:rPr lang="en-US" altLang="ko-KR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b="1" i="1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을 참조한 경우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 저자명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단행본 제목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출판사 명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출판지역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b="1" i="1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출판년도의</a:t>
            </a:r>
            <a:r>
              <a:rPr lang="ko-KR" altLang="en-US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 순서로 기술</a:t>
            </a:r>
            <a:r>
              <a:rPr lang="en-US" altLang="ko-KR" b="1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3F1F5-6F34-F089-CB90-0680591AE543}"/>
              </a:ext>
            </a:extLst>
          </p:cNvPr>
          <p:cNvSpPr txBox="1"/>
          <p:nvPr/>
        </p:nvSpPr>
        <p:spPr>
          <a:xfrm>
            <a:off x="2573285" y="4774290"/>
            <a:ext cx="61911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i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, “ C 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”, 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한국공학대출판사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</a:t>
            </a:r>
            <a:r>
              <a:rPr lang="ko-KR" altLang="en-US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경기</a:t>
            </a:r>
            <a:r>
              <a:rPr lang="en-US" altLang="ko-KR" i="1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, 2022.</a:t>
            </a:r>
            <a:endParaRPr lang="ko-KR" altLang="en-US" i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AFB66-52DE-BA7D-25C4-0AC100382425}"/>
              </a:ext>
            </a:extLst>
          </p:cNvPr>
          <p:cNvSpPr txBox="1"/>
          <p:nvPr/>
        </p:nvSpPr>
        <p:spPr>
          <a:xfrm>
            <a:off x="491602" y="5095553"/>
            <a:ext cx="8178861" cy="122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00325" marR="0" indent="-2600325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kern="0" spc="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i="1" kern="0" spc="0" dirty="0">
                <a:solidFill>
                  <a:srgbClr val="C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웹사이트를 참조한 경우 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저자명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전체 웹정보원 제목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또는 해당 웹페이지 제목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게시물 작성일 또는 가장 최근에 수정된 날짜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기관명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참고문헌으로 이용한 날짜</a:t>
            </a:r>
            <a:r>
              <a:rPr lang="en-US" altLang="ko-KR" sz="1600" b="1" i="1" kern="0" spc="0" dirty="0">
                <a:solidFill>
                  <a:schemeClr val="tx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&lt;URL&gt;.</a:t>
            </a:r>
            <a:endParaRPr lang="ko-KR" altLang="en-US" sz="1600" b="1" i="1" kern="0" spc="0" dirty="0">
              <a:solidFill>
                <a:schemeClr val="tx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C3BBE14B-DA86-CD1E-EC84-46757EAE9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13858"/>
            <a:ext cx="6046440" cy="563562"/>
          </a:xfrm>
        </p:spPr>
        <p:txBody>
          <a:bodyPr/>
          <a:lstStyle/>
          <a:p>
            <a:r>
              <a:rPr lang="en-US" altLang="ko-KR" dirty="0"/>
              <a:t>Appendix. A </a:t>
            </a:r>
            <a:r>
              <a:rPr lang="ko-KR" altLang="en-US" dirty="0"/>
              <a:t>지적사항 및 반영사항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3B38F4D7-3D63-BF81-C3EF-E6751CFD23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063" y="1428751"/>
            <a:ext cx="8229600" cy="3008362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가이드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</a:p>
          <a:p>
            <a:pPr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매번 발표 이후 또는 재심사에서 지적사항이 있을 경우 작성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목차 뒤에 배치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ko-KR" altLang="en-US" dirty="0">
                <a:solidFill>
                  <a:srgbClr val="FF0000"/>
                </a:solidFill>
              </a:rPr>
              <a:t>지적사항 반영사항을 </a:t>
            </a:r>
            <a:r>
              <a:rPr lang="ko-KR" altLang="en-US" dirty="0" err="1">
                <a:solidFill>
                  <a:srgbClr val="FF0000"/>
                </a:solidFill>
              </a:rPr>
              <a:t>개조식</a:t>
            </a:r>
            <a:r>
              <a:rPr lang="ko-KR" altLang="en-US" dirty="0">
                <a:solidFill>
                  <a:srgbClr val="FF0000"/>
                </a:solidFill>
              </a:rPr>
              <a:t> 혹은 표로 작성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59CFC05C-FC7F-8F1D-9FFF-DCCB60D80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A3B469-5DF8-48C9-AAA7-5DA9EBAD86EF}" type="slidenum">
              <a:rPr lang="ko-KR" altLang="en-US" sz="1400" b="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274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FBC53-BA1A-1762-29C1-F05ACEB3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5758408" cy="563562"/>
          </a:xfrm>
        </p:spPr>
        <p:txBody>
          <a:bodyPr/>
          <a:lstStyle/>
          <a:p>
            <a:r>
              <a:rPr lang="en-US" altLang="ko-KR" dirty="0"/>
              <a:t>Appendix. B </a:t>
            </a:r>
            <a:r>
              <a:rPr lang="ko-KR" altLang="en-US" dirty="0"/>
              <a:t>보완자료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B1B6DD-B71C-38E6-ABF6-79603DB41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가이드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지엽적인 내용이나 예상질문의 답변을 위한 보조자료를 작성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951843-1BDE-B3CC-DE55-4A897D93C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950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7DC92-343E-4725-EA6B-FC2B7DF7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Appendix. C </a:t>
            </a:r>
            <a:r>
              <a:rPr lang="ko-KR" altLang="en-US" dirty="0"/>
              <a:t>상세설계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BB2F1-5A8A-BE22-B358-F4CC885A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가이드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상세설계는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차 발표 범위임 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단</a:t>
            </a:r>
            <a:r>
              <a:rPr lang="en-US" altLang="ko-KR" dirty="0">
                <a:solidFill>
                  <a:srgbClr val="FF0000"/>
                </a:solidFill>
              </a:rPr>
              <a:t>, 1</a:t>
            </a:r>
            <a:r>
              <a:rPr lang="ko-KR" altLang="en-US" dirty="0">
                <a:solidFill>
                  <a:srgbClr val="FF0000"/>
                </a:solidFill>
              </a:rPr>
              <a:t>차발표에 준비된 범위까지 포함하여 발표해도 좋음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다음의 내용과 더불어 추가 내용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주요화면 혹은 </a:t>
            </a:r>
            <a:r>
              <a:rPr lang="en-US" altLang="ko-KR" dirty="0">
                <a:solidFill>
                  <a:srgbClr val="FF0000"/>
                </a:solidFill>
              </a:rPr>
              <a:t>UX</a:t>
            </a:r>
            <a:r>
              <a:rPr lang="ko-KR" altLang="en-US" dirty="0">
                <a:solidFill>
                  <a:srgbClr val="FF0000"/>
                </a:solidFill>
              </a:rPr>
              <a:t>설계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핵심 자료구조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데이터베이스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 err="1">
                <a:solidFill>
                  <a:srgbClr val="FF0000"/>
                </a:solidFill>
              </a:rPr>
              <a:t>프토토콜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파일구조 설계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핵심 알고리즘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모델 설계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필요시 선택하여 제시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데모 설계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332845-6543-F82C-2963-172FF3165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8394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E54E5-A496-2C47-2E8A-D189EEEA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6406480" cy="563562"/>
          </a:xfrm>
        </p:spPr>
        <p:txBody>
          <a:bodyPr/>
          <a:lstStyle/>
          <a:p>
            <a:r>
              <a:rPr lang="en-US" altLang="ko-KR" dirty="0"/>
              <a:t>Appendix. C </a:t>
            </a:r>
            <a:r>
              <a:rPr lang="ko-KR" altLang="en-US" dirty="0"/>
              <a:t>상세설계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405A8D-9FAC-9523-C19F-480E3951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r>
              <a:rPr lang="ko-KR" altLang="en-US" dirty="0"/>
              <a:t>주요화면 혹은 </a:t>
            </a:r>
            <a:r>
              <a:rPr lang="en-US" altLang="ko-KR" dirty="0"/>
              <a:t>UX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[</a:t>
            </a:r>
            <a:r>
              <a:rPr lang="ko-KR" altLang="en-US" i="1" dirty="0">
                <a:solidFill>
                  <a:srgbClr val="FF0000"/>
                </a:solidFill>
              </a:rPr>
              <a:t>가이드</a:t>
            </a:r>
            <a:r>
              <a:rPr lang="en-US" altLang="ko-KR" i="1" dirty="0">
                <a:solidFill>
                  <a:srgbClr val="FF0000"/>
                </a:solidFill>
              </a:rPr>
              <a:t>] </a:t>
            </a:r>
          </a:p>
          <a:p>
            <a:pPr lvl="2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HW</a:t>
            </a:r>
            <a:r>
              <a:rPr lang="ko-KR" altLang="en-US" i="1" dirty="0">
                <a:solidFill>
                  <a:srgbClr val="FF0000"/>
                </a:solidFill>
              </a:rPr>
              <a:t>가 없는 팀은 사용자별 주요화면을 그림</a:t>
            </a:r>
            <a:r>
              <a:rPr lang="en-US" altLang="ko-KR" i="1" dirty="0">
                <a:solidFill>
                  <a:srgbClr val="FF0000"/>
                </a:solidFill>
              </a:rPr>
              <a:t>, Figma </a:t>
            </a:r>
            <a:r>
              <a:rPr lang="ko-KR" altLang="en-US" i="1" dirty="0">
                <a:solidFill>
                  <a:srgbClr val="FF0000"/>
                </a:solidFill>
              </a:rPr>
              <a:t>등으로 제시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altLang="ko-KR" i="1" dirty="0">
                <a:solidFill>
                  <a:srgbClr val="FF0000"/>
                </a:solidFill>
              </a:rPr>
              <a:t>HW</a:t>
            </a:r>
            <a:r>
              <a:rPr lang="ko-KR" altLang="en-US" i="1" dirty="0">
                <a:solidFill>
                  <a:srgbClr val="FF0000"/>
                </a:solidFill>
              </a:rPr>
              <a:t>의 경우에는 하드웨어 모듈 구성도</a:t>
            </a:r>
            <a:r>
              <a:rPr lang="en-US" altLang="ko-KR" i="1" dirty="0">
                <a:solidFill>
                  <a:srgbClr val="FF0000"/>
                </a:solidFill>
              </a:rPr>
              <a:t>(</a:t>
            </a:r>
            <a:r>
              <a:rPr lang="ko-KR" altLang="en-US" i="1" dirty="0">
                <a:solidFill>
                  <a:srgbClr val="FF0000"/>
                </a:solidFill>
              </a:rPr>
              <a:t>설계도</a:t>
            </a:r>
            <a:r>
              <a:rPr lang="en-US" altLang="ko-KR" i="1" dirty="0">
                <a:solidFill>
                  <a:srgbClr val="FF0000"/>
                </a:solidFill>
              </a:rPr>
              <a:t>)</a:t>
            </a:r>
            <a:r>
              <a:rPr lang="ko-KR" altLang="en-US" i="1" dirty="0">
                <a:solidFill>
                  <a:srgbClr val="FF0000"/>
                </a:solidFill>
              </a:rPr>
              <a:t>로 제시</a:t>
            </a:r>
            <a:endParaRPr lang="en-US" altLang="ko-KR" i="1" dirty="0">
              <a:solidFill>
                <a:srgbClr val="FF0000"/>
              </a:solidFill>
            </a:endParaRP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50328-C07C-357E-7CB0-6EF537836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3035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907D9-028D-B89B-E989-EFA0C953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6982544" cy="563562"/>
          </a:xfrm>
        </p:spPr>
        <p:txBody>
          <a:bodyPr/>
          <a:lstStyle/>
          <a:p>
            <a:r>
              <a:rPr lang="en-US" altLang="ko-KR" dirty="0"/>
              <a:t>Appendix. C </a:t>
            </a:r>
            <a:r>
              <a:rPr lang="ko-KR" altLang="en-US" dirty="0"/>
              <a:t>상세설계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7F244-037A-D32F-704F-B1931AD2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124744"/>
            <a:ext cx="8229600" cy="4716463"/>
          </a:xfrm>
        </p:spPr>
        <p:txBody>
          <a:bodyPr/>
          <a:lstStyle/>
          <a:p>
            <a:r>
              <a:rPr lang="ko-KR" altLang="en-US" dirty="0"/>
              <a:t>핵심 자료구조</a:t>
            </a:r>
            <a:r>
              <a:rPr lang="en-US" altLang="ko-KR" dirty="0"/>
              <a:t>/</a:t>
            </a:r>
            <a:r>
              <a:rPr lang="ko-KR" altLang="en-US" dirty="0"/>
              <a:t>데이터베이스</a:t>
            </a:r>
            <a:r>
              <a:rPr lang="en-US" altLang="ko-KR" dirty="0"/>
              <a:t>/</a:t>
            </a:r>
            <a:r>
              <a:rPr lang="ko-KR" altLang="en-US" dirty="0" err="1"/>
              <a:t>프토토콜</a:t>
            </a:r>
            <a:r>
              <a:rPr lang="en-US" altLang="ko-KR" dirty="0"/>
              <a:t>/</a:t>
            </a:r>
            <a:r>
              <a:rPr lang="ko-KR" altLang="en-US" dirty="0"/>
              <a:t>파일구조 설계 </a:t>
            </a:r>
            <a:r>
              <a:rPr lang="en-US" altLang="ko-KR" dirty="0"/>
              <a:t>(</a:t>
            </a:r>
            <a:r>
              <a:rPr lang="ko-KR" altLang="en-US" dirty="0"/>
              <a:t>필요시 선택하여 제시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핵심 알고리즘</a:t>
            </a:r>
            <a:r>
              <a:rPr lang="en-US" altLang="ko-KR" dirty="0"/>
              <a:t>/</a:t>
            </a:r>
            <a:r>
              <a:rPr lang="ko-KR" altLang="en-US" dirty="0"/>
              <a:t>모델 설계 </a:t>
            </a:r>
            <a:r>
              <a:rPr lang="en-US" altLang="ko-KR" dirty="0"/>
              <a:t>(</a:t>
            </a:r>
            <a:r>
              <a:rPr lang="ko-KR" altLang="en-US" dirty="0"/>
              <a:t>필요시 선택하여 제시</a:t>
            </a:r>
            <a:r>
              <a:rPr lang="en-US" altLang="ko-KR" dirty="0"/>
              <a:t>) </a:t>
            </a:r>
          </a:p>
          <a:p>
            <a:pPr lvl="1"/>
            <a:r>
              <a:rPr lang="ko-KR" altLang="en-US" dirty="0"/>
              <a:t>알고리즘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수도코드난</a:t>
            </a:r>
            <a:r>
              <a:rPr lang="ko-KR" altLang="en-US" dirty="0"/>
              <a:t> 순서도로 제시</a:t>
            </a:r>
            <a:endParaRPr lang="en-US" altLang="ko-KR" dirty="0"/>
          </a:p>
          <a:p>
            <a:pPr lvl="1"/>
            <a:r>
              <a:rPr lang="en-US" altLang="ko-KR" dirty="0"/>
              <a:t>AI </a:t>
            </a:r>
            <a:r>
              <a:rPr lang="ko-KR" altLang="en-US" dirty="0"/>
              <a:t>모델</a:t>
            </a:r>
            <a:r>
              <a:rPr lang="en-US" altLang="ko-KR" dirty="0"/>
              <a:t>: </a:t>
            </a:r>
          </a:p>
          <a:p>
            <a:pPr lvl="2"/>
            <a:r>
              <a:rPr lang="ko-KR" altLang="en-US" dirty="0"/>
              <a:t>기본모델과 튜닝방법 및 설정 파라미터 등을 제시</a:t>
            </a:r>
            <a:endParaRPr lang="en-US" altLang="ko-KR" dirty="0"/>
          </a:p>
          <a:p>
            <a:pPr lvl="2"/>
            <a:r>
              <a:rPr lang="ko-KR" altLang="en-US" dirty="0"/>
              <a:t>학습데이터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FC6A26-4B3D-CADE-20DF-A43AAF099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6614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E9142-5ECB-F67B-0EAF-2E92540F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13858"/>
            <a:ext cx="6622504" cy="563562"/>
          </a:xfrm>
        </p:spPr>
        <p:txBody>
          <a:bodyPr/>
          <a:lstStyle/>
          <a:p>
            <a:r>
              <a:rPr lang="en-US" altLang="ko-KR" dirty="0"/>
              <a:t>Appendix. C </a:t>
            </a:r>
            <a:r>
              <a:rPr lang="ko-KR" altLang="en-US" dirty="0"/>
              <a:t>상세설계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1BD66-83DF-575B-867B-5DA94E9A8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0768"/>
            <a:ext cx="8229600" cy="4716463"/>
          </a:xfrm>
        </p:spPr>
        <p:txBody>
          <a:bodyPr/>
          <a:lstStyle/>
          <a:p>
            <a:r>
              <a:rPr lang="ko-KR" altLang="en-US" dirty="0"/>
              <a:t>데모 설계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가이드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  <a:r>
              <a:rPr lang="ko-KR" altLang="en-US" dirty="0">
                <a:solidFill>
                  <a:srgbClr val="FF0000"/>
                </a:solidFill>
              </a:rPr>
              <a:t>주제에 따라 </a:t>
            </a:r>
            <a:r>
              <a:rPr lang="en-US" altLang="ko-KR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분 내외로 효과적인 설명이 가능한 설계 필요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주의</a:t>
            </a:r>
            <a:r>
              <a:rPr lang="en-US" altLang="ko-KR" dirty="0">
                <a:solidFill>
                  <a:srgbClr val="FF0000"/>
                </a:solidFill>
              </a:rPr>
              <a:t>) GPS, </a:t>
            </a:r>
            <a:r>
              <a:rPr lang="ko-KR" altLang="en-US" dirty="0">
                <a:solidFill>
                  <a:srgbClr val="FF0000"/>
                </a:solidFill>
              </a:rPr>
              <a:t>주변환경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비전 등을 활용하는 데모의 경우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실습실에서 데모할 수 있는 방법을 제시 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예시</a:t>
            </a:r>
            <a:r>
              <a:rPr lang="en-US" altLang="ko-KR" dirty="0">
                <a:solidFill>
                  <a:srgbClr val="FF0000"/>
                </a:solidFill>
              </a:rPr>
              <a:t>] </a:t>
            </a:r>
          </a:p>
          <a:p>
            <a:pPr lvl="3"/>
            <a:r>
              <a:rPr lang="en-US" altLang="ko-KR" dirty="0">
                <a:solidFill>
                  <a:srgbClr val="FF0000"/>
                </a:solidFill>
              </a:rPr>
              <a:t>(GPS</a:t>
            </a:r>
            <a:r>
              <a:rPr lang="ko-KR" altLang="en-US" dirty="0">
                <a:solidFill>
                  <a:srgbClr val="FF0000"/>
                </a:solidFill>
              </a:rPr>
              <a:t>응용의 경우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폰을 개발자 모드로 변경하고</a:t>
            </a:r>
            <a:r>
              <a:rPr lang="en-US" altLang="ko-KR" dirty="0">
                <a:solidFill>
                  <a:srgbClr val="FF0000"/>
                </a:solidFill>
              </a:rPr>
              <a:t>, GPS </a:t>
            </a:r>
            <a:r>
              <a:rPr lang="ko-KR" altLang="en-US" dirty="0">
                <a:solidFill>
                  <a:srgbClr val="FF0000"/>
                </a:solidFill>
              </a:rPr>
              <a:t>신호를 시뮬레이션 해주는 개발도구 사용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웹서비스의 경우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관리자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사용자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운영자 등 개발 시스템을 활용하는 역할에 따른 연동을 표현하는 데모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비전 </a:t>
            </a:r>
            <a:r>
              <a:rPr lang="en-US" altLang="ko-KR" dirty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응용의 경우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카메라 입력을 재연하기 위해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인쇄물 혹은 모니터 영상을 촬영 </a:t>
            </a:r>
            <a:endParaRPr lang="en-US" altLang="ko-KR" dirty="0">
              <a:solidFill>
                <a:srgbClr val="FF0000"/>
              </a:solidFill>
            </a:endParaRPr>
          </a:p>
          <a:p>
            <a:pPr lvl="3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모바일앱의</a:t>
            </a:r>
            <a:r>
              <a:rPr lang="ko-KR" altLang="en-US" dirty="0">
                <a:solidFill>
                  <a:srgbClr val="FF0000"/>
                </a:solidFill>
              </a:rPr>
              <a:t> 경우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ko-KR" altLang="en-US" dirty="0">
                <a:solidFill>
                  <a:srgbClr val="FF0000"/>
                </a:solidFill>
              </a:rPr>
              <a:t>응용의 일반적인 활용순서에 따른 순서를 그림으로 제시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</a:p>
          <a:p>
            <a:pPr lvl="4"/>
            <a:r>
              <a:rPr lang="en-US" altLang="ko-KR" dirty="0" err="1">
                <a:solidFill>
                  <a:srgbClr val="FF0000"/>
                </a:solidFill>
              </a:rPr>
              <a:t>gmail</a:t>
            </a:r>
            <a:r>
              <a:rPr lang="ko-KR" altLang="en-US" dirty="0">
                <a:solidFill>
                  <a:srgbClr val="FF0000"/>
                </a:solidFill>
              </a:rPr>
              <a:t>연동 회원가입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수학능력테스트퀴즈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회원의 </a:t>
            </a:r>
            <a:r>
              <a:rPr lang="ko-KR" alt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강약점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분석결과도출 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학습순서 및 일정 제시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C6C426-44A2-C549-DBB3-7EC3FA477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637B0C-BD7B-4364-B58A-678B11C36CF9}" type="slidenum">
              <a:rPr lang="ko-KR" altLang="en-US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9457439"/>
      </p:ext>
    </p:extLst>
  </p:cSld>
  <p:clrMapOvr>
    <a:masterClrMapping/>
  </p:clrMapOvr>
</p:sld>
</file>

<file path=ppt/theme/theme1.xml><?xml version="1.0" encoding="utf-8"?>
<a:theme xmlns:a="http://schemas.openxmlformats.org/drawingml/2006/main" name="228TGp_well-being_light">
  <a:themeElements>
    <a:clrScheme name="228TGp_well-being_light 3">
      <a:dk1>
        <a:srgbClr val="4D4D4D"/>
      </a:dk1>
      <a:lt1>
        <a:srgbClr val="FFFFFF"/>
      </a:lt1>
      <a:dk2>
        <a:srgbClr val="47C3B7"/>
      </a:dk2>
      <a:lt2>
        <a:srgbClr val="DDDDDD"/>
      </a:lt2>
      <a:accent1>
        <a:srgbClr val="2990E5"/>
      </a:accent1>
      <a:accent2>
        <a:srgbClr val="57AD27"/>
      </a:accent2>
      <a:accent3>
        <a:srgbClr val="FFFFFF"/>
      </a:accent3>
      <a:accent4>
        <a:srgbClr val="404040"/>
      </a:accent4>
      <a:accent5>
        <a:srgbClr val="ACC6F0"/>
      </a:accent5>
      <a:accent6>
        <a:srgbClr val="4E9C22"/>
      </a:accent6>
      <a:hlink>
        <a:srgbClr val="E1882F"/>
      </a:hlink>
      <a:folHlink>
        <a:srgbClr val="90A8B0"/>
      </a:folHlink>
    </a:clrScheme>
    <a:fontScheme name="228TGp_well-being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HY견고딕" pitchFamily="18" charset="-127"/>
            <a:ea typeface="HY견고딕" pitchFamily="18" charset="-127"/>
          </a:defRPr>
        </a:defPPr>
      </a:lstStyle>
    </a:lnDef>
  </a:objectDefaults>
  <a:extraClrSchemeLst>
    <a:extraClrScheme>
      <a:clrScheme name="228TGp_well-being_light 1">
        <a:dk1>
          <a:srgbClr val="4D4D4D"/>
        </a:dk1>
        <a:lt1>
          <a:srgbClr val="FFFFFF"/>
        </a:lt1>
        <a:dk2>
          <a:srgbClr val="0D8797"/>
        </a:dk2>
        <a:lt2>
          <a:srgbClr val="C0C0C0"/>
        </a:lt2>
        <a:accent1>
          <a:srgbClr val="8BB44E"/>
        </a:accent1>
        <a:accent2>
          <a:srgbClr val="4CB06D"/>
        </a:accent2>
        <a:accent3>
          <a:srgbClr val="FFFFFF"/>
        </a:accent3>
        <a:accent4>
          <a:srgbClr val="404040"/>
        </a:accent4>
        <a:accent5>
          <a:srgbClr val="C4D6B2"/>
        </a:accent5>
        <a:accent6>
          <a:srgbClr val="449F62"/>
        </a:accent6>
        <a:hlink>
          <a:srgbClr val="7B9CB5"/>
        </a:hlink>
        <a:folHlink>
          <a:srgbClr val="B3C1A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8TGp_well-being_light 2">
        <a:dk1>
          <a:srgbClr val="000066"/>
        </a:dk1>
        <a:lt1>
          <a:srgbClr val="FFFFFF"/>
        </a:lt1>
        <a:dk2>
          <a:srgbClr val="3491C4"/>
        </a:dk2>
        <a:lt2>
          <a:srgbClr val="DDDDDD"/>
        </a:lt2>
        <a:accent1>
          <a:srgbClr val="32B66E"/>
        </a:accent1>
        <a:accent2>
          <a:srgbClr val="36623F"/>
        </a:accent2>
        <a:accent3>
          <a:srgbClr val="FFFFFF"/>
        </a:accent3>
        <a:accent4>
          <a:srgbClr val="000056"/>
        </a:accent4>
        <a:accent5>
          <a:srgbClr val="ADD7BA"/>
        </a:accent5>
        <a:accent6>
          <a:srgbClr val="305838"/>
        </a:accent6>
        <a:hlink>
          <a:srgbClr val="4C9BBA"/>
        </a:hlink>
        <a:folHlink>
          <a:srgbClr val="A4D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28TGp_well-being_light 3">
        <a:dk1>
          <a:srgbClr val="4D4D4D"/>
        </a:dk1>
        <a:lt1>
          <a:srgbClr val="FFFFFF"/>
        </a:lt1>
        <a:dk2>
          <a:srgbClr val="47C3B7"/>
        </a:dk2>
        <a:lt2>
          <a:srgbClr val="DDDDDD"/>
        </a:lt2>
        <a:accent1>
          <a:srgbClr val="2990E5"/>
        </a:accent1>
        <a:accent2>
          <a:srgbClr val="57AD27"/>
        </a:accent2>
        <a:accent3>
          <a:srgbClr val="FFFFFF"/>
        </a:accent3>
        <a:accent4>
          <a:srgbClr val="404040"/>
        </a:accent4>
        <a:accent5>
          <a:srgbClr val="ACC6F0"/>
        </a:accent5>
        <a:accent6>
          <a:srgbClr val="4E9C22"/>
        </a:accent6>
        <a:hlink>
          <a:srgbClr val="E1882F"/>
        </a:hlink>
        <a:folHlink>
          <a:srgbClr val="90A8B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228TGp_well-being_light</Template>
  <TotalTime>2437</TotalTime>
  <Words>2971</Words>
  <Application>Microsoft Office PowerPoint</Application>
  <PresentationFormat>화면 슬라이드 쇼(4:3)</PresentationFormat>
  <Paragraphs>471</Paragraphs>
  <Slides>27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HWPserif</vt:lpstr>
      <vt:lpstr>HY견고딕</vt:lpstr>
      <vt:lpstr>굴림</vt:lpstr>
      <vt:lpstr>맑은 고딕</vt:lpstr>
      <vt:lpstr>새굴림</vt:lpstr>
      <vt:lpstr>휴먼엑스포</vt:lpstr>
      <vt:lpstr>Arial</vt:lpstr>
      <vt:lpstr>Verdana</vt:lpstr>
      <vt:lpstr>Wingdings</vt:lpstr>
      <vt:lpstr>228TGp_well-being_light</vt:lpstr>
      <vt:lpstr>Image</vt:lpstr>
      <vt:lpstr>한글제목 (영어제목)</vt:lpstr>
      <vt:lpstr>[자료작성 및 발표 참고사항] </vt:lpstr>
      <vt:lpstr>[참고: 2차발표시 준비사항] </vt:lpstr>
      <vt:lpstr>차        례</vt:lpstr>
      <vt:lpstr>주제 배경</vt:lpstr>
      <vt:lpstr>관련 연구 및 사례</vt:lpstr>
      <vt:lpstr>연구(주제선정) 동기</vt:lpstr>
      <vt:lpstr>주제 개요 (1) (예) AI수학튜터시스템의 개요(1)</vt:lpstr>
      <vt:lpstr>주제 개요 (1) (예) AI수학튜터시스템의 개요(1)</vt:lpstr>
      <vt:lpstr>개발 전략</vt:lpstr>
      <vt:lpstr>개발 목표</vt:lpstr>
      <vt:lpstr>개발 요구사항</vt:lpstr>
      <vt:lpstr>개념적 설계 (1)</vt:lpstr>
      <vt:lpstr>개념적 설계 (2)</vt:lpstr>
      <vt:lpstr>개념적 설계 (3)</vt:lpstr>
      <vt:lpstr>개발 도구 및 산출물</vt:lpstr>
      <vt:lpstr>개발 도구 및 산출물</vt:lpstr>
      <vt:lpstr>개발 도구 및 산출물</vt:lpstr>
      <vt:lpstr>업무 분담</vt:lpstr>
      <vt:lpstr>캡스톤디자인 수행일정</vt:lpstr>
      <vt:lpstr>참고 문헌</vt:lpstr>
      <vt:lpstr>Appendix. A 지적사항 및 반영사항</vt:lpstr>
      <vt:lpstr>Appendix. B 보완자료 </vt:lpstr>
      <vt:lpstr>Appendix. C 상세설계1</vt:lpstr>
      <vt:lpstr>Appendix. C 상세설계2</vt:lpstr>
      <vt:lpstr>Appendix. C 상세설계3</vt:lpstr>
      <vt:lpstr>Appendix. C 상세설계</vt:lpstr>
    </vt:vector>
  </TitlesOfParts>
  <Company>한국산업기술대학교 교무팀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’2007 하계방학 프로젝트실습 안내</dc:title>
  <dc:creator>공학교육인증</dc:creator>
  <cp:lastModifiedBy>GWANGIL JEON</cp:lastModifiedBy>
  <cp:revision>182</cp:revision>
  <cp:lastPrinted>2022-11-02T08:50:57Z</cp:lastPrinted>
  <dcterms:created xsi:type="dcterms:W3CDTF">2007-05-11T05:56:01Z</dcterms:created>
  <dcterms:modified xsi:type="dcterms:W3CDTF">2025-10-21T08:38:14Z</dcterms:modified>
</cp:coreProperties>
</file>